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portfolio based on the founder’s LunchBox brief. This is a proposed product direction, not evidence of a launched product, validated market, or measured outcomes. All screens use illustrative household data. The accompanying HTML prototype uses fixed recipes and no external services. Core promise: take the guesswork out of meals by connecting what is on hand with what the household wants to 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starting segment is a hypothesis, not a researched persona. The founder’s problem spans decision effort, food utilization and healthier eating. This proposal avoids reducing the product to calorie tracking or an endless recipe feed. The job-to-be-done is: When I need to feed myself or my household, help me choose something that fits the food and constraints I have, then take care of the resulting list and inventory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Interface navigation may have four destinations: Meal plan, Recipes, Pantry and Grocery list. The plan is an orchestration view: it stores scheduled meal instances and their status; pantry records remain the physical source of truth and grocery needs are derived. Do not create four competing copies of an ingredient. Shared preferences include dietary rules, explicit allergies, dislikes, serving sizes, available equipment, time limits and priorities. AI is most visible in the recipe engine. Pantry and grocery intelligence stays quiet and contextual.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worked example is also implemented in the HTML prototype. The sample is not the user’s actual pantry. Planning the tomato-and-lentil recipe leaves tomatoes at 800 g. Shopping demand includes 100 g spinach. Checking the item in the store does not add inventory. Confirming 200 g received adds the actual amount. Cooking consumes the reviewed recipe quantities: tomatoes become 400 g and spinach becomes 100 g. Two prepared servings can become one eaten serving and one leftover. Eating that leftover later does not deduct the ingredients again. All changes can be undone.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recipe-generation flow: gather the household’s hard constraints, select a priority such as use soon or no shopping, rank candidate meals, and show three understandable options. The first option should have a clear why-this-fits explanation and an explicit ingredient check. Suggestions should include ready-now, one-small-addition, and different-effort alternatives when possible. Browsing suggestions must not pollute the shopping list. Selecting Add missing, accepting a plan or choosing a meal commits a grocery need. Display estimates as estimates; do not imply laboratory nutrition precision or guaranteed freshness. The screenshot is a local concept prototype with three fixed recipes, not live AI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full experience supports breakfast, lunch, dinner, batch prep, prepared leftovers, eating out, and blank slots. Start the first pilot with dinners and a lightweight week view; the demo intentionally limits itself to a sample weekday-dinner plan. Users can ask the agent to fill open nights with constraints such as three dinners, two one-pan meals, use the tomatoes, and leave Friday open. A future leftover plan is an intention; prepared food is not physically available until cooking confirms its yield. The plan should consider quantities reserved by other meals and warn when a proposed swap would create a shortage.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Pantry design requirements: store ingredient identity separately from batches/lots. Preserve original item names, units, raw versus cooked state, and source. Support known and estimated quantities, plus explicit unknown values. Offer lots when expiry dates differ; prioritize the household’s use-soon lots without making safety guarantees. Quick actions should include Used some, Finished it, Froze it, Discarded it, and Added more. The prototype implements confirmed amounts, manual use-soon flags, garden/farm-share sources, corrections, and prepared leftovers; batch dates and confidence states remain proposed. Stock that is reserved for a plan still exists physically but is not free for additional meals. Inventory upkeep is the highest-risk retention assumption to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list aggregates recipe needs in compatible units, subtracts usable stock once across the whole plan, and preserves why each line exists. Users can add manual extras and define replenishment preferences for staples. Never assume that a checked checkbox is a confirmed quantity received. Keep picked-up items pending; a canceled recipe must not erase food already bought. Receipt imports, retailer carts and prices are later integrations. Any best-price comparison must account for package size, unit price, availability, delivery fees, minimum orders and user-approved substitutions; disclose coverage rather than claiming a universal cheapest basket. Household confirmation is required before any paid order. These integrations are not connected in the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state model: Ingredient, InventoryLot, RecipeVersion, PlannedMeal, Reservation, GroceryNeed, PurchaseReceipt, CookEvent, PreparedMeal and InventoryAdjustment. Planning creates demand; it does not assert that food was consumed. Cooking consumes actual lot quantities and records yield. Eating prepared portions never consumes the same ingredients twice. Waste, unplanned use and corrections are first-class events. Undo restores all connected records coherently. Ingredient normalization and unit conversion belong to deterministic services, not unverified model arithmetic. Do not convert volume to mass without an ingredient-specific rule or reviewed assumption. Shared household actions need idempotency, current-state validation and a conflict path. Inventory confidence must be preserved rather than invented.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agent interface is the recipe studio. Pantry AI can parse an intake note, suggest likely ingredient matches, or surface a discrepancy; grocery AI can suggest a reviewed substitute or later compare supported stores. Hard constraints should be filtered before ranking. A time limit can be either a preference or a hard constraint depending on user intent. Avoid an opaque global meal score; show why one choice better fits the current priority. Nutrition requires a defined data source, portion basis and clearly identified estimates before launch. Allergy controls are product safeguards, not a guarantee against ingredient errors or cross-contact. Preserve the original imported recipe, validate extracted quantities and servings, and version adaptations. No external integration or inferred preference should silently override explicit household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friction hypothesis is that people will maintain a small amount of inventory if the product repeatedly gives useful dinner answers. Do not demand a complete barcode scan of the kitchen at onboarding. Offer staples as suggestions but do not silently assume possession. Imported recipes should be normalized only after a review step for ingredient identity, amount, unit, preparation state and serving count. Keep the source and original text. Start with manual entry and pasted text; photo, URL and bulk imports can follow after parser quality is tested. Users need delete/export controls and a clear distinction between deliberate preferences and inferred suggestions. Household dietary data should be handled with appropriate consent and privacy, not used for unnecessary personalization.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identity: an uncomplicated lunchbox line mark, dark green typography, warm paper background, fresh pale green for positive guidance, and warm orange used sparingly for attention. Color is never the only status signal. Tone is supportive and specific: Need one ingredient rather than Pantry incomplete; Keep it open rather than Missed meal; Use soon rather than Bad food. A responsive web experience is the proposed first platform, not a validated platform requirement. The prototype includes responsive layouts, labeled controls, focus states and dialog keyboard handling. This is not a completed accessibility audit or a claim of compliance. Fonts are referenced by family and are not distributed with the deliverables.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release is a real pilot beyond this prototype: it requires secure persistence, a reviewed recipe corpus or generation service, basic ingredient normalization, serving scaling, grocery aggregation, and a reliable confirmation/undo loop. The concept prototype only implements fixed recipes and local sample state. The expansion stages are conditional on evidence that households repeatedly use the loop. Automatic replenishment should initially mean suggesting a restock, not making a purchase. Integrations must be evaluated for access, coverage, licensing and operational reliability before they are promised. This deck makes no claims about the availability of any specific retailer API or farm-share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discovery plan: recruit 5–8 target households for moderated task tests, then run a two-week diary-supported pilot. These are proposed research activities, not completed research. Test a night with no plan, a weekly plan with some locked nights, a mismatched purchase quantity, an unplanned meal, and a batch cooked with leftovers. Track time to a workable meal, confirmed cooked meals, inventory correction frequency, retained household usage, grocery rework and voluntarily reported food discard. Avoid claiming that every use-soon ingredient was saved from waste. Waste reduction and healthy-eating support are intended outcomes that require baseline evidence and appropriate definitions. No performance, retention, cost savings, nutrition or waste-reduction results are claimed in this portfolio.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Deliverables: LunchBox_Product_Design_Portfolio.pdf, an editable PowerPoint version, and LunchBox_Interactive_Concept.html. Open the HTML file in a browser. It has no external dependencies or analytics and does not require an account. The prototype offers three fixed recipes and one sample week. The main tested loop includes planning reservations, grocery shortfalls and merged needs, picked-up versus put-away states, actual quantities received, cooking deductions, leftovers, undo, form validation and mobile-width layouts. No server, live model, retailer, nutrition database or household synchronization is connected. Next build decision: validate inventory-maintenance burden and confirm the first target household before adding external integrations.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6F0"/>
        </a:solidFill>
      </p:bgPr>
    </p:bg>
    <p:spTree>
      <p:nvGrpSpPr>
        <p:cNvPr id="1" name=""/>
        <p:cNvGrpSpPr/>
        <p:nvPr/>
      </p:nvGrpSpPr>
      <p:grpSpPr>
        <a:xfrm>
          <a:off x="0" y="0"/>
          <a:ext cx="0" cy="0"/>
          <a:chOff x="0" y="0"/>
          <a:chExt cx="0" cy="0"/>
        </a:xfrm>
      </p:grpSpPr>
      <p:sp>
        <p:nvSpPr>
          <p:cNvPr id="2" name="Text 0"/>
          <p:cNvSpPr/>
          <p:nvPr/>
        </p:nvSpPr>
        <p:spPr>
          <a:xfrm>
            <a:off x="502920" y="320040"/>
            <a:ext cx="9144000" cy="182880"/>
          </a:xfrm>
          <a:prstGeom prst="rect">
            <a:avLst/>
          </a:prstGeom>
          <a:noFill/>
          <a:ln/>
        </p:spPr>
        <p:txBody>
          <a:bodyPr wrap="square" lIns="0" tIns="0" rIns="0" bIns="0" rtlCol="0" anchor="t"/>
          <a:lstStyle/>
          <a:p>
            <a:pPr indent="0" marL="0">
              <a:lnSpc>
                <a:spcPct val="106000"/>
              </a:lnSpc>
              <a:buNone/>
            </a:pPr>
            <a:r>
              <a:rPr lang="en-US" sz="850" b="1" spc="165" kern="0" dirty="0">
                <a:solidFill>
                  <a:srgbClr val="68776D"/>
                </a:solidFill>
                <a:latin typeface="Inter" pitchFamily="34" charset="0"/>
                <a:ea typeface="Inter" pitchFamily="34" charset="-122"/>
                <a:cs typeface="Inter" pitchFamily="34" charset="-120"/>
              </a:rPr>
              <a:t>LUNCHBOX  /  THE PRODUCT IDEA</a:t>
            </a:r>
            <a:endParaRPr lang="en-US" sz="850" dirty="0"/>
          </a:p>
        </p:txBody>
      </p:sp>
      <p:sp>
        <p:nvSpPr>
          <p:cNvPr id="3" name="Shape 1"/>
          <p:cNvSpPr/>
          <p:nvPr/>
        </p:nvSpPr>
        <p:spPr>
          <a:xfrm>
            <a:off x="502920" y="6455664"/>
            <a:ext cx="11183112" cy="0"/>
          </a:xfrm>
          <a:prstGeom prst="line">
            <a:avLst/>
          </a:prstGeom>
          <a:noFill/>
          <a:ln w="8890">
            <a:solidFill>
              <a:srgbClr val="E0E4D9"/>
            </a:solidFill>
            <a:prstDash val="solid"/>
          </a:ln>
        </p:spPr>
      </p:sp>
      <p:sp>
        <p:nvSpPr>
          <p:cNvPr id="4" name="Text 2"/>
          <p:cNvSpPr/>
          <p:nvPr/>
        </p:nvSpPr>
        <p:spPr>
          <a:xfrm>
            <a:off x="512064" y="6565392"/>
            <a:ext cx="6400800" cy="118872"/>
          </a:xfrm>
          <a:prstGeom prst="rect">
            <a:avLst/>
          </a:prstGeom>
          <a:noFill/>
          <a:ln/>
        </p:spPr>
        <p:txBody>
          <a:bodyPr wrap="square" lIns="0" tIns="0" rIns="0" bIns="0" rtlCol="0" anchor="t"/>
          <a:lstStyle/>
          <a:p>
            <a:pPr indent="0" marL="0">
              <a:lnSpc>
                <a:spcPct val="106000"/>
              </a:lnSpc>
              <a:buNone/>
            </a:pPr>
            <a:r>
              <a:rPr lang="en-US" sz="730" spc="90" kern="0" dirty="0">
                <a:solidFill>
                  <a:srgbClr val="68776D"/>
                </a:solidFill>
                <a:latin typeface="Inter" pitchFamily="34" charset="0"/>
                <a:ea typeface="Inter" pitchFamily="34" charset="-122"/>
                <a:cs typeface="Inter" pitchFamily="34" charset="-120"/>
              </a:rPr>
              <a:t>CONCEPT PORTFOLIO · SEPTEMBER 2026</a:t>
            </a:r>
            <a:endParaRPr lang="en-US" sz="730" dirty="0"/>
          </a:p>
        </p:txBody>
      </p:sp>
      <p:sp>
        <p:nvSpPr>
          <p:cNvPr id="5" name="Text 3"/>
          <p:cNvSpPr/>
          <p:nvPr/>
        </p:nvSpPr>
        <p:spPr>
          <a:xfrm>
            <a:off x="11155680" y="6537960"/>
            <a:ext cx="530352" cy="155448"/>
          </a:xfrm>
          <a:prstGeom prst="rect">
            <a:avLst/>
          </a:prstGeom>
          <a:noFill/>
          <a:ln/>
        </p:spPr>
        <p:txBody>
          <a:bodyPr wrap="square" lIns="0" tIns="0" rIns="0" bIns="0" rtlCol="0" anchor="t"/>
          <a:lstStyle/>
          <a:p>
            <a:pPr algn="r" indent="0" marL="0">
              <a:lnSpc>
                <a:spcPct val="106000"/>
              </a:lnSpc>
              <a:buNone/>
            </a:pPr>
            <a:r>
              <a:rPr lang="en-US" sz="900" b="1" dirty="0">
                <a:solidFill>
                  <a:srgbClr val="193F35"/>
                </a:solidFill>
                <a:latin typeface="Inter" pitchFamily="34" charset="0"/>
                <a:ea typeface="Inter" pitchFamily="34" charset="-122"/>
                <a:cs typeface="Inter" pitchFamily="34" charset="-120"/>
              </a:rPr>
              <a:t>01</a:t>
            </a:r>
            <a:endParaRPr lang="en-US" sz="900" dirty="0"/>
          </a:p>
        </p:txBody>
      </p:sp>
      <p:sp>
        <p:nvSpPr>
          <p:cNvPr id="6" name="Shape 4"/>
          <p:cNvSpPr/>
          <p:nvPr/>
        </p:nvSpPr>
        <p:spPr>
          <a:xfrm>
            <a:off x="566928" y="864108"/>
            <a:ext cx="265176" cy="256032"/>
          </a:xfrm>
          <a:prstGeom prst="roundRect">
            <a:avLst>
              <a:gd name="adj" fmla="val 28571"/>
            </a:avLst>
          </a:prstGeom>
          <a:solidFill>
            <a:srgbClr val="193F35">
              <a:alpha val="0"/>
            </a:srgbClr>
          </a:solidFill>
          <a:ln w="19050">
            <a:solidFill>
              <a:srgbClr val="193F35"/>
            </a:solidFill>
            <a:prstDash val="solid"/>
          </a:ln>
        </p:spPr>
      </p:sp>
      <p:sp>
        <p:nvSpPr>
          <p:cNvPr id="7" name="Shape 5"/>
          <p:cNvSpPr/>
          <p:nvPr/>
        </p:nvSpPr>
        <p:spPr>
          <a:xfrm>
            <a:off x="617220" y="996696"/>
            <a:ext cx="164592" cy="0"/>
          </a:xfrm>
          <a:prstGeom prst="line">
            <a:avLst/>
          </a:prstGeom>
          <a:noFill/>
          <a:ln w="15875">
            <a:solidFill>
              <a:srgbClr val="193F35"/>
            </a:solidFill>
            <a:prstDash val="solid"/>
          </a:ln>
        </p:spPr>
      </p:sp>
      <p:sp>
        <p:nvSpPr>
          <p:cNvPr id="8" name="Shape 6"/>
          <p:cNvSpPr/>
          <p:nvPr/>
        </p:nvSpPr>
        <p:spPr>
          <a:xfrm>
            <a:off x="644652" y="811987"/>
            <a:ext cx="109728" cy="64008"/>
          </a:xfrm>
          <a:prstGeom prst="roundRect">
            <a:avLst>
              <a:gd name="adj" fmla="val 35714"/>
            </a:avLst>
          </a:prstGeom>
          <a:solidFill>
            <a:srgbClr val="193F35">
              <a:alpha val="0"/>
            </a:srgbClr>
          </a:solidFill>
          <a:ln w="15240">
            <a:solidFill>
              <a:srgbClr val="193F35"/>
            </a:solidFill>
            <a:prstDash val="solid"/>
          </a:ln>
        </p:spPr>
      </p:sp>
      <p:sp>
        <p:nvSpPr>
          <p:cNvPr id="9" name="Text 7"/>
          <p:cNvSpPr/>
          <p:nvPr/>
        </p:nvSpPr>
        <p:spPr>
          <a:xfrm>
            <a:off x="941832" y="790956"/>
            <a:ext cx="2651760" cy="411480"/>
          </a:xfrm>
          <a:prstGeom prst="rect">
            <a:avLst/>
          </a:prstGeom>
          <a:noFill/>
          <a:ln/>
        </p:spPr>
        <p:txBody>
          <a:bodyPr wrap="square" lIns="0" tIns="0" rIns="0" bIns="0" rtlCol="0" anchor="t"/>
          <a:lstStyle/>
          <a:p>
            <a:pPr indent="0" marL="0">
              <a:lnSpc>
                <a:spcPct val="106000"/>
              </a:lnSpc>
              <a:buNone/>
            </a:pPr>
            <a:r>
              <a:rPr lang="en-US" sz="2900" b="1" spc="-90" kern="0" dirty="0">
                <a:solidFill>
                  <a:srgbClr val="193F35"/>
                </a:solidFill>
                <a:latin typeface="Inter" pitchFamily="34" charset="0"/>
                <a:ea typeface="Inter" pitchFamily="34" charset="-122"/>
                <a:cs typeface="Inter" pitchFamily="34" charset="-120"/>
              </a:rPr>
              <a:t>LunchBox</a:t>
            </a:r>
            <a:endParaRPr lang="en-US" sz="2900" dirty="0"/>
          </a:p>
        </p:txBody>
      </p:sp>
      <p:sp>
        <p:nvSpPr>
          <p:cNvPr id="10" name="Shape 8"/>
          <p:cNvSpPr/>
          <p:nvPr/>
        </p:nvSpPr>
        <p:spPr>
          <a:xfrm>
            <a:off x="566928" y="1673352"/>
            <a:ext cx="2514600" cy="292608"/>
          </a:xfrm>
          <a:prstGeom prst="roundRect">
            <a:avLst>
              <a:gd name="adj" fmla="val 37500"/>
            </a:avLst>
          </a:prstGeom>
          <a:solidFill>
            <a:srgbClr val="DDECAB"/>
          </a:solidFill>
          <a:ln w="12700">
            <a:solidFill>
              <a:srgbClr val="DDECAB"/>
            </a:solidFill>
            <a:prstDash val="solid"/>
          </a:ln>
        </p:spPr>
      </p:sp>
      <p:sp>
        <p:nvSpPr>
          <p:cNvPr id="11" name="Text 9"/>
          <p:cNvSpPr/>
          <p:nvPr/>
        </p:nvSpPr>
        <p:spPr>
          <a:xfrm>
            <a:off x="676656" y="1741932"/>
            <a:ext cx="2295144" cy="146304"/>
          </a:xfrm>
          <a:prstGeom prst="rect">
            <a:avLst/>
          </a:prstGeom>
          <a:noFill/>
          <a:ln/>
        </p:spPr>
        <p:txBody>
          <a:bodyPr wrap="square" lIns="0" tIns="0" rIns="0" bIns="0" rtlCol="0" anchor="t"/>
          <a:lstStyle/>
          <a:p>
            <a:pPr indent="0" marL="0">
              <a:lnSpc>
                <a:spcPct val="106000"/>
              </a:lnSpc>
              <a:buNone/>
            </a:pPr>
            <a:r>
              <a:rPr lang="en-US" sz="820" b="1" dirty="0">
                <a:solidFill>
                  <a:srgbClr val="193F35"/>
                </a:solidFill>
                <a:latin typeface="Inter" pitchFamily="34" charset="0"/>
                <a:ea typeface="Inter" pitchFamily="34" charset="-122"/>
                <a:cs typeface="Inter" pitchFamily="34" charset="-120"/>
              </a:rPr>
              <a:t>PANTRY-FIRST MEAL PLANNING</a:t>
            </a:r>
            <a:endParaRPr lang="en-US" sz="820" dirty="0"/>
          </a:p>
        </p:txBody>
      </p:sp>
      <p:sp>
        <p:nvSpPr>
          <p:cNvPr id="12" name="Text 10"/>
          <p:cNvSpPr/>
          <p:nvPr/>
        </p:nvSpPr>
        <p:spPr>
          <a:xfrm>
            <a:off x="530352" y="2267712"/>
            <a:ext cx="5897880" cy="2359152"/>
          </a:xfrm>
          <a:prstGeom prst="rect">
            <a:avLst/>
          </a:prstGeom>
          <a:noFill/>
          <a:ln/>
        </p:spPr>
        <p:txBody>
          <a:bodyPr wrap="square" lIns="0" tIns="0" rIns="0" bIns="0" rtlCol="0" anchor="t"/>
          <a:lstStyle/>
          <a:p>
            <a:pPr indent="0" marL="0">
              <a:lnSpc>
                <a:spcPct val="98000"/>
              </a:lnSpc>
              <a:buNone/>
            </a:pPr>
            <a:r>
              <a:rPr lang="en-US" sz="5300" b="1" spc="-260" kern="0" dirty="0">
                <a:solidFill>
                  <a:srgbClr val="193F35"/>
                </a:solidFill>
                <a:latin typeface="Inter" pitchFamily="34" charset="0"/>
                <a:ea typeface="Inter" pitchFamily="34" charset="-122"/>
                <a:cs typeface="Inter" pitchFamily="34" charset="-120"/>
              </a:rPr>
              <a:t>Dinner starts</a:t>
            </a:r>
            <a:endParaRPr lang="en-US" sz="5300" dirty="0"/>
          </a:p>
          <a:p>
            <a:pPr indent="0" marL="0">
              <a:lnSpc>
                <a:spcPct val="98000"/>
              </a:lnSpc>
              <a:buNone/>
            </a:pPr>
            <a:r>
              <a:rPr lang="en-US" sz="5300" b="1" spc="-260" kern="0" dirty="0">
                <a:solidFill>
                  <a:srgbClr val="193F35"/>
                </a:solidFill>
                <a:latin typeface="Inter" pitchFamily="34" charset="0"/>
                <a:ea typeface="Inter" pitchFamily="34" charset="-122"/>
                <a:cs typeface="Inter" pitchFamily="34" charset="-120"/>
              </a:rPr>
              <a:t>with what</a:t>
            </a:r>
            <a:endParaRPr lang="en-US" sz="5300" dirty="0"/>
          </a:p>
          <a:p>
            <a:pPr indent="0" marL="0">
              <a:lnSpc>
                <a:spcPct val="98000"/>
              </a:lnSpc>
              <a:buNone/>
            </a:pPr>
            <a:r>
              <a:rPr lang="en-US" sz="5300" b="1" spc="-260" kern="0" dirty="0">
                <a:solidFill>
                  <a:srgbClr val="193F35"/>
                </a:solidFill>
                <a:latin typeface="Inter" pitchFamily="34" charset="0"/>
                <a:ea typeface="Inter" pitchFamily="34" charset="-122"/>
                <a:cs typeface="Inter" pitchFamily="34" charset="-120"/>
              </a:rPr>
              <a:t>you have.</a:t>
            </a:r>
            <a:endParaRPr lang="en-US" sz="5300" dirty="0"/>
          </a:p>
        </p:txBody>
      </p:sp>
      <p:sp>
        <p:nvSpPr>
          <p:cNvPr id="13" name="Text 11"/>
          <p:cNvSpPr/>
          <p:nvPr/>
        </p:nvSpPr>
        <p:spPr>
          <a:xfrm>
            <a:off x="585216" y="4892040"/>
            <a:ext cx="5166360" cy="713232"/>
          </a:xfrm>
          <a:prstGeom prst="rect">
            <a:avLst/>
          </a:prstGeom>
          <a:noFill/>
          <a:ln/>
        </p:spPr>
        <p:txBody>
          <a:bodyPr wrap="square" lIns="0" tIns="0" rIns="0" bIns="0" rtlCol="0" anchor="t"/>
          <a:lstStyle/>
          <a:p>
            <a:pPr indent="0" marL="0">
              <a:lnSpc>
                <a:spcPct val="106000"/>
              </a:lnSpc>
              <a:buNone/>
            </a:pPr>
            <a:r>
              <a:rPr lang="en-US" sz="2000" spc="-50" kern="0" dirty="0">
                <a:solidFill>
                  <a:srgbClr val="68776D"/>
                </a:solidFill>
                <a:latin typeface="Inter" pitchFamily="34" charset="0"/>
                <a:ea typeface="Inter" pitchFamily="34" charset="-122"/>
                <a:cs typeface="Inter" pitchFamily="34" charset="-120"/>
              </a:rPr>
              <a:t>Your pantry, recipes and grocery list.</a:t>
            </a:r>
            <a:endParaRPr lang="en-US" sz="2000" dirty="0"/>
          </a:p>
          <a:p>
            <a:pPr indent="0" marL="0">
              <a:lnSpc>
                <a:spcPct val="106000"/>
              </a:lnSpc>
              <a:buNone/>
            </a:pPr>
            <a:r>
              <a:rPr lang="en-US" sz="2000" spc="-50" kern="0" dirty="0">
                <a:solidFill>
                  <a:srgbClr val="68776D"/>
                </a:solidFill>
                <a:latin typeface="Inter" pitchFamily="34" charset="0"/>
                <a:ea typeface="Inter" pitchFamily="34" charset="-122"/>
                <a:cs typeface="Inter" pitchFamily="34" charset="-120"/>
              </a:rPr>
              <a:t>Finally working as one kitchen.</a:t>
            </a:r>
            <a:endParaRPr lang="en-US" sz="2000" dirty="0"/>
          </a:p>
        </p:txBody>
      </p:sp>
      <p:sp>
        <p:nvSpPr>
          <p:cNvPr id="14" name="Text 12"/>
          <p:cNvSpPr/>
          <p:nvPr/>
        </p:nvSpPr>
        <p:spPr>
          <a:xfrm>
            <a:off x="594360" y="5980176"/>
            <a:ext cx="5943600" cy="173736"/>
          </a:xfrm>
          <a:prstGeom prst="rect">
            <a:avLst/>
          </a:prstGeom>
          <a:noFill/>
          <a:ln/>
        </p:spPr>
        <p:txBody>
          <a:bodyPr wrap="square" lIns="0" tIns="0" rIns="0" bIns="0" rtlCol="0" anchor="t"/>
          <a:lstStyle/>
          <a:p>
            <a:pPr indent="0" marL="0">
              <a:lnSpc>
                <a:spcPct val="106000"/>
              </a:lnSpc>
              <a:buNone/>
            </a:pPr>
            <a:r>
              <a:rPr lang="en-US" sz="900" dirty="0">
                <a:solidFill>
                  <a:srgbClr val="68776D"/>
                </a:solidFill>
                <a:latin typeface="Inter" pitchFamily="34" charset="0"/>
                <a:ea typeface="Inter" pitchFamily="34" charset="-122"/>
                <a:cs typeface="Inter" pitchFamily="34" charset="-120"/>
              </a:rPr>
              <a:t>Product strategy  /  UX concept  /  Interactive prototype</a:t>
            </a:r>
            <a:endParaRPr lang="en-US" sz="900" dirty="0"/>
          </a:p>
        </p:txBody>
      </p:sp>
      <p:sp>
        <p:nvSpPr>
          <p:cNvPr id="15" name="Shape 13"/>
          <p:cNvSpPr/>
          <p:nvPr/>
        </p:nvSpPr>
        <p:spPr>
          <a:xfrm>
            <a:off x="6839712" y="804672"/>
            <a:ext cx="4864608" cy="5431536"/>
          </a:xfrm>
          <a:prstGeom prst="roundRect">
            <a:avLst>
              <a:gd name="adj" fmla="val 4135"/>
            </a:avLst>
          </a:prstGeom>
          <a:solidFill>
            <a:srgbClr val="244D40"/>
          </a:solidFill>
          <a:ln w="12700">
            <a:solidFill>
              <a:srgbClr val="244D40"/>
            </a:solidFill>
            <a:prstDash val="solid"/>
          </a:ln>
        </p:spPr>
      </p:sp>
      <p:sp>
        <p:nvSpPr>
          <p:cNvPr id="16" name="Text 14"/>
          <p:cNvSpPr/>
          <p:nvPr/>
        </p:nvSpPr>
        <p:spPr>
          <a:xfrm>
            <a:off x="7150608" y="1124712"/>
            <a:ext cx="4023360" cy="182880"/>
          </a:xfrm>
          <a:prstGeom prst="rect">
            <a:avLst/>
          </a:prstGeom>
          <a:noFill/>
          <a:ln/>
        </p:spPr>
        <p:txBody>
          <a:bodyPr wrap="square" lIns="0" tIns="0" rIns="0" bIns="0" rtlCol="0" anchor="t"/>
          <a:lstStyle/>
          <a:p>
            <a:pPr indent="0" marL="0">
              <a:lnSpc>
                <a:spcPct val="106000"/>
              </a:lnSpc>
              <a:buNone/>
            </a:pPr>
            <a:r>
              <a:rPr lang="en-US" sz="850" b="1" spc="165" kern="0" dirty="0">
                <a:solidFill>
                  <a:srgbClr val="DDECAB"/>
                </a:solidFill>
                <a:latin typeface="Inter" pitchFamily="34" charset="0"/>
                <a:ea typeface="Inter" pitchFamily="34" charset="-122"/>
                <a:cs typeface="Inter" pitchFamily="34" charset="-120"/>
              </a:rPr>
              <a:t>A LITTLE HELP WITH TONIGHT</a:t>
            </a:r>
            <a:endParaRPr lang="en-US" sz="850" dirty="0"/>
          </a:p>
        </p:txBody>
      </p:sp>
      <p:sp>
        <p:nvSpPr>
          <p:cNvPr id="17" name="Shape 15"/>
          <p:cNvSpPr/>
          <p:nvPr/>
        </p:nvSpPr>
        <p:spPr>
          <a:xfrm>
            <a:off x="7150608" y="1536192"/>
            <a:ext cx="4242816" cy="713232"/>
          </a:xfrm>
          <a:prstGeom prst="roundRect">
            <a:avLst>
              <a:gd name="adj" fmla="val 15385"/>
            </a:avLst>
          </a:prstGeom>
          <a:solidFill>
            <a:srgbClr val="FFFEFA"/>
          </a:solidFill>
          <a:ln w="12700">
            <a:solidFill>
              <a:srgbClr val="FFFEFA"/>
            </a:solidFill>
            <a:prstDash val="solid"/>
          </a:ln>
        </p:spPr>
      </p:sp>
      <p:sp>
        <p:nvSpPr>
          <p:cNvPr id="18" name="Text 16"/>
          <p:cNvSpPr/>
          <p:nvPr/>
        </p:nvSpPr>
        <p:spPr>
          <a:xfrm>
            <a:off x="7333488" y="1691640"/>
            <a:ext cx="3749040" cy="411480"/>
          </a:xfrm>
          <a:prstGeom prst="rect">
            <a:avLst/>
          </a:prstGeom>
          <a:noFill/>
          <a:ln/>
        </p:spPr>
        <p:txBody>
          <a:bodyPr wrap="square" lIns="0" tIns="0" rIns="0" bIns="0" rtlCol="0" anchor="t"/>
          <a:lstStyle/>
          <a:p>
            <a:pPr indent="0" marL="0">
              <a:lnSpc>
                <a:spcPct val="106000"/>
              </a:lnSpc>
              <a:buNone/>
            </a:pPr>
            <a:r>
              <a:rPr lang="en-US" sz="1400" b="1" dirty="0">
                <a:solidFill>
                  <a:srgbClr val="193F35"/>
                </a:solidFill>
                <a:latin typeface="Inter" pitchFamily="34" charset="0"/>
                <a:ea typeface="Inter" pitchFamily="34" charset="-122"/>
                <a:cs typeface="Inter" pitchFamily="34" charset="-120"/>
              </a:rPr>
              <a:t>“Use my tomatoes.</a:t>
            </a:r>
            <a:endParaRPr lang="en-US" sz="1400" dirty="0"/>
          </a:p>
          <a:p>
            <a:pPr indent="0" marL="0">
              <a:lnSpc>
                <a:spcPct val="106000"/>
              </a:lnSpc>
              <a:buNone/>
            </a:pPr>
            <a:r>
              <a:rPr lang="en-US" sz="1400" b="1" dirty="0">
                <a:solidFill>
                  <a:srgbClr val="193F35"/>
                </a:solidFill>
                <a:latin typeface="Inter" pitchFamily="34" charset="0"/>
                <a:ea typeface="Inter" pitchFamily="34" charset="-122"/>
                <a:cs typeface="Inter" pitchFamily="34" charset="-120"/>
              </a:rPr>
              <a:t>Keep it easy.”</a:t>
            </a:r>
            <a:endParaRPr lang="en-US" sz="1400" dirty="0"/>
          </a:p>
        </p:txBody>
      </p:sp>
      <p:sp>
        <p:nvSpPr>
          <p:cNvPr id="19" name="Shape 17"/>
          <p:cNvSpPr/>
          <p:nvPr/>
        </p:nvSpPr>
        <p:spPr>
          <a:xfrm>
            <a:off x="7150608" y="2450592"/>
            <a:ext cx="4242816" cy="2624328"/>
          </a:xfrm>
          <a:prstGeom prst="roundRect">
            <a:avLst>
              <a:gd name="adj" fmla="val 5923"/>
            </a:avLst>
          </a:prstGeom>
          <a:solidFill>
            <a:srgbClr val="DDECAB"/>
          </a:solidFill>
          <a:ln w="12700">
            <a:solidFill>
              <a:srgbClr val="DDECAB"/>
            </a:solidFill>
            <a:prstDash val="solid"/>
          </a:ln>
        </p:spPr>
      </p:sp>
      <p:sp>
        <p:nvSpPr>
          <p:cNvPr id="20" name="Shape 18"/>
          <p:cNvSpPr/>
          <p:nvPr/>
        </p:nvSpPr>
        <p:spPr>
          <a:xfrm>
            <a:off x="7360920" y="2670048"/>
            <a:ext cx="2743200" cy="292608"/>
          </a:xfrm>
          <a:prstGeom prst="roundRect">
            <a:avLst>
              <a:gd name="adj" fmla="val 37500"/>
            </a:avLst>
          </a:prstGeom>
          <a:solidFill>
            <a:srgbClr val="244D40"/>
          </a:solidFill>
          <a:ln w="12700">
            <a:solidFill>
              <a:srgbClr val="244D40"/>
            </a:solidFill>
            <a:prstDash val="solid"/>
          </a:ln>
        </p:spPr>
      </p:sp>
      <p:sp>
        <p:nvSpPr>
          <p:cNvPr id="21" name="Text 19"/>
          <p:cNvSpPr/>
          <p:nvPr/>
        </p:nvSpPr>
        <p:spPr>
          <a:xfrm>
            <a:off x="7470648" y="2738628"/>
            <a:ext cx="2523744" cy="146304"/>
          </a:xfrm>
          <a:prstGeom prst="rect">
            <a:avLst/>
          </a:prstGeom>
          <a:noFill/>
          <a:ln/>
        </p:spPr>
        <p:txBody>
          <a:bodyPr wrap="square" lIns="0" tIns="0" rIns="0" bIns="0" rtlCol="0" anchor="t"/>
          <a:lstStyle/>
          <a:p>
            <a:pPr indent="0" marL="0">
              <a:lnSpc>
                <a:spcPct val="106000"/>
              </a:lnSpc>
              <a:buNone/>
            </a:pPr>
            <a:r>
              <a:rPr lang="en-US" sz="820" b="1" dirty="0">
                <a:solidFill>
                  <a:srgbClr val="FFFEFA"/>
                </a:solidFill>
                <a:latin typeface="Inter" pitchFamily="34" charset="0"/>
                <a:ea typeface="Inter" pitchFamily="34" charset="-122"/>
                <a:cs typeface="Inter" pitchFamily="34" charset="-120"/>
              </a:rPr>
              <a:t>A GOOD FIT FOR YOUR KITCHEN</a:t>
            </a:r>
            <a:endParaRPr lang="en-US" sz="820" dirty="0"/>
          </a:p>
        </p:txBody>
      </p:sp>
      <p:sp>
        <p:nvSpPr>
          <p:cNvPr id="22" name="Text 20"/>
          <p:cNvSpPr/>
          <p:nvPr/>
        </p:nvSpPr>
        <p:spPr>
          <a:xfrm>
            <a:off x="7351776" y="3172968"/>
            <a:ext cx="3657600" cy="1024128"/>
          </a:xfrm>
          <a:prstGeom prst="rect">
            <a:avLst/>
          </a:prstGeom>
          <a:noFill/>
          <a:ln/>
        </p:spPr>
        <p:txBody>
          <a:bodyPr wrap="square" lIns="0" tIns="0" rIns="0" bIns="0" rtlCol="0" anchor="t"/>
          <a:lstStyle/>
          <a:p>
            <a:pPr indent="0" marL="0">
              <a:lnSpc>
                <a:spcPct val="100000"/>
              </a:lnSpc>
              <a:buNone/>
            </a:pPr>
            <a:r>
              <a:rPr lang="en-US" sz="3000" b="1" spc="-120" kern="0" dirty="0">
                <a:solidFill>
                  <a:srgbClr val="193F35"/>
                </a:solidFill>
                <a:latin typeface="Inter" pitchFamily="34" charset="0"/>
                <a:ea typeface="Inter" pitchFamily="34" charset="-122"/>
                <a:cs typeface="Inter" pitchFamily="34" charset="-120"/>
              </a:rPr>
              <a:t>Tomato &amp;</a:t>
            </a:r>
            <a:endParaRPr lang="en-US" sz="3000" dirty="0"/>
          </a:p>
          <a:p>
            <a:pPr indent="0" marL="0">
              <a:lnSpc>
                <a:spcPct val="100000"/>
              </a:lnSpc>
              <a:buNone/>
            </a:pPr>
            <a:r>
              <a:rPr lang="en-US" sz="3000" b="1" spc="-120" kern="0" dirty="0">
                <a:solidFill>
                  <a:srgbClr val="193F35"/>
                </a:solidFill>
                <a:latin typeface="Inter" pitchFamily="34" charset="0"/>
                <a:ea typeface="Inter" pitchFamily="34" charset="-122"/>
                <a:cs typeface="Inter" pitchFamily="34" charset="-120"/>
              </a:rPr>
              <a:t>lentil skillet</a:t>
            </a:r>
            <a:endParaRPr lang="en-US" sz="3000" dirty="0"/>
          </a:p>
        </p:txBody>
      </p:sp>
      <p:sp>
        <p:nvSpPr>
          <p:cNvPr id="23" name="Text 21"/>
          <p:cNvSpPr/>
          <p:nvPr/>
        </p:nvSpPr>
        <p:spPr>
          <a:xfrm>
            <a:off x="7388352" y="4306824"/>
            <a:ext cx="3566160" cy="210312"/>
          </a:xfrm>
          <a:prstGeom prst="rect">
            <a:avLst/>
          </a:prstGeom>
          <a:noFill/>
          <a:ln/>
        </p:spPr>
        <p:txBody>
          <a:bodyPr wrap="square" lIns="0" tIns="0" rIns="0" bIns="0" rtlCol="0" anchor="t"/>
          <a:lstStyle/>
          <a:p>
            <a:pPr indent="0" marL="0">
              <a:lnSpc>
                <a:spcPct val="106000"/>
              </a:lnSpc>
              <a:buNone/>
            </a:pPr>
            <a:r>
              <a:rPr lang="en-US" sz="1100" b="1" dirty="0">
                <a:solidFill>
                  <a:srgbClr val="193F35"/>
                </a:solidFill>
                <a:latin typeface="Inter" pitchFamily="34" charset="0"/>
                <a:ea typeface="Inter" pitchFamily="34" charset="-122"/>
                <a:cs typeface="Inter" pitchFamily="34" charset="-120"/>
              </a:rPr>
              <a:t>25 min  /  2 servings  /  1 pan</a:t>
            </a:r>
            <a:endParaRPr lang="en-US" sz="1100" dirty="0"/>
          </a:p>
        </p:txBody>
      </p:sp>
      <p:sp>
        <p:nvSpPr>
          <p:cNvPr id="24" name="Text 22"/>
          <p:cNvSpPr/>
          <p:nvPr/>
        </p:nvSpPr>
        <p:spPr>
          <a:xfrm>
            <a:off x="7370064" y="4636008"/>
            <a:ext cx="3611880" cy="320040"/>
          </a:xfrm>
          <a:prstGeom prst="rect">
            <a:avLst/>
          </a:prstGeom>
          <a:noFill/>
          <a:ln/>
        </p:spPr>
        <p:txBody>
          <a:bodyPr wrap="square" lIns="0" tIns="0" rIns="0" bIns="0" rtlCol="0" anchor="t"/>
          <a:lstStyle/>
          <a:p>
            <a:pPr indent="0" marL="0">
              <a:lnSpc>
                <a:spcPct val="106000"/>
              </a:lnSpc>
              <a:buNone/>
            </a:pPr>
            <a:r>
              <a:rPr lang="en-US" sz="1000" dirty="0">
                <a:solidFill>
                  <a:srgbClr val="193F35"/>
                </a:solidFill>
                <a:latin typeface="Inter" pitchFamily="34" charset="0"/>
                <a:ea typeface="Inter" pitchFamily="34" charset="-122"/>
                <a:cs typeface="Inter" pitchFamily="34" charset="-120"/>
              </a:rPr>
              <a:t>Uses your garden tomatoes.</a:t>
            </a:r>
            <a:endParaRPr lang="en-US" sz="1000" dirty="0"/>
          </a:p>
          <a:p>
            <a:pPr indent="0" marL="0">
              <a:lnSpc>
                <a:spcPct val="106000"/>
              </a:lnSpc>
              <a:buNone/>
            </a:pPr>
            <a:r>
              <a:rPr lang="en-US" sz="1000" dirty="0">
                <a:solidFill>
                  <a:srgbClr val="193F35"/>
                </a:solidFill>
                <a:latin typeface="Inter" pitchFamily="34" charset="0"/>
                <a:ea typeface="Inter" pitchFamily="34" charset="-122"/>
                <a:cs typeface="Inter" pitchFamily="34" charset="-120"/>
              </a:rPr>
              <a:t>One missing ingredient goes on the list.</a:t>
            </a:r>
            <a:endParaRPr lang="en-US" sz="1000" dirty="0"/>
          </a:p>
        </p:txBody>
      </p:sp>
      <p:sp>
        <p:nvSpPr>
          <p:cNvPr id="25" name="Shape 23"/>
          <p:cNvSpPr/>
          <p:nvPr/>
        </p:nvSpPr>
        <p:spPr>
          <a:xfrm>
            <a:off x="7150608" y="5257800"/>
            <a:ext cx="4242816" cy="640080"/>
          </a:xfrm>
          <a:prstGeom prst="roundRect">
            <a:avLst>
              <a:gd name="adj" fmla="val 17143"/>
            </a:avLst>
          </a:prstGeom>
          <a:solidFill>
            <a:srgbClr val="FFFEFA"/>
          </a:solidFill>
          <a:ln w="12700">
            <a:solidFill>
              <a:srgbClr val="FFFEFA"/>
            </a:solidFill>
            <a:prstDash val="solid"/>
          </a:ln>
        </p:spPr>
      </p:sp>
      <p:sp>
        <p:nvSpPr>
          <p:cNvPr id="26" name="Text 24"/>
          <p:cNvSpPr/>
          <p:nvPr/>
        </p:nvSpPr>
        <p:spPr>
          <a:xfrm>
            <a:off x="7342632" y="5458968"/>
            <a:ext cx="3831336" cy="155448"/>
          </a:xfrm>
          <a:prstGeom prst="rect">
            <a:avLst/>
          </a:prstGeom>
          <a:noFill/>
          <a:ln/>
        </p:spPr>
        <p:txBody>
          <a:bodyPr wrap="square" lIns="0" tIns="0" rIns="0" bIns="0" rtlCol="0" anchor="t"/>
          <a:lstStyle/>
          <a:p>
            <a:pPr indent="0" marL="0">
              <a:lnSpc>
                <a:spcPct val="106000"/>
              </a:lnSpc>
              <a:buNone/>
            </a:pPr>
            <a:r>
              <a:rPr lang="en-US" sz="1000" b="1" spc="35" kern="0" dirty="0">
                <a:solidFill>
                  <a:srgbClr val="193F35"/>
                </a:solidFill>
                <a:latin typeface="Inter" pitchFamily="34" charset="0"/>
                <a:ea typeface="Inter" pitchFamily="34" charset="-122"/>
                <a:cs typeface="Inter" pitchFamily="34" charset="-120"/>
              </a:rPr>
              <a:t>PANTRY  →  RECIPE  →  GROCERY LIST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0"/>
        </a:solidFill>
      </p:bgPr>
    </p:bg>
    <p:spTree>
      <p:nvGrpSpPr>
        <p:cNvPr id="1" name=""/>
        <p:cNvGrpSpPr/>
        <p:nvPr/>
      </p:nvGrpSpPr>
      <p:grpSpPr>
        <a:xfrm>
          <a:off x="0" y="0"/>
          <a:ext cx="0" cy="0"/>
          <a:chOff x="0" y="0"/>
          <a:chExt cx="0" cy="0"/>
        </a:xfrm>
      </p:grpSpPr>
      <p:sp>
        <p:nvSpPr>
          <p:cNvPr id="2" name="Text 0"/>
          <p:cNvSpPr/>
          <p:nvPr/>
        </p:nvSpPr>
        <p:spPr>
          <a:xfrm>
            <a:off x="502920" y="320040"/>
            <a:ext cx="9144000" cy="182880"/>
          </a:xfrm>
          <a:prstGeom prst="rect">
            <a:avLst/>
          </a:prstGeom>
          <a:noFill/>
          <a:ln/>
        </p:spPr>
        <p:txBody>
          <a:bodyPr wrap="square" lIns="0" tIns="0" rIns="0" bIns="0" rtlCol="0" anchor="t"/>
          <a:lstStyle/>
          <a:p>
            <a:pPr indent="0" marL="0">
              <a:lnSpc>
                <a:spcPct val="106000"/>
              </a:lnSpc>
              <a:buNone/>
            </a:pPr>
            <a:r>
              <a:rPr lang="en-US" sz="850" b="1" spc="165" kern="0" dirty="0">
                <a:solidFill>
                  <a:srgbClr val="68776D"/>
                </a:solidFill>
                <a:latin typeface="Inter" pitchFamily="34" charset="0"/>
                <a:ea typeface="Inter" pitchFamily="34" charset="-122"/>
                <a:cs typeface="Inter" pitchFamily="34" charset="-120"/>
              </a:rPr>
              <a:t>LUNCHBOX  /  PRODUCT THESIS</a:t>
            </a:r>
            <a:endParaRPr lang="en-US" sz="850" dirty="0"/>
          </a:p>
        </p:txBody>
      </p:sp>
      <p:sp>
        <p:nvSpPr>
          <p:cNvPr id="3" name="Text 1"/>
          <p:cNvSpPr/>
          <p:nvPr/>
        </p:nvSpPr>
        <p:spPr>
          <a:xfrm>
            <a:off x="502920" y="749808"/>
            <a:ext cx="11155680" cy="658368"/>
          </a:xfrm>
          <a:prstGeom prst="rect">
            <a:avLst/>
          </a:prstGeom>
          <a:noFill/>
          <a:ln/>
        </p:spPr>
        <p:txBody>
          <a:bodyPr wrap="square" lIns="0" tIns="0" rIns="0" bIns="0" rtlCol="0" anchor="t"/>
          <a:lstStyle/>
          <a:p>
            <a:pPr indent="0" marL="0">
              <a:lnSpc>
                <a:spcPct val="106000"/>
              </a:lnSpc>
              <a:buNone/>
            </a:pPr>
            <a:r>
              <a:rPr lang="en-US" sz="3100" b="1" spc="-125" kern="0" dirty="0">
                <a:solidFill>
                  <a:srgbClr val="193F35"/>
                </a:solidFill>
                <a:latin typeface="Inter" pitchFamily="34" charset="0"/>
                <a:ea typeface="Inter" pitchFamily="34" charset="-122"/>
                <a:cs typeface="Inter" pitchFamily="34" charset="-120"/>
              </a:rPr>
              <a:t>Not more recipes. Better answers.</a:t>
            </a:r>
            <a:endParaRPr lang="en-US" sz="3100" dirty="0"/>
          </a:p>
        </p:txBody>
      </p:sp>
      <p:sp>
        <p:nvSpPr>
          <p:cNvPr id="4" name="Text 2"/>
          <p:cNvSpPr/>
          <p:nvPr/>
        </p:nvSpPr>
        <p:spPr>
          <a:xfrm>
            <a:off x="530352" y="1472184"/>
            <a:ext cx="10789920" cy="457200"/>
          </a:xfrm>
          <a:prstGeom prst="rect">
            <a:avLst/>
          </a:prstGeom>
          <a:noFill/>
          <a:ln/>
        </p:spPr>
        <p:txBody>
          <a:bodyPr wrap="square" lIns="0" tIns="0" rIns="0" bIns="0" rtlCol="0" anchor="t"/>
          <a:lstStyle/>
          <a:p>
            <a:pPr indent="0" marL="0">
              <a:lnSpc>
                <a:spcPct val="106000"/>
              </a:lnSpc>
              <a:buNone/>
            </a:pPr>
            <a:r>
              <a:rPr lang="en-US" sz="1200" dirty="0">
                <a:solidFill>
                  <a:srgbClr val="68776D"/>
                </a:solidFill>
                <a:latin typeface="Inter" pitchFamily="34" charset="0"/>
                <a:ea typeface="Inter" pitchFamily="34" charset="-122"/>
                <a:cs typeface="Inter" pitchFamily="34" charset="-120"/>
              </a:rPr>
              <a:t>The opportunity is to turn kitchen context into a meal someone can actually make.</a:t>
            </a:r>
            <a:endParaRPr lang="en-US" sz="1200" dirty="0"/>
          </a:p>
        </p:txBody>
      </p:sp>
      <p:sp>
        <p:nvSpPr>
          <p:cNvPr id="5" name="Shape 3"/>
          <p:cNvSpPr/>
          <p:nvPr/>
        </p:nvSpPr>
        <p:spPr>
          <a:xfrm>
            <a:off x="502920" y="6455664"/>
            <a:ext cx="11183112" cy="0"/>
          </a:xfrm>
          <a:prstGeom prst="line">
            <a:avLst/>
          </a:prstGeom>
          <a:noFill/>
          <a:ln w="8890">
            <a:solidFill>
              <a:srgbClr val="E0E4D9"/>
            </a:solidFill>
            <a:prstDash val="solid"/>
          </a:ln>
        </p:spPr>
      </p:sp>
      <p:sp>
        <p:nvSpPr>
          <p:cNvPr id="6" name="Text 4"/>
          <p:cNvSpPr/>
          <p:nvPr/>
        </p:nvSpPr>
        <p:spPr>
          <a:xfrm>
            <a:off x="512064" y="6565392"/>
            <a:ext cx="6400800" cy="118872"/>
          </a:xfrm>
          <a:prstGeom prst="rect">
            <a:avLst/>
          </a:prstGeom>
          <a:noFill/>
          <a:ln/>
        </p:spPr>
        <p:txBody>
          <a:bodyPr wrap="square" lIns="0" tIns="0" rIns="0" bIns="0" rtlCol="0" anchor="t"/>
          <a:lstStyle/>
          <a:p>
            <a:pPr indent="0" marL="0">
              <a:lnSpc>
                <a:spcPct val="106000"/>
              </a:lnSpc>
              <a:buNone/>
            </a:pPr>
            <a:r>
              <a:rPr lang="en-US" sz="730" spc="90" kern="0" dirty="0">
                <a:solidFill>
                  <a:srgbClr val="68776D"/>
                </a:solidFill>
                <a:latin typeface="Inter" pitchFamily="34" charset="0"/>
                <a:ea typeface="Inter" pitchFamily="34" charset="-122"/>
                <a:cs typeface="Inter" pitchFamily="34" charset="-120"/>
              </a:rPr>
              <a:t>CONCEPT PORTFOLIO · SEPTEMBER 2026</a:t>
            </a:r>
            <a:endParaRPr lang="en-US" sz="730" dirty="0"/>
          </a:p>
        </p:txBody>
      </p:sp>
      <p:sp>
        <p:nvSpPr>
          <p:cNvPr id="7" name="Text 5"/>
          <p:cNvSpPr/>
          <p:nvPr/>
        </p:nvSpPr>
        <p:spPr>
          <a:xfrm>
            <a:off x="11155680" y="6537960"/>
            <a:ext cx="530352" cy="155448"/>
          </a:xfrm>
          <a:prstGeom prst="rect">
            <a:avLst/>
          </a:prstGeom>
          <a:noFill/>
          <a:ln/>
        </p:spPr>
        <p:txBody>
          <a:bodyPr wrap="square" lIns="0" tIns="0" rIns="0" bIns="0" rtlCol="0" anchor="t"/>
          <a:lstStyle/>
          <a:p>
            <a:pPr algn="r" indent="0" marL="0">
              <a:lnSpc>
                <a:spcPct val="106000"/>
              </a:lnSpc>
              <a:buNone/>
            </a:pPr>
            <a:r>
              <a:rPr lang="en-US" sz="900" b="1" dirty="0">
                <a:solidFill>
                  <a:srgbClr val="193F35"/>
                </a:solidFill>
                <a:latin typeface="Inter" pitchFamily="34" charset="0"/>
                <a:ea typeface="Inter" pitchFamily="34" charset="-122"/>
                <a:cs typeface="Inter" pitchFamily="34" charset="-120"/>
              </a:rPr>
              <a:t>02</a:t>
            </a:r>
            <a:endParaRPr lang="en-US" sz="900" dirty="0"/>
          </a:p>
        </p:txBody>
      </p:sp>
      <p:sp>
        <p:nvSpPr>
          <p:cNvPr id="8" name="Text 6"/>
          <p:cNvSpPr/>
          <p:nvPr/>
        </p:nvSpPr>
        <p:spPr>
          <a:xfrm>
            <a:off x="548640" y="2075688"/>
            <a:ext cx="5486400" cy="1124712"/>
          </a:xfrm>
          <a:prstGeom prst="rect">
            <a:avLst/>
          </a:prstGeom>
          <a:noFill/>
          <a:ln/>
        </p:spPr>
        <p:txBody>
          <a:bodyPr wrap="square" lIns="0" tIns="0" rIns="0" bIns="0" rtlCol="0" anchor="t"/>
          <a:lstStyle/>
          <a:p>
            <a:pPr indent="0" marL="0">
              <a:lnSpc>
                <a:spcPct val="102000"/>
              </a:lnSpc>
              <a:buNone/>
            </a:pPr>
            <a:r>
              <a:rPr lang="en-US" sz="3600" b="1" spc="-130" kern="0" dirty="0">
                <a:solidFill>
                  <a:srgbClr val="193F35"/>
                </a:solidFill>
                <a:latin typeface="Inter" pitchFamily="34" charset="0"/>
                <a:ea typeface="Inter" pitchFamily="34" charset="-122"/>
                <a:cs typeface="Inter" pitchFamily="34" charset="-120"/>
              </a:rPr>
              <a:t>“What makes sense</a:t>
            </a:r>
            <a:endParaRPr lang="en-US" sz="3600" dirty="0"/>
          </a:p>
          <a:p>
            <a:pPr indent="0" marL="0">
              <a:lnSpc>
                <a:spcPct val="102000"/>
              </a:lnSpc>
              <a:buNone/>
            </a:pPr>
            <a:r>
              <a:rPr lang="en-US" sz="3600" b="1" spc="-130" kern="0" dirty="0">
                <a:solidFill>
                  <a:srgbClr val="193F35"/>
                </a:solidFill>
                <a:latin typeface="Inter" pitchFamily="34" charset="0"/>
                <a:ea typeface="Inter" pitchFamily="34" charset="-122"/>
                <a:cs typeface="Inter" pitchFamily="34" charset="-120"/>
              </a:rPr>
              <a:t>to cook next?”</a:t>
            </a:r>
            <a:endParaRPr lang="en-US" sz="3600" dirty="0"/>
          </a:p>
        </p:txBody>
      </p:sp>
      <p:sp>
        <p:nvSpPr>
          <p:cNvPr id="9" name="Text 7"/>
          <p:cNvSpPr/>
          <p:nvPr/>
        </p:nvSpPr>
        <p:spPr>
          <a:xfrm>
            <a:off x="585216" y="3392424"/>
            <a:ext cx="4937760" cy="850392"/>
          </a:xfrm>
          <a:prstGeom prst="rect">
            <a:avLst/>
          </a:prstGeom>
          <a:noFill/>
          <a:ln/>
        </p:spPr>
        <p:txBody>
          <a:bodyPr wrap="square" lIns="0" tIns="0" rIns="0" bIns="0" rtlCol="0" anchor="t"/>
          <a:lstStyle/>
          <a:p>
            <a:pPr indent="0" marL="0">
              <a:lnSpc>
                <a:spcPct val="106000"/>
              </a:lnSpc>
              <a:buNone/>
            </a:pPr>
            <a:r>
              <a:rPr lang="en-US" sz="2200" spc="-70" kern="0" dirty="0">
                <a:solidFill>
                  <a:srgbClr val="68776D"/>
                </a:solidFill>
                <a:latin typeface="Inter" pitchFamily="34" charset="0"/>
                <a:ea typeface="Inter" pitchFamily="34" charset="-122"/>
                <a:cs typeface="Inter" pitchFamily="34" charset="-120"/>
              </a:rPr>
              <a:t>A useful answer knows the food,</a:t>
            </a:r>
            <a:endParaRPr lang="en-US" sz="2200" dirty="0"/>
          </a:p>
          <a:p>
            <a:pPr indent="0" marL="0">
              <a:lnSpc>
                <a:spcPct val="106000"/>
              </a:lnSpc>
              <a:buNone/>
            </a:pPr>
            <a:r>
              <a:rPr lang="en-US" sz="2200" spc="-70" kern="0" dirty="0">
                <a:solidFill>
                  <a:srgbClr val="68776D"/>
                </a:solidFill>
                <a:latin typeface="Inter" pitchFamily="34" charset="0"/>
                <a:ea typeface="Inter" pitchFamily="34" charset="-122"/>
                <a:cs typeface="Inter" pitchFamily="34" charset="-120"/>
              </a:rPr>
              <a:t>the people, and the moment.</a:t>
            </a:r>
            <a:endParaRPr lang="en-US" sz="2200" dirty="0"/>
          </a:p>
        </p:txBody>
      </p:sp>
      <p:sp>
        <p:nvSpPr>
          <p:cNvPr id="10" name="Shape 8"/>
          <p:cNvSpPr/>
          <p:nvPr/>
        </p:nvSpPr>
        <p:spPr>
          <a:xfrm>
            <a:off x="576072" y="4956048"/>
            <a:ext cx="3054096" cy="292608"/>
          </a:xfrm>
          <a:prstGeom prst="roundRect">
            <a:avLst>
              <a:gd name="adj" fmla="val 37500"/>
            </a:avLst>
          </a:prstGeom>
          <a:solidFill>
            <a:srgbClr val="FBE7DB"/>
          </a:solidFill>
          <a:ln w="12700">
            <a:solidFill>
              <a:srgbClr val="FBE7DB"/>
            </a:solidFill>
            <a:prstDash val="solid"/>
          </a:ln>
        </p:spPr>
      </p:sp>
      <p:sp>
        <p:nvSpPr>
          <p:cNvPr id="11" name="Text 9"/>
          <p:cNvSpPr/>
          <p:nvPr/>
        </p:nvSpPr>
        <p:spPr>
          <a:xfrm>
            <a:off x="685800" y="5024628"/>
            <a:ext cx="2834640" cy="146304"/>
          </a:xfrm>
          <a:prstGeom prst="rect">
            <a:avLst/>
          </a:prstGeom>
          <a:noFill/>
          <a:ln/>
        </p:spPr>
        <p:txBody>
          <a:bodyPr wrap="square" lIns="0" tIns="0" rIns="0" bIns="0" rtlCol="0" anchor="t"/>
          <a:lstStyle/>
          <a:p>
            <a:pPr indent="0" marL="0">
              <a:lnSpc>
                <a:spcPct val="106000"/>
              </a:lnSpc>
              <a:buNone/>
            </a:pPr>
            <a:r>
              <a:rPr lang="en-US" sz="820" b="1" dirty="0">
                <a:solidFill>
                  <a:srgbClr val="B74420"/>
                </a:solidFill>
                <a:latin typeface="Inter" pitchFamily="34" charset="0"/>
                <a:ea typeface="Inter" pitchFamily="34" charset="-122"/>
                <a:cs typeface="Inter" pitchFamily="34" charset="-120"/>
              </a:rPr>
              <a:t>DESIGN HYPOTHESIS — TO VALIDATE</a:t>
            </a:r>
            <a:endParaRPr lang="en-US" sz="820" dirty="0"/>
          </a:p>
        </p:txBody>
      </p:sp>
      <p:sp>
        <p:nvSpPr>
          <p:cNvPr id="12" name="Text 10"/>
          <p:cNvSpPr/>
          <p:nvPr/>
        </p:nvSpPr>
        <p:spPr>
          <a:xfrm>
            <a:off x="594360" y="5477256"/>
            <a:ext cx="5230368" cy="640080"/>
          </a:xfrm>
          <a:prstGeom prst="rect">
            <a:avLst/>
          </a:prstGeom>
          <a:noFill/>
          <a:ln/>
        </p:spPr>
        <p:txBody>
          <a:bodyPr wrap="square" lIns="0" tIns="0" rIns="0" bIns="0" rtlCol="0" anchor="t"/>
          <a:lstStyle/>
          <a:p>
            <a:pPr indent="0" marL="0">
              <a:lnSpc>
                <a:spcPct val="106000"/>
              </a:lnSpc>
              <a:buNone/>
            </a:pPr>
            <a:r>
              <a:rPr lang="en-US" sz="1200" dirty="0">
                <a:solidFill>
                  <a:srgbClr val="68776D"/>
                </a:solidFill>
                <a:latin typeface="Inter" pitchFamily="34" charset="0"/>
                <a:ea typeface="Inter" pitchFamily="34" charset="-122"/>
                <a:cs typeface="Inter" pitchFamily="34" charset="-120"/>
              </a:rPr>
              <a:t>Start with busy households that want to cook at home,</a:t>
            </a:r>
            <a:endParaRPr lang="en-US" sz="1200" dirty="0"/>
          </a:p>
          <a:p>
            <a:pPr indent="0" marL="0">
              <a:lnSpc>
                <a:spcPct val="106000"/>
              </a:lnSpc>
              <a:buNone/>
            </a:pPr>
            <a:r>
              <a:rPr lang="en-US" sz="1200" dirty="0">
                <a:solidFill>
                  <a:srgbClr val="68776D"/>
                </a:solidFill>
                <a:latin typeface="Inter" pitchFamily="34" charset="0"/>
                <a:ea typeface="Inter" pitchFamily="34" charset="-122"/>
                <a:cs typeface="Inter" pitchFamily="34" charset="-120"/>
              </a:rPr>
              <a:t>but do not want meal planning to become another job.</a:t>
            </a:r>
            <a:endParaRPr lang="en-US" sz="1200" dirty="0"/>
          </a:p>
        </p:txBody>
      </p:sp>
      <p:sp>
        <p:nvSpPr>
          <p:cNvPr id="13" name="Shape 11"/>
          <p:cNvSpPr/>
          <p:nvPr/>
        </p:nvSpPr>
        <p:spPr>
          <a:xfrm>
            <a:off x="6419088" y="2084832"/>
            <a:ext cx="347472" cy="347472"/>
          </a:xfrm>
          <a:prstGeom prst="roundRect">
            <a:avLst>
              <a:gd name="adj" fmla="val 28947"/>
            </a:avLst>
          </a:prstGeom>
          <a:solidFill>
            <a:srgbClr val="244D40"/>
          </a:solidFill>
          <a:ln w="12700">
            <a:solidFill>
              <a:srgbClr val="244D40"/>
            </a:solidFill>
            <a:prstDash val="solid"/>
          </a:ln>
        </p:spPr>
      </p:sp>
      <p:sp>
        <p:nvSpPr>
          <p:cNvPr id="14" name="Text 12"/>
          <p:cNvSpPr/>
          <p:nvPr/>
        </p:nvSpPr>
        <p:spPr>
          <a:xfrm>
            <a:off x="6419088" y="2144268"/>
            <a:ext cx="347472" cy="210312"/>
          </a:xfrm>
          <a:prstGeom prst="rect">
            <a:avLst/>
          </a:prstGeom>
          <a:noFill/>
          <a:ln/>
        </p:spPr>
        <p:txBody>
          <a:bodyPr wrap="square" lIns="0" tIns="0" rIns="0" bIns="0" rtlCol="0" anchor="t"/>
          <a:lstStyle/>
          <a:p>
            <a:pPr algn="ctr" indent="0" marL="0">
              <a:lnSpc>
                <a:spcPct val="106000"/>
              </a:lnSpc>
              <a:buNone/>
            </a:pPr>
            <a:r>
              <a:rPr lang="en-US" sz="1000" b="1" dirty="0">
                <a:solidFill>
                  <a:srgbClr val="FFFEFA"/>
                </a:solidFill>
                <a:latin typeface="Inter" pitchFamily="34" charset="0"/>
                <a:ea typeface="Inter" pitchFamily="34" charset="-122"/>
                <a:cs typeface="Inter" pitchFamily="34" charset="-120"/>
              </a:rPr>
              <a:t>01</a:t>
            </a:r>
            <a:endParaRPr lang="en-US" sz="1000" dirty="0"/>
          </a:p>
        </p:txBody>
      </p:sp>
      <p:sp>
        <p:nvSpPr>
          <p:cNvPr id="15" name="Text 13"/>
          <p:cNvSpPr/>
          <p:nvPr/>
        </p:nvSpPr>
        <p:spPr>
          <a:xfrm>
            <a:off x="6958584" y="2075688"/>
            <a:ext cx="4507992" cy="365760"/>
          </a:xfrm>
          <a:prstGeom prst="rect">
            <a:avLst/>
          </a:prstGeom>
          <a:noFill/>
          <a:ln/>
        </p:spPr>
        <p:txBody>
          <a:bodyPr wrap="square" lIns="0" tIns="0" rIns="0" bIns="0" rtlCol="0" anchor="t"/>
          <a:lstStyle/>
          <a:p>
            <a:pPr indent="0" marL="0">
              <a:lnSpc>
                <a:spcPct val="106000"/>
              </a:lnSpc>
              <a:buNone/>
            </a:pPr>
            <a:r>
              <a:rPr lang="en-US" sz="2100" b="1" spc="-70" kern="0" dirty="0">
                <a:solidFill>
                  <a:srgbClr val="193F35"/>
                </a:solidFill>
                <a:latin typeface="Inter" pitchFamily="34" charset="0"/>
                <a:ea typeface="Inter" pitchFamily="34" charset="-122"/>
                <a:cs typeface="Inter" pitchFamily="34" charset="-120"/>
              </a:rPr>
              <a:t>What is already here?</a:t>
            </a:r>
            <a:endParaRPr lang="en-US" sz="2100" dirty="0"/>
          </a:p>
        </p:txBody>
      </p:sp>
      <p:sp>
        <p:nvSpPr>
          <p:cNvPr id="16" name="Text 14"/>
          <p:cNvSpPr/>
          <p:nvPr/>
        </p:nvSpPr>
        <p:spPr>
          <a:xfrm>
            <a:off x="6976872" y="2551176"/>
            <a:ext cx="4507992" cy="512064"/>
          </a:xfrm>
          <a:prstGeom prst="rect">
            <a:avLst/>
          </a:prstGeom>
          <a:noFill/>
          <a:ln/>
        </p:spPr>
        <p:txBody>
          <a:bodyPr wrap="square" lIns="0" tIns="0" rIns="0" bIns="0" rtlCol="0" anchor="t"/>
          <a:lstStyle/>
          <a:p>
            <a:pPr indent="0" marL="0">
              <a:lnSpc>
                <a:spcPct val="106000"/>
              </a:lnSpc>
              <a:buNone/>
            </a:pPr>
            <a:r>
              <a:rPr lang="en-US" sz="1200" dirty="0">
                <a:solidFill>
                  <a:srgbClr val="68776D"/>
                </a:solidFill>
                <a:latin typeface="Inter" pitchFamily="34" charset="0"/>
                <a:ea typeface="Inter" pitchFamily="34" charset="-122"/>
                <a:cs typeface="Inter" pitchFamily="34" charset="-120"/>
              </a:rPr>
              <a:t>Food is scattered across cupboards, the fridge,</a:t>
            </a:r>
            <a:endParaRPr lang="en-US" sz="1200" dirty="0"/>
          </a:p>
          <a:p>
            <a:pPr indent="0" marL="0">
              <a:lnSpc>
                <a:spcPct val="106000"/>
              </a:lnSpc>
              <a:buNone/>
            </a:pPr>
            <a:r>
              <a:rPr lang="en-US" sz="1200" dirty="0">
                <a:solidFill>
                  <a:srgbClr val="68776D"/>
                </a:solidFill>
                <a:latin typeface="Inter" pitchFamily="34" charset="0"/>
                <a:ea typeface="Inter" pitchFamily="34" charset="-122"/>
                <a:cs typeface="Inter" pitchFamily="34" charset="-120"/>
              </a:rPr>
              <a:t>the freezer, and the week’s garden harvest.</a:t>
            </a:r>
            <a:endParaRPr lang="en-US" sz="1200" dirty="0"/>
          </a:p>
        </p:txBody>
      </p:sp>
      <p:sp>
        <p:nvSpPr>
          <p:cNvPr id="17" name="Shape 15"/>
          <p:cNvSpPr/>
          <p:nvPr/>
        </p:nvSpPr>
        <p:spPr>
          <a:xfrm>
            <a:off x="6958584" y="3154680"/>
            <a:ext cx="4617720" cy="0"/>
          </a:xfrm>
          <a:prstGeom prst="line">
            <a:avLst/>
          </a:prstGeom>
          <a:noFill/>
          <a:ln w="12700">
            <a:solidFill>
              <a:srgbClr val="E0E4D9"/>
            </a:solidFill>
            <a:prstDash val="solid"/>
          </a:ln>
        </p:spPr>
      </p:sp>
      <p:sp>
        <p:nvSpPr>
          <p:cNvPr id="18" name="Shape 16"/>
          <p:cNvSpPr/>
          <p:nvPr/>
        </p:nvSpPr>
        <p:spPr>
          <a:xfrm>
            <a:off x="6419088" y="3438144"/>
            <a:ext cx="347472" cy="347472"/>
          </a:xfrm>
          <a:prstGeom prst="roundRect">
            <a:avLst>
              <a:gd name="adj" fmla="val 28947"/>
            </a:avLst>
          </a:prstGeom>
          <a:solidFill>
            <a:srgbClr val="244D40"/>
          </a:solidFill>
          <a:ln w="12700">
            <a:solidFill>
              <a:srgbClr val="244D40"/>
            </a:solidFill>
            <a:prstDash val="solid"/>
          </a:ln>
        </p:spPr>
      </p:sp>
      <p:sp>
        <p:nvSpPr>
          <p:cNvPr id="19" name="Text 17"/>
          <p:cNvSpPr/>
          <p:nvPr/>
        </p:nvSpPr>
        <p:spPr>
          <a:xfrm>
            <a:off x="6419088" y="3497580"/>
            <a:ext cx="347472" cy="210312"/>
          </a:xfrm>
          <a:prstGeom prst="rect">
            <a:avLst/>
          </a:prstGeom>
          <a:noFill/>
          <a:ln/>
        </p:spPr>
        <p:txBody>
          <a:bodyPr wrap="square" lIns="0" tIns="0" rIns="0" bIns="0" rtlCol="0" anchor="t"/>
          <a:lstStyle/>
          <a:p>
            <a:pPr algn="ctr" indent="0" marL="0">
              <a:lnSpc>
                <a:spcPct val="106000"/>
              </a:lnSpc>
              <a:buNone/>
            </a:pPr>
            <a:r>
              <a:rPr lang="en-US" sz="1000" b="1" dirty="0">
                <a:solidFill>
                  <a:srgbClr val="FFFEFA"/>
                </a:solidFill>
                <a:latin typeface="Inter" pitchFamily="34" charset="0"/>
                <a:ea typeface="Inter" pitchFamily="34" charset="-122"/>
                <a:cs typeface="Inter" pitchFamily="34" charset="-120"/>
              </a:rPr>
              <a:t>02</a:t>
            </a:r>
            <a:endParaRPr lang="en-US" sz="1000" dirty="0"/>
          </a:p>
        </p:txBody>
      </p:sp>
      <p:sp>
        <p:nvSpPr>
          <p:cNvPr id="20" name="Text 18"/>
          <p:cNvSpPr/>
          <p:nvPr/>
        </p:nvSpPr>
        <p:spPr>
          <a:xfrm>
            <a:off x="6958584" y="3429000"/>
            <a:ext cx="4507992" cy="365760"/>
          </a:xfrm>
          <a:prstGeom prst="rect">
            <a:avLst/>
          </a:prstGeom>
          <a:noFill/>
          <a:ln/>
        </p:spPr>
        <p:txBody>
          <a:bodyPr wrap="square" lIns="0" tIns="0" rIns="0" bIns="0" rtlCol="0" anchor="t"/>
          <a:lstStyle/>
          <a:p>
            <a:pPr indent="0" marL="0">
              <a:lnSpc>
                <a:spcPct val="106000"/>
              </a:lnSpc>
              <a:buNone/>
            </a:pPr>
            <a:r>
              <a:rPr lang="en-US" sz="2100" b="1" spc="-70" kern="0" dirty="0">
                <a:solidFill>
                  <a:srgbClr val="193F35"/>
                </a:solidFill>
                <a:latin typeface="Inter" pitchFamily="34" charset="0"/>
                <a:ea typeface="Inter" pitchFamily="34" charset="-122"/>
                <a:cs typeface="Inter" pitchFamily="34" charset="-120"/>
              </a:rPr>
              <a:t>What fits real life?</a:t>
            </a:r>
            <a:endParaRPr lang="en-US" sz="2100" dirty="0"/>
          </a:p>
        </p:txBody>
      </p:sp>
      <p:sp>
        <p:nvSpPr>
          <p:cNvPr id="21" name="Text 19"/>
          <p:cNvSpPr/>
          <p:nvPr/>
        </p:nvSpPr>
        <p:spPr>
          <a:xfrm>
            <a:off x="6976872" y="3904488"/>
            <a:ext cx="4507992" cy="512064"/>
          </a:xfrm>
          <a:prstGeom prst="rect">
            <a:avLst/>
          </a:prstGeom>
          <a:noFill/>
          <a:ln/>
        </p:spPr>
        <p:txBody>
          <a:bodyPr wrap="square" lIns="0" tIns="0" rIns="0" bIns="0" rtlCol="0" anchor="t"/>
          <a:lstStyle/>
          <a:p>
            <a:pPr indent="0" marL="0">
              <a:lnSpc>
                <a:spcPct val="106000"/>
              </a:lnSpc>
              <a:buNone/>
            </a:pPr>
            <a:r>
              <a:rPr lang="en-US" sz="1200" dirty="0">
                <a:solidFill>
                  <a:srgbClr val="68776D"/>
                </a:solidFill>
                <a:latin typeface="Inter" pitchFamily="34" charset="0"/>
                <a:ea typeface="Inter" pitchFamily="34" charset="-122"/>
                <a:cs typeface="Inter" pitchFamily="34" charset="-120"/>
              </a:rPr>
              <a:t>Time, tools, tastes and energy change</a:t>
            </a:r>
            <a:endParaRPr lang="en-US" sz="1200" dirty="0"/>
          </a:p>
          <a:p>
            <a:pPr indent="0" marL="0">
              <a:lnSpc>
                <a:spcPct val="106000"/>
              </a:lnSpc>
              <a:buNone/>
            </a:pPr>
            <a:r>
              <a:rPr lang="en-US" sz="1200" dirty="0">
                <a:solidFill>
                  <a:srgbClr val="68776D"/>
                </a:solidFill>
                <a:latin typeface="Inter" pitchFamily="34" charset="0"/>
                <a:ea typeface="Inter" pitchFamily="34" charset="-122"/>
                <a:cs typeface="Inter" pitchFamily="34" charset="-120"/>
              </a:rPr>
              <a:t>from one evening to the next.</a:t>
            </a:r>
            <a:endParaRPr lang="en-US" sz="1200" dirty="0"/>
          </a:p>
        </p:txBody>
      </p:sp>
      <p:sp>
        <p:nvSpPr>
          <p:cNvPr id="22" name="Shape 20"/>
          <p:cNvSpPr/>
          <p:nvPr/>
        </p:nvSpPr>
        <p:spPr>
          <a:xfrm>
            <a:off x="6958584" y="4507992"/>
            <a:ext cx="4617720" cy="0"/>
          </a:xfrm>
          <a:prstGeom prst="line">
            <a:avLst/>
          </a:prstGeom>
          <a:noFill/>
          <a:ln w="12700">
            <a:solidFill>
              <a:srgbClr val="E0E4D9"/>
            </a:solidFill>
            <a:prstDash val="solid"/>
          </a:ln>
        </p:spPr>
      </p:sp>
      <p:sp>
        <p:nvSpPr>
          <p:cNvPr id="23" name="Shape 21"/>
          <p:cNvSpPr/>
          <p:nvPr/>
        </p:nvSpPr>
        <p:spPr>
          <a:xfrm>
            <a:off x="6419088" y="4791456"/>
            <a:ext cx="347472" cy="347472"/>
          </a:xfrm>
          <a:prstGeom prst="roundRect">
            <a:avLst>
              <a:gd name="adj" fmla="val 28947"/>
            </a:avLst>
          </a:prstGeom>
          <a:solidFill>
            <a:srgbClr val="244D40"/>
          </a:solidFill>
          <a:ln w="12700">
            <a:solidFill>
              <a:srgbClr val="244D40"/>
            </a:solidFill>
            <a:prstDash val="solid"/>
          </a:ln>
        </p:spPr>
      </p:sp>
      <p:sp>
        <p:nvSpPr>
          <p:cNvPr id="24" name="Text 22"/>
          <p:cNvSpPr/>
          <p:nvPr/>
        </p:nvSpPr>
        <p:spPr>
          <a:xfrm>
            <a:off x="6419088" y="4850892"/>
            <a:ext cx="347472" cy="210312"/>
          </a:xfrm>
          <a:prstGeom prst="rect">
            <a:avLst/>
          </a:prstGeom>
          <a:noFill/>
          <a:ln/>
        </p:spPr>
        <p:txBody>
          <a:bodyPr wrap="square" lIns="0" tIns="0" rIns="0" bIns="0" rtlCol="0" anchor="t"/>
          <a:lstStyle/>
          <a:p>
            <a:pPr algn="ctr" indent="0" marL="0">
              <a:lnSpc>
                <a:spcPct val="106000"/>
              </a:lnSpc>
              <a:buNone/>
            </a:pPr>
            <a:r>
              <a:rPr lang="en-US" sz="1000" b="1" dirty="0">
                <a:solidFill>
                  <a:srgbClr val="FFFEFA"/>
                </a:solidFill>
                <a:latin typeface="Inter" pitchFamily="34" charset="0"/>
                <a:ea typeface="Inter" pitchFamily="34" charset="-122"/>
                <a:cs typeface="Inter" pitchFamily="34" charset="-120"/>
              </a:rPr>
              <a:t>03</a:t>
            </a:r>
            <a:endParaRPr lang="en-US" sz="1000" dirty="0"/>
          </a:p>
        </p:txBody>
      </p:sp>
      <p:sp>
        <p:nvSpPr>
          <p:cNvPr id="25" name="Text 23"/>
          <p:cNvSpPr/>
          <p:nvPr/>
        </p:nvSpPr>
        <p:spPr>
          <a:xfrm>
            <a:off x="6958584" y="4782312"/>
            <a:ext cx="4507992" cy="365760"/>
          </a:xfrm>
          <a:prstGeom prst="rect">
            <a:avLst/>
          </a:prstGeom>
          <a:noFill/>
          <a:ln/>
        </p:spPr>
        <p:txBody>
          <a:bodyPr wrap="square" lIns="0" tIns="0" rIns="0" bIns="0" rtlCol="0" anchor="t"/>
          <a:lstStyle/>
          <a:p>
            <a:pPr indent="0" marL="0">
              <a:lnSpc>
                <a:spcPct val="106000"/>
              </a:lnSpc>
              <a:buNone/>
            </a:pPr>
            <a:r>
              <a:rPr lang="en-US" sz="2100" b="1" spc="-70" kern="0" dirty="0">
                <a:solidFill>
                  <a:srgbClr val="193F35"/>
                </a:solidFill>
                <a:latin typeface="Inter" pitchFamily="34" charset="0"/>
                <a:ea typeface="Inter" pitchFamily="34" charset="-122"/>
                <a:cs typeface="Inter" pitchFamily="34" charset="-120"/>
              </a:rPr>
              <a:t>What needs to happen next?</a:t>
            </a:r>
            <a:endParaRPr lang="en-US" sz="2100" dirty="0"/>
          </a:p>
        </p:txBody>
      </p:sp>
      <p:sp>
        <p:nvSpPr>
          <p:cNvPr id="26" name="Text 24"/>
          <p:cNvSpPr/>
          <p:nvPr/>
        </p:nvSpPr>
        <p:spPr>
          <a:xfrm>
            <a:off x="6976872" y="5257800"/>
            <a:ext cx="4507992" cy="512064"/>
          </a:xfrm>
          <a:prstGeom prst="rect">
            <a:avLst/>
          </a:prstGeom>
          <a:noFill/>
          <a:ln/>
        </p:spPr>
        <p:txBody>
          <a:bodyPr wrap="square" lIns="0" tIns="0" rIns="0" bIns="0" rtlCol="0" anchor="t"/>
          <a:lstStyle/>
          <a:p>
            <a:pPr indent="0" marL="0">
              <a:lnSpc>
                <a:spcPct val="106000"/>
              </a:lnSpc>
              <a:buNone/>
            </a:pPr>
            <a:r>
              <a:rPr lang="en-US" sz="1200" dirty="0">
                <a:solidFill>
                  <a:srgbClr val="68776D"/>
                </a:solidFill>
                <a:latin typeface="Inter" pitchFamily="34" charset="0"/>
                <a:ea typeface="Inter" pitchFamily="34" charset="-122"/>
                <a:cs typeface="Inter" pitchFamily="34" charset="-120"/>
              </a:rPr>
              <a:t>A recipe becomes useful only when shopping,</a:t>
            </a:r>
            <a:endParaRPr lang="en-US" sz="1200" dirty="0"/>
          </a:p>
          <a:p>
            <a:pPr indent="0" marL="0">
              <a:lnSpc>
                <a:spcPct val="106000"/>
              </a:lnSpc>
              <a:buNone/>
            </a:pPr>
            <a:r>
              <a:rPr lang="en-US" sz="1200" dirty="0">
                <a:solidFill>
                  <a:srgbClr val="68776D"/>
                </a:solidFill>
                <a:latin typeface="Inter" pitchFamily="34" charset="0"/>
                <a:ea typeface="Inter" pitchFamily="34" charset="-122"/>
                <a:cs typeface="Inter" pitchFamily="34" charset="-120"/>
              </a:rPr>
              <a:t>preparation and inventory stay connected.</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0"/>
        </a:solidFill>
      </p:bgPr>
    </p:bg>
    <p:spTree>
      <p:nvGrpSpPr>
        <p:cNvPr id="1" name=""/>
        <p:cNvGrpSpPr/>
        <p:nvPr/>
      </p:nvGrpSpPr>
      <p:grpSpPr>
        <a:xfrm>
          <a:off x="0" y="0"/>
          <a:ext cx="0" cy="0"/>
          <a:chOff x="0" y="0"/>
          <a:chExt cx="0" cy="0"/>
        </a:xfrm>
      </p:grpSpPr>
      <p:sp>
        <p:nvSpPr>
          <p:cNvPr id="2" name="Text 0"/>
          <p:cNvSpPr/>
          <p:nvPr/>
        </p:nvSpPr>
        <p:spPr>
          <a:xfrm>
            <a:off x="502920" y="320040"/>
            <a:ext cx="9144000" cy="182880"/>
          </a:xfrm>
          <a:prstGeom prst="rect">
            <a:avLst/>
          </a:prstGeom>
          <a:noFill/>
          <a:ln/>
        </p:spPr>
        <p:txBody>
          <a:bodyPr wrap="square" lIns="0" tIns="0" rIns="0" bIns="0" rtlCol="0" anchor="t"/>
          <a:lstStyle/>
          <a:p>
            <a:pPr indent="0" marL="0">
              <a:lnSpc>
                <a:spcPct val="106000"/>
              </a:lnSpc>
              <a:buNone/>
            </a:pPr>
            <a:r>
              <a:rPr lang="en-US" sz="850" b="1" spc="165" kern="0" dirty="0">
                <a:solidFill>
                  <a:srgbClr val="68776D"/>
                </a:solidFill>
                <a:latin typeface="Inter" pitchFamily="34" charset="0"/>
                <a:ea typeface="Inter" pitchFamily="34" charset="-122"/>
                <a:cs typeface="Inter" pitchFamily="34" charset="-120"/>
              </a:rPr>
              <a:t>LUNCHBOX  /  PRODUCT ARCHITECTURE</a:t>
            </a:r>
            <a:endParaRPr lang="en-US" sz="850" dirty="0"/>
          </a:p>
        </p:txBody>
      </p:sp>
      <p:sp>
        <p:nvSpPr>
          <p:cNvPr id="3" name="Text 1"/>
          <p:cNvSpPr/>
          <p:nvPr/>
        </p:nvSpPr>
        <p:spPr>
          <a:xfrm>
            <a:off x="502920" y="749808"/>
            <a:ext cx="11155680" cy="658368"/>
          </a:xfrm>
          <a:prstGeom prst="rect">
            <a:avLst/>
          </a:prstGeom>
          <a:noFill/>
          <a:ln/>
        </p:spPr>
        <p:txBody>
          <a:bodyPr wrap="square" lIns="0" tIns="0" rIns="0" bIns="0" rtlCol="0" anchor="t"/>
          <a:lstStyle/>
          <a:p>
            <a:pPr indent="0" marL="0">
              <a:lnSpc>
                <a:spcPct val="106000"/>
              </a:lnSpc>
              <a:buNone/>
            </a:pPr>
            <a:r>
              <a:rPr lang="en-US" sz="3100" b="1" spc="-125" kern="0" dirty="0">
                <a:solidFill>
                  <a:srgbClr val="193F35"/>
                </a:solidFill>
                <a:latin typeface="Inter" pitchFamily="34" charset="0"/>
                <a:ea typeface="Inter" pitchFamily="34" charset="-122"/>
                <a:cs typeface="Inter" pitchFamily="34" charset="-120"/>
              </a:rPr>
              <a:t>Three modules. One connected loop.</a:t>
            </a:r>
            <a:endParaRPr lang="en-US" sz="3100" dirty="0"/>
          </a:p>
        </p:txBody>
      </p:sp>
      <p:sp>
        <p:nvSpPr>
          <p:cNvPr id="4" name="Text 2"/>
          <p:cNvSpPr/>
          <p:nvPr/>
        </p:nvSpPr>
        <p:spPr>
          <a:xfrm>
            <a:off x="530352" y="1472184"/>
            <a:ext cx="10789920" cy="457200"/>
          </a:xfrm>
          <a:prstGeom prst="rect">
            <a:avLst/>
          </a:prstGeom>
          <a:noFill/>
          <a:ln/>
        </p:spPr>
        <p:txBody>
          <a:bodyPr wrap="square" lIns="0" tIns="0" rIns="0" bIns="0" rtlCol="0" anchor="t"/>
          <a:lstStyle/>
          <a:p>
            <a:pPr indent="0" marL="0">
              <a:lnSpc>
                <a:spcPct val="106000"/>
              </a:lnSpc>
              <a:buNone/>
            </a:pPr>
            <a:r>
              <a:rPr lang="en-US" sz="1200" dirty="0">
                <a:solidFill>
                  <a:srgbClr val="68776D"/>
                </a:solidFill>
                <a:latin typeface="Inter" pitchFamily="34" charset="0"/>
                <a:ea typeface="Inter" pitchFamily="34" charset="-122"/>
                <a:cs typeface="Inter" pitchFamily="34" charset="-120"/>
              </a:rPr>
              <a:t>The meal plan is a shared workspace across the modules—not a disconnected fourth database.</a:t>
            </a:r>
            <a:endParaRPr lang="en-US" sz="1200" dirty="0"/>
          </a:p>
        </p:txBody>
      </p:sp>
      <p:sp>
        <p:nvSpPr>
          <p:cNvPr id="5" name="Shape 3"/>
          <p:cNvSpPr/>
          <p:nvPr/>
        </p:nvSpPr>
        <p:spPr>
          <a:xfrm>
            <a:off x="502920" y="6455664"/>
            <a:ext cx="11183112" cy="0"/>
          </a:xfrm>
          <a:prstGeom prst="line">
            <a:avLst/>
          </a:prstGeom>
          <a:noFill/>
          <a:ln w="8890">
            <a:solidFill>
              <a:srgbClr val="E0E4D9"/>
            </a:solidFill>
            <a:prstDash val="solid"/>
          </a:ln>
        </p:spPr>
      </p:sp>
      <p:sp>
        <p:nvSpPr>
          <p:cNvPr id="6" name="Text 4"/>
          <p:cNvSpPr/>
          <p:nvPr/>
        </p:nvSpPr>
        <p:spPr>
          <a:xfrm>
            <a:off x="512064" y="6565392"/>
            <a:ext cx="6400800" cy="118872"/>
          </a:xfrm>
          <a:prstGeom prst="rect">
            <a:avLst/>
          </a:prstGeom>
          <a:noFill/>
          <a:ln/>
        </p:spPr>
        <p:txBody>
          <a:bodyPr wrap="square" lIns="0" tIns="0" rIns="0" bIns="0" rtlCol="0" anchor="t"/>
          <a:lstStyle/>
          <a:p>
            <a:pPr indent="0" marL="0">
              <a:lnSpc>
                <a:spcPct val="106000"/>
              </a:lnSpc>
              <a:buNone/>
            </a:pPr>
            <a:r>
              <a:rPr lang="en-US" sz="730" spc="90" kern="0" dirty="0">
                <a:solidFill>
                  <a:srgbClr val="68776D"/>
                </a:solidFill>
                <a:latin typeface="Inter" pitchFamily="34" charset="0"/>
                <a:ea typeface="Inter" pitchFamily="34" charset="-122"/>
                <a:cs typeface="Inter" pitchFamily="34" charset="-120"/>
              </a:rPr>
              <a:t>CONCEPT PORTFOLIO · SEPTEMBER 2026</a:t>
            </a:r>
            <a:endParaRPr lang="en-US" sz="730" dirty="0"/>
          </a:p>
        </p:txBody>
      </p:sp>
      <p:sp>
        <p:nvSpPr>
          <p:cNvPr id="7" name="Text 5"/>
          <p:cNvSpPr/>
          <p:nvPr/>
        </p:nvSpPr>
        <p:spPr>
          <a:xfrm>
            <a:off x="11155680" y="6537960"/>
            <a:ext cx="530352" cy="155448"/>
          </a:xfrm>
          <a:prstGeom prst="rect">
            <a:avLst/>
          </a:prstGeom>
          <a:noFill/>
          <a:ln/>
        </p:spPr>
        <p:txBody>
          <a:bodyPr wrap="square" lIns="0" tIns="0" rIns="0" bIns="0" rtlCol="0" anchor="t"/>
          <a:lstStyle/>
          <a:p>
            <a:pPr algn="r" indent="0" marL="0">
              <a:lnSpc>
                <a:spcPct val="106000"/>
              </a:lnSpc>
              <a:buNone/>
            </a:pPr>
            <a:r>
              <a:rPr lang="en-US" sz="900" b="1" dirty="0">
                <a:solidFill>
                  <a:srgbClr val="193F35"/>
                </a:solidFill>
                <a:latin typeface="Inter" pitchFamily="34" charset="0"/>
                <a:ea typeface="Inter" pitchFamily="34" charset="-122"/>
                <a:cs typeface="Inter" pitchFamily="34" charset="-120"/>
              </a:rPr>
              <a:t>03</a:t>
            </a:r>
            <a:endParaRPr lang="en-US" sz="900" dirty="0"/>
          </a:p>
        </p:txBody>
      </p:sp>
      <p:sp>
        <p:nvSpPr>
          <p:cNvPr id="8" name="Shape 6"/>
          <p:cNvSpPr/>
          <p:nvPr/>
        </p:nvSpPr>
        <p:spPr>
          <a:xfrm>
            <a:off x="548640" y="2148840"/>
            <a:ext cx="3401568" cy="2532888"/>
          </a:xfrm>
          <a:prstGeom prst="roundRect">
            <a:avLst>
              <a:gd name="adj" fmla="val 4332"/>
            </a:avLst>
          </a:prstGeom>
          <a:solidFill>
            <a:srgbClr val="EEF2E6"/>
          </a:solidFill>
          <a:ln w="12700">
            <a:solidFill>
              <a:srgbClr val="EEF2E6"/>
            </a:solidFill>
            <a:prstDash val="solid"/>
          </a:ln>
        </p:spPr>
      </p:sp>
      <p:sp>
        <p:nvSpPr>
          <p:cNvPr id="9" name="Text 7"/>
          <p:cNvSpPr/>
          <p:nvPr/>
        </p:nvSpPr>
        <p:spPr>
          <a:xfrm>
            <a:off x="768096" y="2395728"/>
            <a:ext cx="2926080" cy="182880"/>
          </a:xfrm>
          <a:prstGeom prst="rect">
            <a:avLst/>
          </a:prstGeom>
          <a:noFill/>
          <a:ln/>
        </p:spPr>
        <p:txBody>
          <a:bodyPr wrap="square" lIns="0" tIns="0" rIns="0" bIns="0" rtlCol="0" anchor="t"/>
          <a:lstStyle/>
          <a:p>
            <a:pPr indent="0" marL="0">
              <a:lnSpc>
                <a:spcPct val="106000"/>
              </a:lnSpc>
              <a:buNone/>
            </a:pPr>
            <a:r>
              <a:rPr lang="en-US" sz="850" b="1" spc="165" kern="0" dirty="0">
                <a:solidFill>
                  <a:srgbClr val="68776D"/>
                </a:solidFill>
                <a:latin typeface="Inter" pitchFamily="34" charset="0"/>
                <a:ea typeface="Inter" pitchFamily="34" charset="-122"/>
                <a:cs typeface="Inter" pitchFamily="34" charset="-120"/>
              </a:rPr>
              <a:t>01 / WHAT WE HAVE</a:t>
            </a:r>
            <a:endParaRPr lang="en-US" sz="850" dirty="0"/>
          </a:p>
        </p:txBody>
      </p:sp>
      <p:sp>
        <p:nvSpPr>
          <p:cNvPr id="10" name="Text 8"/>
          <p:cNvSpPr/>
          <p:nvPr/>
        </p:nvSpPr>
        <p:spPr>
          <a:xfrm>
            <a:off x="768096" y="2807208"/>
            <a:ext cx="2971800" cy="411480"/>
          </a:xfrm>
          <a:prstGeom prst="rect">
            <a:avLst/>
          </a:prstGeom>
          <a:noFill/>
          <a:ln/>
        </p:spPr>
        <p:txBody>
          <a:bodyPr wrap="square" lIns="0" tIns="0" rIns="0" bIns="0" rtlCol="0" anchor="t"/>
          <a:lstStyle/>
          <a:p>
            <a:pPr indent="0" marL="0">
              <a:lnSpc>
                <a:spcPct val="106000"/>
              </a:lnSpc>
              <a:buNone/>
            </a:pPr>
            <a:r>
              <a:rPr lang="en-US" sz="2600" b="1" spc="-80" kern="0" dirty="0">
                <a:solidFill>
                  <a:srgbClr val="193F35"/>
                </a:solidFill>
                <a:latin typeface="Inter" pitchFamily="34" charset="0"/>
                <a:ea typeface="Inter" pitchFamily="34" charset="-122"/>
                <a:cs typeface="Inter" pitchFamily="34" charset="-120"/>
              </a:rPr>
              <a:t>Pantry</a:t>
            </a:r>
            <a:endParaRPr lang="en-US" sz="2600" dirty="0"/>
          </a:p>
        </p:txBody>
      </p:sp>
      <p:sp>
        <p:nvSpPr>
          <p:cNvPr id="11" name="Text 9"/>
          <p:cNvSpPr/>
          <p:nvPr/>
        </p:nvSpPr>
        <p:spPr>
          <a:xfrm>
            <a:off x="777240" y="3493008"/>
            <a:ext cx="2926080" cy="941832"/>
          </a:xfrm>
          <a:prstGeom prst="rect">
            <a:avLst/>
          </a:prstGeom>
          <a:noFill/>
          <a:ln/>
        </p:spPr>
        <p:txBody>
          <a:bodyPr wrap="square" lIns="0" tIns="0" rIns="0" bIns="0" rtlCol="0" anchor="t"/>
          <a:lstStyle/>
          <a:p>
            <a:pPr indent="0" marL="0">
              <a:lnSpc>
                <a:spcPct val="130000"/>
              </a:lnSpc>
              <a:buNone/>
            </a:pPr>
            <a:r>
              <a:rPr lang="en-US" sz="1200" dirty="0">
                <a:solidFill>
                  <a:srgbClr val="193F35"/>
                </a:solidFill>
                <a:latin typeface="Inter" pitchFamily="34" charset="0"/>
                <a:ea typeface="Inter" pitchFamily="34" charset="-122"/>
                <a:cs typeface="Inter" pitchFamily="34" charset="-120"/>
              </a:rPr>
              <a:t>Ingredients and amounts</a:t>
            </a:r>
            <a:endParaRPr lang="en-US" sz="1200" dirty="0"/>
          </a:p>
          <a:p>
            <a:pPr indent="0" marL="0">
              <a:lnSpc>
                <a:spcPct val="130000"/>
              </a:lnSpc>
              <a:buNone/>
            </a:pPr>
            <a:r>
              <a:rPr lang="en-US" sz="1200" dirty="0">
                <a:solidFill>
                  <a:srgbClr val="193F35"/>
                </a:solidFill>
                <a:latin typeface="Inter" pitchFamily="34" charset="0"/>
                <a:ea typeface="Inter" pitchFamily="34" charset="-122"/>
                <a:cs typeface="Inter" pitchFamily="34" charset="-120"/>
              </a:rPr>
              <a:t>Storage and freshness reminders</a:t>
            </a:r>
            <a:endParaRPr lang="en-US" sz="1200" dirty="0"/>
          </a:p>
          <a:p>
            <a:pPr indent="0" marL="0">
              <a:lnSpc>
                <a:spcPct val="130000"/>
              </a:lnSpc>
              <a:buNone/>
            </a:pPr>
            <a:r>
              <a:rPr lang="en-US" sz="1200" dirty="0">
                <a:solidFill>
                  <a:srgbClr val="193F35"/>
                </a:solidFill>
                <a:latin typeface="Inter" pitchFamily="34" charset="0"/>
                <a:ea typeface="Inter" pitchFamily="34" charset="-122"/>
                <a:cs typeface="Inter" pitchFamily="34" charset="-120"/>
              </a:rPr>
              <a:t>Garden, farm-share and grocery inputs</a:t>
            </a:r>
            <a:endParaRPr lang="en-US" sz="1200" dirty="0"/>
          </a:p>
        </p:txBody>
      </p:sp>
      <p:sp>
        <p:nvSpPr>
          <p:cNvPr id="12" name="Shape 10"/>
          <p:cNvSpPr/>
          <p:nvPr/>
        </p:nvSpPr>
        <p:spPr>
          <a:xfrm>
            <a:off x="4389120" y="2148840"/>
            <a:ext cx="3401568" cy="2532888"/>
          </a:xfrm>
          <a:prstGeom prst="roundRect">
            <a:avLst>
              <a:gd name="adj" fmla="val 4332"/>
            </a:avLst>
          </a:prstGeom>
          <a:solidFill>
            <a:srgbClr val="DDECAB"/>
          </a:solidFill>
          <a:ln w="12700">
            <a:solidFill>
              <a:srgbClr val="DDECAB"/>
            </a:solidFill>
            <a:prstDash val="solid"/>
          </a:ln>
        </p:spPr>
      </p:sp>
      <p:sp>
        <p:nvSpPr>
          <p:cNvPr id="13" name="Text 11"/>
          <p:cNvSpPr/>
          <p:nvPr/>
        </p:nvSpPr>
        <p:spPr>
          <a:xfrm>
            <a:off x="4608576" y="2395728"/>
            <a:ext cx="2926080" cy="182880"/>
          </a:xfrm>
          <a:prstGeom prst="rect">
            <a:avLst/>
          </a:prstGeom>
          <a:noFill/>
          <a:ln/>
        </p:spPr>
        <p:txBody>
          <a:bodyPr wrap="square" lIns="0" tIns="0" rIns="0" bIns="0" rtlCol="0" anchor="t"/>
          <a:lstStyle/>
          <a:p>
            <a:pPr indent="0" marL="0">
              <a:lnSpc>
                <a:spcPct val="106000"/>
              </a:lnSpc>
              <a:buNone/>
            </a:pPr>
            <a:r>
              <a:rPr lang="en-US" sz="850" b="1" spc="165" kern="0" dirty="0">
                <a:solidFill>
                  <a:srgbClr val="68776D"/>
                </a:solidFill>
                <a:latin typeface="Inter" pitchFamily="34" charset="0"/>
                <a:ea typeface="Inter" pitchFamily="34" charset="-122"/>
                <a:cs typeface="Inter" pitchFamily="34" charset="-120"/>
              </a:rPr>
              <a:t>02 / WHAT WE COULD MAKE</a:t>
            </a:r>
            <a:endParaRPr lang="en-US" sz="850" dirty="0"/>
          </a:p>
        </p:txBody>
      </p:sp>
      <p:sp>
        <p:nvSpPr>
          <p:cNvPr id="14" name="Text 12"/>
          <p:cNvSpPr/>
          <p:nvPr/>
        </p:nvSpPr>
        <p:spPr>
          <a:xfrm>
            <a:off x="4608576" y="2807208"/>
            <a:ext cx="2971800" cy="411480"/>
          </a:xfrm>
          <a:prstGeom prst="rect">
            <a:avLst/>
          </a:prstGeom>
          <a:noFill/>
          <a:ln/>
        </p:spPr>
        <p:txBody>
          <a:bodyPr wrap="square" lIns="0" tIns="0" rIns="0" bIns="0" rtlCol="0" anchor="t"/>
          <a:lstStyle/>
          <a:p>
            <a:pPr indent="0" marL="0">
              <a:lnSpc>
                <a:spcPct val="106000"/>
              </a:lnSpc>
              <a:buNone/>
            </a:pPr>
            <a:r>
              <a:rPr lang="en-US" sz="2600" b="1" spc="-80" kern="0" dirty="0">
                <a:solidFill>
                  <a:srgbClr val="193F35"/>
                </a:solidFill>
                <a:latin typeface="Inter" pitchFamily="34" charset="0"/>
                <a:ea typeface="Inter" pitchFamily="34" charset="-122"/>
                <a:cs typeface="Inter" pitchFamily="34" charset="-120"/>
              </a:rPr>
              <a:t>Recipe engine</a:t>
            </a:r>
            <a:endParaRPr lang="en-US" sz="2600" dirty="0"/>
          </a:p>
        </p:txBody>
      </p:sp>
      <p:sp>
        <p:nvSpPr>
          <p:cNvPr id="15" name="Text 13"/>
          <p:cNvSpPr/>
          <p:nvPr/>
        </p:nvSpPr>
        <p:spPr>
          <a:xfrm>
            <a:off x="4617720" y="3493008"/>
            <a:ext cx="2926080" cy="941832"/>
          </a:xfrm>
          <a:prstGeom prst="rect">
            <a:avLst/>
          </a:prstGeom>
          <a:noFill/>
          <a:ln/>
        </p:spPr>
        <p:txBody>
          <a:bodyPr wrap="square" lIns="0" tIns="0" rIns="0" bIns="0" rtlCol="0" anchor="t"/>
          <a:lstStyle/>
          <a:p>
            <a:pPr indent="0" marL="0">
              <a:lnSpc>
                <a:spcPct val="130000"/>
              </a:lnSpc>
              <a:buNone/>
            </a:pPr>
            <a:r>
              <a:rPr lang="en-US" sz="1200" dirty="0">
                <a:solidFill>
                  <a:srgbClr val="193F35"/>
                </a:solidFill>
                <a:latin typeface="Inter" pitchFamily="34" charset="0"/>
                <a:ea typeface="Inter" pitchFamily="34" charset="-122"/>
                <a:cs typeface="Inter" pitchFamily="34" charset="-120"/>
              </a:rPr>
              <a:t>Generate, adapt and explain</a:t>
            </a:r>
            <a:endParaRPr lang="en-US" sz="1200" dirty="0"/>
          </a:p>
          <a:p>
            <a:pPr indent="0" marL="0">
              <a:lnSpc>
                <a:spcPct val="130000"/>
              </a:lnSpc>
              <a:buNone/>
            </a:pPr>
            <a:r>
              <a:rPr lang="en-US" sz="1200" dirty="0">
                <a:solidFill>
                  <a:srgbClr val="193F35"/>
                </a:solidFill>
                <a:latin typeface="Inter" pitchFamily="34" charset="0"/>
                <a:ea typeface="Inter" pitchFamily="34" charset="-122"/>
                <a:cs typeface="Inter" pitchFamily="34" charset="-120"/>
              </a:rPr>
              <a:t>Save favorites and import recipes</a:t>
            </a:r>
            <a:endParaRPr lang="en-US" sz="1200" dirty="0"/>
          </a:p>
          <a:p>
            <a:pPr indent="0" marL="0">
              <a:lnSpc>
                <a:spcPct val="130000"/>
              </a:lnSpc>
              <a:buNone/>
            </a:pPr>
            <a:r>
              <a:rPr lang="en-US" sz="1200" dirty="0">
                <a:solidFill>
                  <a:srgbClr val="193F35"/>
                </a:solidFill>
                <a:latin typeface="Inter" pitchFamily="34" charset="0"/>
                <a:ea typeface="Inter" pitchFamily="34" charset="-122"/>
                <a:cs typeface="Inter" pitchFamily="34" charset="-120"/>
              </a:rPr>
              <a:t>Match food, tools and preferences</a:t>
            </a:r>
            <a:endParaRPr lang="en-US" sz="1200" dirty="0"/>
          </a:p>
        </p:txBody>
      </p:sp>
      <p:sp>
        <p:nvSpPr>
          <p:cNvPr id="16" name="Shape 14"/>
          <p:cNvSpPr/>
          <p:nvPr/>
        </p:nvSpPr>
        <p:spPr>
          <a:xfrm>
            <a:off x="8229600" y="2148840"/>
            <a:ext cx="3401568" cy="2532888"/>
          </a:xfrm>
          <a:prstGeom prst="roundRect">
            <a:avLst>
              <a:gd name="adj" fmla="val 4332"/>
            </a:avLst>
          </a:prstGeom>
          <a:solidFill>
            <a:srgbClr val="FBE7DB"/>
          </a:solidFill>
          <a:ln w="12700">
            <a:solidFill>
              <a:srgbClr val="FBE7DB"/>
            </a:solidFill>
            <a:prstDash val="solid"/>
          </a:ln>
        </p:spPr>
      </p:sp>
      <p:sp>
        <p:nvSpPr>
          <p:cNvPr id="17" name="Text 15"/>
          <p:cNvSpPr/>
          <p:nvPr/>
        </p:nvSpPr>
        <p:spPr>
          <a:xfrm>
            <a:off x="8449056" y="2395728"/>
            <a:ext cx="2926080" cy="182880"/>
          </a:xfrm>
          <a:prstGeom prst="rect">
            <a:avLst/>
          </a:prstGeom>
          <a:noFill/>
          <a:ln/>
        </p:spPr>
        <p:txBody>
          <a:bodyPr wrap="square" lIns="0" tIns="0" rIns="0" bIns="0" rtlCol="0" anchor="t"/>
          <a:lstStyle/>
          <a:p>
            <a:pPr indent="0" marL="0">
              <a:lnSpc>
                <a:spcPct val="106000"/>
              </a:lnSpc>
              <a:buNone/>
            </a:pPr>
            <a:r>
              <a:rPr lang="en-US" sz="850" b="1" spc="165" kern="0" dirty="0">
                <a:solidFill>
                  <a:srgbClr val="68776D"/>
                </a:solidFill>
                <a:latin typeface="Inter" pitchFamily="34" charset="0"/>
                <a:ea typeface="Inter" pitchFamily="34" charset="-122"/>
                <a:cs typeface="Inter" pitchFamily="34" charset="-120"/>
              </a:rPr>
              <a:t>03 / WHAT WE STILL NEED</a:t>
            </a:r>
            <a:endParaRPr lang="en-US" sz="850" dirty="0"/>
          </a:p>
        </p:txBody>
      </p:sp>
      <p:sp>
        <p:nvSpPr>
          <p:cNvPr id="18" name="Text 16"/>
          <p:cNvSpPr/>
          <p:nvPr/>
        </p:nvSpPr>
        <p:spPr>
          <a:xfrm>
            <a:off x="8449056" y="2807208"/>
            <a:ext cx="2971800" cy="411480"/>
          </a:xfrm>
          <a:prstGeom prst="rect">
            <a:avLst/>
          </a:prstGeom>
          <a:noFill/>
          <a:ln/>
        </p:spPr>
        <p:txBody>
          <a:bodyPr wrap="square" lIns="0" tIns="0" rIns="0" bIns="0" rtlCol="0" anchor="t"/>
          <a:lstStyle/>
          <a:p>
            <a:pPr indent="0" marL="0">
              <a:lnSpc>
                <a:spcPct val="106000"/>
              </a:lnSpc>
              <a:buNone/>
            </a:pPr>
            <a:r>
              <a:rPr lang="en-US" sz="2600" b="1" spc="-80" kern="0" dirty="0">
                <a:solidFill>
                  <a:srgbClr val="193F35"/>
                </a:solidFill>
                <a:latin typeface="Inter" pitchFamily="34" charset="0"/>
                <a:ea typeface="Inter" pitchFamily="34" charset="-122"/>
                <a:cs typeface="Inter" pitchFamily="34" charset="-120"/>
              </a:rPr>
              <a:t>Grocery list</a:t>
            </a:r>
            <a:endParaRPr lang="en-US" sz="2600" dirty="0"/>
          </a:p>
        </p:txBody>
      </p:sp>
      <p:sp>
        <p:nvSpPr>
          <p:cNvPr id="19" name="Text 17"/>
          <p:cNvSpPr/>
          <p:nvPr/>
        </p:nvSpPr>
        <p:spPr>
          <a:xfrm>
            <a:off x="8458200" y="3493008"/>
            <a:ext cx="2926080" cy="941832"/>
          </a:xfrm>
          <a:prstGeom prst="rect">
            <a:avLst/>
          </a:prstGeom>
          <a:noFill/>
          <a:ln/>
        </p:spPr>
        <p:txBody>
          <a:bodyPr wrap="square" lIns="0" tIns="0" rIns="0" bIns="0" rtlCol="0" anchor="t"/>
          <a:lstStyle/>
          <a:p>
            <a:pPr indent="0" marL="0">
              <a:lnSpc>
                <a:spcPct val="130000"/>
              </a:lnSpc>
              <a:buNone/>
            </a:pPr>
            <a:r>
              <a:rPr lang="en-US" sz="1200" dirty="0">
                <a:solidFill>
                  <a:srgbClr val="193F35"/>
                </a:solidFill>
                <a:latin typeface="Inter" pitchFamily="34" charset="0"/>
                <a:ea typeface="Inter" pitchFamily="34" charset="-122"/>
                <a:cs typeface="Inter" pitchFamily="34" charset="-120"/>
              </a:rPr>
              <a:t>Merge missing ingredients</a:t>
            </a:r>
            <a:endParaRPr lang="en-US" sz="1200" dirty="0"/>
          </a:p>
          <a:p>
            <a:pPr indent="0" marL="0">
              <a:lnSpc>
                <a:spcPct val="130000"/>
              </a:lnSpc>
              <a:buNone/>
            </a:pPr>
            <a:r>
              <a:rPr lang="en-US" sz="1200" dirty="0">
                <a:solidFill>
                  <a:srgbClr val="193F35"/>
                </a:solidFill>
                <a:latin typeface="Inter" pitchFamily="34" charset="0"/>
                <a:ea typeface="Inter" pitchFamily="34" charset="-122"/>
                <a:cs typeface="Inter" pitchFamily="34" charset="-120"/>
              </a:rPr>
              <a:t>Check off and confirm purchases</a:t>
            </a:r>
            <a:endParaRPr lang="en-US" sz="1200" dirty="0"/>
          </a:p>
          <a:p>
            <a:pPr indent="0" marL="0">
              <a:lnSpc>
                <a:spcPct val="130000"/>
              </a:lnSpc>
              <a:buNone/>
            </a:pPr>
            <a:r>
              <a:rPr lang="en-US" sz="1200" dirty="0">
                <a:solidFill>
                  <a:srgbClr val="193F35"/>
                </a:solidFill>
                <a:latin typeface="Inter" pitchFamily="34" charset="0"/>
                <a:ea typeface="Inter" pitchFamily="34" charset="-122"/>
                <a:cs typeface="Inter" pitchFamily="34" charset="-120"/>
              </a:rPr>
              <a:t>Keep staples from running low</a:t>
            </a:r>
            <a:endParaRPr lang="en-US" sz="1200" dirty="0"/>
          </a:p>
        </p:txBody>
      </p:sp>
      <p:sp>
        <p:nvSpPr>
          <p:cNvPr id="20" name="Text 18"/>
          <p:cNvSpPr/>
          <p:nvPr/>
        </p:nvSpPr>
        <p:spPr>
          <a:xfrm>
            <a:off x="4005072" y="3127248"/>
            <a:ext cx="365760" cy="365760"/>
          </a:xfrm>
          <a:prstGeom prst="rect">
            <a:avLst/>
          </a:prstGeom>
          <a:noFill/>
          <a:ln/>
        </p:spPr>
        <p:txBody>
          <a:bodyPr wrap="square" lIns="0" tIns="0" rIns="0" bIns="0" rtlCol="0" anchor="t"/>
          <a:lstStyle/>
          <a:p>
            <a:pPr indent="0" marL="0">
              <a:lnSpc>
                <a:spcPct val="106000"/>
              </a:lnSpc>
              <a:buNone/>
            </a:pPr>
            <a:r>
              <a:rPr lang="en-US" sz="2300" dirty="0">
                <a:solidFill>
                  <a:srgbClr val="68776D"/>
                </a:solidFill>
                <a:latin typeface="Inter" pitchFamily="34" charset="0"/>
                <a:ea typeface="Inter" pitchFamily="34" charset="-122"/>
                <a:cs typeface="Inter" pitchFamily="34" charset="-120"/>
              </a:rPr>
              <a:t>→</a:t>
            </a:r>
            <a:endParaRPr lang="en-US" sz="2300" dirty="0"/>
          </a:p>
        </p:txBody>
      </p:sp>
      <p:sp>
        <p:nvSpPr>
          <p:cNvPr id="21" name="Text 19"/>
          <p:cNvSpPr/>
          <p:nvPr/>
        </p:nvSpPr>
        <p:spPr>
          <a:xfrm>
            <a:off x="7845552" y="3127248"/>
            <a:ext cx="365760" cy="365760"/>
          </a:xfrm>
          <a:prstGeom prst="rect">
            <a:avLst/>
          </a:prstGeom>
          <a:noFill/>
          <a:ln/>
        </p:spPr>
        <p:txBody>
          <a:bodyPr wrap="square" lIns="0" tIns="0" rIns="0" bIns="0" rtlCol="0" anchor="t"/>
          <a:lstStyle/>
          <a:p>
            <a:pPr indent="0" marL="0">
              <a:lnSpc>
                <a:spcPct val="106000"/>
              </a:lnSpc>
              <a:buNone/>
            </a:pPr>
            <a:r>
              <a:rPr lang="en-US" sz="2300" dirty="0">
                <a:solidFill>
                  <a:srgbClr val="68776D"/>
                </a:solidFill>
                <a:latin typeface="Inter" pitchFamily="34" charset="0"/>
                <a:ea typeface="Inter" pitchFamily="34" charset="-122"/>
                <a:cs typeface="Inter" pitchFamily="34" charset="-120"/>
              </a:rPr>
              <a:t>→</a:t>
            </a:r>
            <a:endParaRPr lang="en-US" sz="2300" dirty="0"/>
          </a:p>
        </p:txBody>
      </p:sp>
      <p:sp>
        <p:nvSpPr>
          <p:cNvPr id="22" name="Shape 20"/>
          <p:cNvSpPr/>
          <p:nvPr/>
        </p:nvSpPr>
        <p:spPr>
          <a:xfrm>
            <a:off x="548640" y="4992624"/>
            <a:ext cx="11091672" cy="804672"/>
          </a:xfrm>
          <a:prstGeom prst="roundRect">
            <a:avLst>
              <a:gd name="adj" fmla="val 14773"/>
            </a:avLst>
          </a:prstGeom>
          <a:solidFill>
            <a:srgbClr val="244D40"/>
          </a:solidFill>
          <a:ln w="12700">
            <a:solidFill>
              <a:srgbClr val="244D40"/>
            </a:solidFill>
            <a:prstDash val="solid"/>
          </a:ln>
        </p:spPr>
      </p:sp>
      <p:sp>
        <p:nvSpPr>
          <p:cNvPr id="23" name="Text 21"/>
          <p:cNvSpPr/>
          <p:nvPr/>
        </p:nvSpPr>
        <p:spPr>
          <a:xfrm>
            <a:off x="804672" y="5266944"/>
            <a:ext cx="1828800" cy="228600"/>
          </a:xfrm>
          <a:prstGeom prst="rect">
            <a:avLst/>
          </a:prstGeom>
          <a:noFill/>
          <a:ln/>
        </p:spPr>
        <p:txBody>
          <a:bodyPr wrap="square" lIns="0" tIns="0" rIns="0" bIns="0" rtlCol="0" anchor="t"/>
          <a:lstStyle/>
          <a:p>
            <a:pPr indent="0" marL="0">
              <a:lnSpc>
                <a:spcPct val="106000"/>
              </a:lnSpc>
              <a:buNone/>
            </a:pPr>
            <a:r>
              <a:rPr lang="en-US" sz="1200" b="1" spc="130" kern="0" dirty="0">
                <a:solidFill>
                  <a:srgbClr val="DDECAB"/>
                </a:solidFill>
                <a:latin typeface="Inter" pitchFamily="34" charset="0"/>
                <a:ea typeface="Inter" pitchFamily="34" charset="-122"/>
                <a:cs typeface="Inter" pitchFamily="34" charset="-120"/>
              </a:rPr>
              <a:t>MEAL PLAN</a:t>
            </a:r>
            <a:endParaRPr lang="en-US" sz="1200" dirty="0"/>
          </a:p>
        </p:txBody>
      </p:sp>
      <p:sp>
        <p:nvSpPr>
          <p:cNvPr id="24" name="Text 22"/>
          <p:cNvSpPr/>
          <p:nvPr/>
        </p:nvSpPr>
        <p:spPr>
          <a:xfrm>
            <a:off x="3072384" y="5239512"/>
            <a:ext cx="8183880" cy="292608"/>
          </a:xfrm>
          <a:prstGeom prst="rect">
            <a:avLst/>
          </a:prstGeom>
          <a:noFill/>
          <a:ln/>
        </p:spPr>
        <p:txBody>
          <a:bodyPr wrap="square" lIns="0" tIns="0" rIns="0" bIns="0" rtlCol="0" anchor="t"/>
          <a:lstStyle/>
          <a:p>
            <a:pPr indent="0" marL="0">
              <a:lnSpc>
                <a:spcPct val="106000"/>
              </a:lnSpc>
              <a:buNone/>
            </a:pPr>
            <a:r>
              <a:rPr lang="en-US" sz="1900" b="1" spc="-30" kern="0" dirty="0">
                <a:solidFill>
                  <a:srgbClr val="FFFEFA"/>
                </a:solidFill>
                <a:latin typeface="Inter" pitchFamily="34" charset="0"/>
                <a:ea typeface="Inter" pitchFamily="34" charset="-122"/>
                <a:cs typeface="Inter" pitchFamily="34" charset="-120"/>
              </a:rPr>
              <a:t>Choose  →  Reserve  →  Shop  →  Cook  →  Reconcile</a:t>
            </a:r>
            <a:endParaRPr lang="en-US" sz="1900" dirty="0"/>
          </a:p>
        </p:txBody>
      </p:sp>
      <p:sp>
        <p:nvSpPr>
          <p:cNvPr id="25" name="Text 23"/>
          <p:cNvSpPr/>
          <p:nvPr/>
        </p:nvSpPr>
        <p:spPr>
          <a:xfrm>
            <a:off x="603504" y="6062472"/>
            <a:ext cx="10972800" cy="210312"/>
          </a:xfrm>
          <a:prstGeom prst="rect">
            <a:avLst/>
          </a:prstGeom>
          <a:noFill/>
          <a:ln/>
        </p:spPr>
        <p:txBody>
          <a:bodyPr wrap="square" lIns="0" tIns="0" rIns="0" bIns="0" rtlCol="0" anchor="t"/>
          <a:lstStyle/>
          <a:p>
            <a:pPr indent="0" marL="0">
              <a:lnSpc>
                <a:spcPct val="106000"/>
              </a:lnSpc>
              <a:buNone/>
            </a:pPr>
            <a:r>
              <a:rPr lang="en-US" sz="1100" dirty="0">
                <a:solidFill>
                  <a:srgbClr val="68776D"/>
                </a:solidFill>
                <a:latin typeface="Inter" pitchFamily="34" charset="0"/>
                <a:ea typeface="Inter" pitchFamily="34" charset="-122"/>
                <a:cs typeface="Inter" pitchFamily="34" charset="-120"/>
              </a:rPr>
              <a:t>Shared foundation: household preferences, equipment, ingredient identities, quantities, and a reversible action history.</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0"/>
        </a:solidFill>
      </p:bgPr>
    </p:bg>
    <p:spTree>
      <p:nvGrpSpPr>
        <p:cNvPr id="1" name=""/>
        <p:cNvGrpSpPr/>
        <p:nvPr/>
      </p:nvGrpSpPr>
      <p:grpSpPr>
        <a:xfrm>
          <a:off x="0" y="0"/>
          <a:ext cx="0" cy="0"/>
          <a:chOff x="0" y="0"/>
          <a:chExt cx="0" cy="0"/>
        </a:xfrm>
      </p:grpSpPr>
      <p:sp>
        <p:nvSpPr>
          <p:cNvPr id="2" name="Text 0"/>
          <p:cNvSpPr/>
          <p:nvPr/>
        </p:nvSpPr>
        <p:spPr>
          <a:xfrm>
            <a:off x="502920" y="320040"/>
            <a:ext cx="9144000" cy="182880"/>
          </a:xfrm>
          <a:prstGeom prst="rect">
            <a:avLst/>
          </a:prstGeom>
          <a:noFill/>
          <a:ln/>
        </p:spPr>
        <p:txBody>
          <a:bodyPr wrap="square" lIns="0" tIns="0" rIns="0" bIns="0" rtlCol="0" anchor="t"/>
          <a:lstStyle/>
          <a:p>
            <a:pPr indent="0" marL="0">
              <a:lnSpc>
                <a:spcPct val="106000"/>
              </a:lnSpc>
              <a:buNone/>
            </a:pPr>
            <a:r>
              <a:rPr lang="en-US" sz="850" b="1" spc="165" kern="0" dirty="0">
                <a:solidFill>
                  <a:srgbClr val="68776D"/>
                </a:solidFill>
                <a:latin typeface="Inter" pitchFamily="34" charset="0"/>
                <a:ea typeface="Inter" pitchFamily="34" charset="-122"/>
                <a:cs typeface="Inter" pitchFamily="34" charset="-120"/>
              </a:rPr>
              <a:t>LUNCHBOX  /  THE CORE JOURNEY</a:t>
            </a:r>
            <a:endParaRPr lang="en-US" sz="850" dirty="0"/>
          </a:p>
        </p:txBody>
      </p:sp>
      <p:sp>
        <p:nvSpPr>
          <p:cNvPr id="3" name="Text 1"/>
          <p:cNvSpPr/>
          <p:nvPr/>
        </p:nvSpPr>
        <p:spPr>
          <a:xfrm>
            <a:off x="502920" y="749808"/>
            <a:ext cx="11155680" cy="658368"/>
          </a:xfrm>
          <a:prstGeom prst="rect">
            <a:avLst/>
          </a:prstGeom>
          <a:noFill/>
          <a:ln/>
        </p:spPr>
        <p:txBody>
          <a:bodyPr wrap="square" lIns="0" tIns="0" rIns="0" bIns="0" rtlCol="0" anchor="t"/>
          <a:lstStyle/>
          <a:p>
            <a:pPr indent="0" marL="0">
              <a:lnSpc>
                <a:spcPct val="106000"/>
              </a:lnSpc>
              <a:buNone/>
            </a:pPr>
            <a:r>
              <a:rPr lang="en-US" sz="3100" b="1" spc="-125" kern="0" dirty="0">
                <a:solidFill>
                  <a:srgbClr val="193F35"/>
                </a:solidFill>
                <a:latin typeface="Inter" pitchFamily="34" charset="0"/>
                <a:ea typeface="Inter" pitchFamily="34" charset="-122"/>
                <a:cs typeface="Inter" pitchFamily="34" charset="-120"/>
              </a:rPr>
              <a:t>From “What’s for dinner?” to a closed loop.</a:t>
            </a:r>
            <a:endParaRPr lang="en-US" sz="3100" dirty="0"/>
          </a:p>
        </p:txBody>
      </p:sp>
      <p:sp>
        <p:nvSpPr>
          <p:cNvPr id="4" name="Text 2"/>
          <p:cNvSpPr/>
          <p:nvPr/>
        </p:nvSpPr>
        <p:spPr>
          <a:xfrm>
            <a:off x="530352" y="1472184"/>
            <a:ext cx="10789920" cy="457200"/>
          </a:xfrm>
          <a:prstGeom prst="rect">
            <a:avLst/>
          </a:prstGeom>
          <a:noFill/>
          <a:ln/>
        </p:spPr>
        <p:txBody>
          <a:bodyPr wrap="square" lIns="0" tIns="0" rIns="0" bIns="0" rtlCol="0" anchor="t"/>
          <a:lstStyle/>
          <a:p>
            <a:pPr indent="0" marL="0">
              <a:lnSpc>
                <a:spcPct val="106000"/>
              </a:lnSpc>
              <a:buNone/>
            </a:pPr>
            <a:r>
              <a:rPr lang="en-US" sz="1200" dirty="0">
                <a:solidFill>
                  <a:srgbClr val="68776D"/>
                </a:solidFill>
                <a:latin typeface="Inter" pitchFamily="34" charset="0"/>
                <a:ea typeface="Inter" pitchFamily="34" charset="-122"/>
                <a:cs typeface="Inter" pitchFamily="34" charset="-120"/>
              </a:rPr>
              <a:t>A concrete example: tomatoes from the garden, dinner for two, one missing ingredient.</a:t>
            </a:r>
            <a:endParaRPr lang="en-US" sz="1200" dirty="0"/>
          </a:p>
        </p:txBody>
      </p:sp>
      <p:sp>
        <p:nvSpPr>
          <p:cNvPr id="5" name="Shape 3"/>
          <p:cNvSpPr/>
          <p:nvPr/>
        </p:nvSpPr>
        <p:spPr>
          <a:xfrm>
            <a:off x="502920" y="6455664"/>
            <a:ext cx="11183112" cy="0"/>
          </a:xfrm>
          <a:prstGeom prst="line">
            <a:avLst/>
          </a:prstGeom>
          <a:noFill/>
          <a:ln w="8890">
            <a:solidFill>
              <a:srgbClr val="E0E4D9"/>
            </a:solidFill>
            <a:prstDash val="solid"/>
          </a:ln>
        </p:spPr>
      </p:sp>
      <p:sp>
        <p:nvSpPr>
          <p:cNvPr id="6" name="Text 4"/>
          <p:cNvSpPr/>
          <p:nvPr/>
        </p:nvSpPr>
        <p:spPr>
          <a:xfrm>
            <a:off x="512064" y="6565392"/>
            <a:ext cx="6400800" cy="118872"/>
          </a:xfrm>
          <a:prstGeom prst="rect">
            <a:avLst/>
          </a:prstGeom>
          <a:noFill/>
          <a:ln/>
        </p:spPr>
        <p:txBody>
          <a:bodyPr wrap="square" lIns="0" tIns="0" rIns="0" bIns="0" rtlCol="0" anchor="t"/>
          <a:lstStyle/>
          <a:p>
            <a:pPr indent="0" marL="0">
              <a:lnSpc>
                <a:spcPct val="106000"/>
              </a:lnSpc>
              <a:buNone/>
            </a:pPr>
            <a:r>
              <a:rPr lang="en-US" sz="730" spc="90" kern="0" dirty="0">
                <a:solidFill>
                  <a:srgbClr val="68776D"/>
                </a:solidFill>
                <a:latin typeface="Inter" pitchFamily="34" charset="0"/>
                <a:ea typeface="Inter" pitchFamily="34" charset="-122"/>
                <a:cs typeface="Inter" pitchFamily="34" charset="-120"/>
              </a:rPr>
              <a:t>CONCEPT PORTFOLIO · SEPTEMBER 2026</a:t>
            </a:r>
            <a:endParaRPr lang="en-US" sz="730" dirty="0"/>
          </a:p>
        </p:txBody>
      </p:sp>
      <p:sp>
        <p:nvSpPr>
          <p:cNvPr id="7" name="Text 5"/>
          <p:cNvSpPr/>
          <p:nvPr/>
        </p:nvSpPr>
        <p:spPr>
          <a:xfrm>
            <a:off x="11155680" y="6537960"/>
            <a:ext cx="530352" cy="155448"/>
          </a:xfrm>
          <a:prstGeom prst="rect">
            <a:avLst/>
          </a:prstGeom>
          <a:noFill/>
          <a:ln/>
        </p:spPr>
        <p:txBody>
          <a:bodyPr wrap="square" lIns="0" tIns="0" rIns="0" bIns="0" rtlCol="0" anchor="t"/>
          <a:lstStyle/>
          <a:p>
            <a:pPr algn="r" indent="0" marL="0">
              <a:lnSpc>
                <a:spcPct val="106000"/>
              </a:lnSpc>
              <a:buNone/>
            </a:pPr>
            <a:r>
              <a:rPr lang="en-US" sz="900" b="1" dirty="0">
                <a:solidFill>
                  <a:srgbClr val="193F35"/>
                </a:solidFill>
                <a:latin typeface="Inter" pitchFamily="34" charset="0"/>
                <a:ea typeface="Inter" pitchFamily="34" charset="-122"/>
                <a:cs typeface="Inter" pitchFamily="34" charset="-120"/>
              </a:rPr>
              <a:t>04</a:t>
            </a:r>
            <a:endParaRPr lang="en-US" sz="900" dirty="0"/>
          </a:p>
        </p:txBody>
      </p:sp>
      <p:sp>
        <p:nvSpPr>
          <p:cNvPr id="8" name="Shape 6"/>
          <p:cNvSpPr/>
          <p:nvPr/>
        </p:nvSpPr>
        <p:spPr>
          <a:xfrm>
            <a:off x="594360" y="2075688"/>
            <a:ext cx="3273552" cy="1764792"/>
          </a:xfrm>
          <a:prstGeom prst="roundRect">
            <a:avLst>
              <a:gd name="adj" fmla="val 6218"/>
            </a:avLst>
          </a:prstGeom>
          <a:solidFill>
            <a:srgbClr val="EEF2E6"/>
          </a:solidFill>
          <a:ln w="8890">
            <a:solidFill>
              <a:srgbClr val="E0E4D9"/>
            </a:solidFill>
            <a:prstDash val="solid"/>
          </a:ln>
        </p:spPr>
      </p:sp>
      <p:sp>
        <p:nvSpPr>
          <p:cNvPr id="9" name="Text 7"/>
          <p:cNvSpPr/>
          <p:nvPr/>
        </p:nvSpPr>
        <p:spPr>
          <a:xfrm>
            <a:off x="786384" y="2258568"/>
            <a:ext cx="2834640" cy="182880"/>
          </a:xfrm>
          <a:prstGeom prst="rect">
            <a:avLst/>
          </a:prstGeom>
          <a:noFill/>
          <a:ln/>
        </p:spPr>
        <p:txBody>
          <a:bodyPr wrap="square" lIns="0" tIns="0" rIns="0" bIns="0" rtlCol="0" anchor="t"/>
          <a:lstStyle/>
          <a:p>
            <a:pPr indent="0" marL="0">
              <a:lnSpc>
                <a:spcPct val="106000"/>
              </a:lnSpc>
              <a:buNone/>
            </a:pPr>
            <a:r>
              <a:rPr lang="en-US" sz="850" b="1" spc="165" kern="0" dirty="0">
                <a:solidFill>
                  <a:srgbClr val="68776D"/>
                </a:solidFill>
                <a:latin typeface="Inter" pitchFamily="34" charset="0"/>
                <a:ea typeface="Inter" pitchFamily="34" charset="-122"/>
                <a:cs typeface="Inter" pitchFamily="34" charset="-120"/>
              </a:rPr>
              <a:t>PANTRY</a:t>
            </a:r>
            <a:endParaRPr lang="en-US" sz="850" dirty="0"/>
          </a:p>
        </p:txBody>
      </p:sp>
      <p:sp>
        <p:nvSpPr>
          <p:cNvPr id="10" name="Text 8"/>
          <p:cNvSpPr/>
          <p:nvPr/>
        </p:nvSpPr>
        <p:spPr>
          <a:xfrm>
            <a:off x="3300984" y="2221992"/>
            <a:ext cx="384048" cy="365760"/>
          </a:xfrm>
          <a:prstGeom prst="rect">
            <a:avLst/>
          </a:prstGeom>
          <a:noFill/>
          <a:ln/>
        </p:spPr>
        <p:txBody>
          <a:bodyPr wrap="square" lIns="0" tIns="0" rIns="0" bIns="0" rtlCol="0" anchor="t"/>
          <a:lstStyle/>
          <a:p>
            <a:pPr indent="0" marL="0">
              <a:lnSpc>
                <a:spcPct val="106000"/>
              </a:lnSpc>
              <a:buNone/>
            </a:pPr>
            <a:r>
              <a:rPr lang="en-US" sz="1900" b="1" dirty="0">
                <a:solidFill>
                  <a:srgbClr val="68776D"/>
                </a:solidFill>
                <a:latin typeface="Inter" pitchFamily="34" charset="0"/>
                <a:ea typeface="Inter" pitchFamily="34" charset="-122"/>
                <a:cs typeface="Inter" pitchFamily="34" charset="-120"/>
              </a:rPr>
              <a:t>01</a:t>
            </a:r>
            <a:endParaRPr lang="en-US" sz="1900" dirty="0"/>
          </a:p>
        </p:txBody>
      </p:sp>
      <p:sp>
        <p:nvSpPr>
          <p:cNvPr id="11" name="Text 9"/>
          <p:cNvSpPr/>
          <p:nvPr/>
        </p:nvSpPr>
        <p:spPr>
          <a:xfrm>
            <a:off x="786384" y="2688336"/>
            <a:ext cx="2880360" cy="402336"/>
          </a:xfrm>
          <a:prstGeom prst="rect">
            <a:avLst/>
          </a:prstGeom>
          <a:noFill/>
          <a:ln/>
        </p:spPr>
        <p:txBody>
          <a:bodyPr wrap="square" lIns="0" tIns="0" rIns="0" bIns="0" rtlCol="0" anchor="t"/>
          <a:lstStyle/>
          <a:p>
            <a:pPr indent="0" marL="0">
              <a:lnSpc>
                <a:spcPct val="106000"/>
              </a:lnSpc>
              <a:buNone/>
            </a:pPr>
            <a:r>
              <a:rPr lang="en-US" sz="1750" b="1" spc="-50" kern="0" dirty="0">
                <a:solidFill>
                  <a:srgbClr val="193F35"/>
                </a:solidFill>
                <a:latin typeface="Inter" pitchFamily="34" charset="0"/>
                <a:ea typeface="Inter" pitchFamily="34" charset="-122"/>
                <a:cs typeface="Inter" pitchFamily="34" charset="-120"/>
              </a:rPr>
              <a:t>Bring food in</a:t>
            </a:r>
            <a:endParaRPr lang="en-US" sz="1750" dirty="0"/>
          </a:p>
        </p:txBody>
      </p:sp>
      <p:sp>
        <p:nvSpPr>
          <p:cNvPr id="12" name="Text 10"/>
          <p:cNvSpPr/>
          <p:nvPr/>
        </p:nvSpPr>
        <p:spPr>
          <a:xfrm>
            <a:off x="786384" y="3209544"/>
            <a:ext cx="2880360" cy="457200"/>
          </a:xfrm>
          <a:prstGeom prst="rect">
            <a:avLst/>
          </a:prstGeom>
          <a:noFill/>
          <a:ln/>
        </p:spPr>
        <p:txBody>
          <a:bodyPr wrap="square" lIns="0" tIns="0" rIns="0" bIns="0" rtlCol="0" anchor="t"/>
          <a:lstStyle/>
          <a:p>
            <a:pPr indent="0" marL="0">
              <a:lnSpc>
                <a:spcPct val="106000"/>
              </a:lnSpc>
              <a:buNone/>
            </a:pPr>
            <a:r>
              <a:rPr lang="en-US" sz="1120" dirty="0">
                <a:solidFill>
                  <a:srgbClr val="68776D"/>
                </a:solidFill>
                <a:latin typeface="Inter" pitchFamily="34" charset="0"/>
                <a:ea typeface="Inter" pitchFamily="34" charset="-122"/>
                <a:cs typeface="Inter" pitchFamily="34" charset="-120"/>
              </a:rPr>
              <a:t>Add 800 g of garden tomatoes.</a:t>
            </a:r>
            <a:endParaRPr lang="en-US" sz="1120" dirty="0"/>
          </a:p>
          <a:p>
            <a:pPr indent="0" marL="0">
              <a:lnSpc>
                <a:spcPct val="106000"/>
              </a:lnSpc>
              <a:buNone/>
            </a:pPr>
            <a:r>
              <a:rPr lang="en-US" sz="1120" dirty="0">
                <a:solidFill>
                  <a:srgbClr val="68776D"/>
                </a:solidFill>
                <a:latin typeface="Inter" pitchFamily="34" charset="0"/>
                <a:ea typeface="Inter" pitchFamily="34" charset="-122"/>
                <a:cs typeface="Inter" pitchFamily="34" charset="-120"/>
              </a:rPr>
              <a:t>Mark them “use soon.”</a:t>
            </a:r>
            <a:endParaRPr lang="en-US" sz="1120" dirty="0"/>
          </a:p>
        </p:txBody>
      </p:sp>
      <p:sp>
        <p:nvSpPr>
          <p:cNvPr id="13" name="Shape 11"/>
          <p:cNvSpPr/>
          <p:nvPr/>
        </p:nvSpPr>
        <p:spPr>
          <a:xfrm>
            <a:off x="4462272" y="2075688"/>
            <a:ext cx="3273552" cy="1764792"/>
          </a:xfrm>
          <a:prstGeom prst="roundRect">
            <a:avLst>
              <a:gd name="adj" fmla="val 6218"/>
            </a:avLst>
          </a:prstGeom>
          <a:solidFill>
            <a:srgbClr val="DDECAB"/>
          </a:solidFill>
          <a:ln w="8890">
            <a:solidFill>
              <a:srgbClr val="E0E4D9"/>
            </a:solidFill>
            <a:prstDash val="solid"/>
          </a:ln>
        </p:spPr>
      </p:sp>
      <p:sp>
        <p:nvSpPr>
          <p:cNvPr id="14" name="Text 12"/>
          <p:cNvSpPr/>
          <p:nvPr/>
        </p:nvSpPr>
        <p:spPr>
          <a:xfrm>
            <a:off x="4654296" y="2258568"/>
            <a:ext cx="2834640" cy="182880"/>
          </a:xfrm>
          <a:prstGeom prst="rect">
            <a:avLst/>
          </a:prstGeom>
          <a:noFill/>
          <a:ln/>
        </p:spPr>
        <p:txBody>
          <a:bodyPr wrap="square" lIns="0" tIns="0" rIns="0" bIns="0" rtlCol="0" anchor="t"/>
          <a:lstStyle/>
          <a:p>
            <a:pPr indent="0" marL="0">
              <a:lnSpc>
                <a:spcPct val="106000"/>
              </a:lnSpc>
              <a:buNone/>
            </a:pPr>
            <a:r>
              <a:rPr lang="en-US" sz="850" b="1" spc="165" kern="0" dirty="0">
                <a:solidFill>
                  <a:srgbClr val="68776D"/>
                </a:solidFill>
                <a:latin typeface="Inter" pitchFamily="34" charset="0"/>
                <a:ea typeface="Inter" pitchFamily="34" charset="-122"/>
                <a:cs typeface="Inter" pitchFamily="34" charset="-120"/>
              </a:rPr>
              <a:t>RECIPES</a:t>
            </a:r>
            <a:endParaRPr lang="en-US" sz="850" dirty="0"/>
          </a:p>
        </p:txBody>
      </p:sp>
      <p:sp>
        <p:nvSpPr>
          <p:cNvPr id="15" name="Text 13"/>
          <p:cNvSpPr/>
          <p:nvPr/>
        </p:nvSpPr>
        <p:spPr>
          <a:xfrm>
            <a:off x="7168896" y="2221992"/>
            <a:ext cx="384048" cy="365760"/>
          </a:xfrm>
          <a:prstGeom prst="rect">
            <a:avLst/>
          </a:prstGeom>
          <a:noFill/>
          <a:ln/>
        </p:spPr>
        <p:txBody>
          <a:bodyPr wrap="square" lIns="0" tIns="0" rIns="0" bIns="0" rtlCol="0" anchor="t"/>
          <a:lstStyle/>
          <a:p>
            <a:pPr indent="0" marL="0">
              <a:lnSpc>
                <a:spcPct val="106000"/>
              </a:lnSpc>
              <a:buNone/>
            </a:pPr>
            <a:r>
              <a:rPr lang="en-US" sz="1900" b="1" dirty="0">
                <a:solidFill>
                  <a:srgbClr val="68776D"/>
                </a:solidFill>
                <a:latin typeface="Inter" pitchFamily="34" charset="0"/>
                <a:ea typeface="Inter" pitchFamily="34" charset="-122"/>
                <a:cs typeface="Inter" pitchFamily="34" charset="-120"/>
              </a:rPr>
              <a:t>02</a:t>
            </a:r>
            <a:endParaRPr lang="en-US" sz="1900" dirty="0"/>
          </a:p>
        </p:txBody>
      </p:sp>
      <p:sp>
        <p:nvSpPr>
          <p:cNvPr id="16" name="Text 14"/>
          <p:cNvSpPr/>
          <p:nvPr/>
        </p:nvSpPr>
        <p:spPr>
          <a:xfrm>
            <a:off x="4654296" y="2688336"/>
            <a:ext cx="2880360" cy="402336"/>
          </a:xfrm>
          <a:prstGeom prst="rect">
            <a:avLst/>
          </a:prstGeom>
          <a:noFill/>
          <a:ln/>
        </p:spPr>
        <p:txBody>
          <a:bodyPr wrap="square" lIns="0" tIns="0" rIns="0" bIns="0" rtlCol="0" anchor="t"/>
          <a:lstStyle/>
          <a:p>
            <a:pPr indent="0" marL="0">
              <a:lnSpc>
                <a:spcPct val="106000"/>
              </a:lnSpc>
              <a:buNone/>
            </a:pPr>
            <a:r>
              <a:rPr lang="en-US" sz="1750" b="1" spc="-50" kern="0" dirty="0">
                <a:solidFill>
                  <a:srgbClr val="193F35"/>
                </a:solidFill>
                <a:latin typeface="Inter" pitchFamily="34" charset="0"/>
                <a:ea typeface="Inter" pitchFamily="34" charset="-122"/>
                <a:cs typeface="Inter" pitchFamily="34" charset="-120"/>
              </a:rPr>
              <a:t>Find a good fit</a:t>
            </a:r>
            <a:endParaRPr lang="en-US" sz="1750" dirty="0"/>
          </a:p>
        </p:txBody>
      </p:sp>
      <p:sp>
        <p:nvSpPr>
          <p:cNvPr id="17" name="Text 15"/>
          <p:cNvSpPr/>
          <p:nvPr/>
        </p:nvSpPr>
        <p:spPr>
          <a:xfrm>
            <a:off x="4654296" y="3209544"/>
            <a:ext cx="2880360" cy="457200"/>
          </a:xfrm>
          <a:prstGeom prst="rect">
            <a:avLst/>
          </a:prstGeom>
          <a:noFill/>
          <a:ln/>
        </p:spPr>
        <p:txBody>
          <a:bodyPr wrap="square" lIns="0" tIns="0" rIns="0" bIns="0" rtlCol="0" anchor="t"/>
          <a:lstStyle/>
          <a:p>
            <a:pPr indent="0" marL="0">
              <a:lnSpc>
                <a:spcPct val="106000"/>
              </a:lnSpc>
              <a:buNone/>
            </a:pPr>
            <a:r>
              <a:rPr lang="en-US" sz="1120" dirty="0">
                <a:solidFill>
                  <a:srgbClr val="68776D"/>
                </a:solidFill>
                <a:latin typeface="Inter" pitchFamily="34" charset="0"/>
                <a:ea typeface="Inter" pitchFamily="34" charset="-122"/>
                <a:cs typeface="Inter" pitchFamily="34" charset="-120"/>
              </a:rPr>
              <a:t>Ask for an easy dinner.</a:t>
            </a:r>
            <a:endParaRPr lang="en-US" sz="1120" dirty="0"/>
          </a:p>
          <a:p>
            <a:pPr indent="0" marL="0">
              <a:lnSpc>
                <a:spcPct val="106000"/>
              </a:lnSpc>
              <a:buNone/>
            </a:pPr>
            <a:r>
              <a:rPr lang="en-US" sz="1120" dirty="0">
                <a:solidFill>
                  <a:srgbClr val="68776D"/>
                </a:solidFill>
                <a:latin typeface="Inter" pitchFamily="34" charset="0"/>
                <a:ea typeface="Inter" pitchFamily="34" charset="-122"/>
                <a:cs typeface="Inter" pitchFamily="34" charset="-120"/>
              </a:rPr>
              <a:t>See a skillet recipe and why it fits.</a:t>
            </a:r>
            <a:endParaRPr lang="en-US" sz="1120" dirty="0"/>
          </a:p>
        </p:txBody>
      </p:sp>
      <p:sp>
        <p:nvSpPr>
          <p:cNvPr id="18" name="Shape 16"/>
          <p:cNvSpPr/>
          <p:nvPr/>
        </p:nvSpPr>
        <p:spPr>
          <a:xfrm>
            <a:off x="8321040" y="2075688"/>
            <a:ext cx="3273552" cy="1764792"/>
          </a:xfrm>
          <a:prstGeom prst="roundRect">
            <a:avLst>
              <a:gd name="adj" fmla="val 6218"/>
            </a:avLst>
          </a:prstGeom>
          <a:solidFill>
            <a:srgbClr val="FFFEFA"/>
          </a:solidFill>
          <a:ln w="8890">
            <a:solidFill>
              <a:srgbClr val="E0E4D9"/>
            </a:solidFill>
            <a:prstDash val="solid"/>
          </a:ln>
        </p:spPr>
      </p:sp>
      <p:sp>
        <p:nvSpPr>
          <p:cNvPr id="19" name="Text 17"/>
          <p:cNvSpPr/>
          <p:nvPr/>
        </p:nvSpPr>
        <p:spPr>
          <a:xfrm>
            <a:off x="8513064" y="2258568"/>
            <a:ext cx="2834640" cy="182880"/>
          </a:xfrm>
          <a:prstGeom prst="rect">
            <a:avLst/>
          </a:prstGeom>
          <a:noFill/>
          <a:ln/>
        </p:spPr>
        <p:txBody>
          <a:bodyPr wrap="square" lIns="0" tIns="0" rIns="0" bIns="0" rtlCol="0" anchor="t"/>
          <a:lstStyle/>
          <a:p>
            <a:pPr indent="0" marL="0">
              <a:lnSpc>
                <a:spcPct val="106000"/>
              </a:lnSpc>
              <a:buNone/>
            </a:pPr>
            <a:r>
              <a:rPr lang="en-US" sz="850" b="1" spc="165" kern="0" dirty="0">
                <a:solidFill>
                  <a:srgbClr val="68776D"/>
                </a:solidFill>
                <a:latin typeface="Inter" pitchFamily="34" charset="0"/>
                <a:ea typeface="Inter" pitchFamily="34" charset="-122"/>
                <a:cs typeface="Inter" pitchFamily="34" charset="-120"/>
              </a:rPr>
              <a:t>MEAL PLAN</a:t>
            </a:r>
            <a:endParaRPr lang="en-US" sz="850" dirty="0"/>
          </a:p>
        </p:txBody>
      </p:sp>
      <p:sp>
        <p:nvSpPr>
          <p:cNvPr id="20" name="Text 18"/>
          <p:cNvSpPr/>
          <p:nvPr/>
        </p:nvSpPr>
        <p:spPr>
          <a:xfrm>
            <a:off x="11027664" y="2221992"/>
            <a:ext cx="384048" cy="365760"/>
          </a:xfrm>
          <a:prstGeom prst="rect">
            <a:avLst/>
          </a:prstGeom>
          <a:noFill/>
          <a:ln/>
        </p:spPr>
        <p:txBody>
          <a:bodyPr wrap="square" lIns="0" tIns="0" rIns="0" bIns="0" rtlCol="0" anchor="t"/>
          <a:lstStyle/>
          <a:p>
            <a:pPr indent="0" marL="0">
              <a:lnSpc>
                <a:spcPct val="106000"/>
              </a:lnSpc>
              <a:buNone/>
            </a:pPr>
            <a:r>
              <a:rPr lang="en-US" sz="1900" b="1" dirty="0">
                <a:solidFill>
                  <a:srgbClr val="68776D"/>
                </a:solidFill>
                <a:latin typeface="Inter" pitchFamily="34" charset="0"/>
                <a:ea typeface="Inter" pitchFamily="34" charset="-122"/>
                <a:cs typeface="Inter" pitchFamily="34" charset="-120"/>
              </a:rPr>
              <a:t>03</a:t>
            </a:r>
            <a:endParaRPr lang="en-US" sz="1900" dirty="0"/>
          </a:p>
        </p:txBody>
      </p:sp>
      <p:sp>
        <p:nvSpPr>
          <p:cNvPr id="21" name="Text 19"/>
          <p:cNvSpPr/>
          <p:nvPr/>
        </p:nvSpPr>
        <p:spPr>
          <a:xfrm>
            <a:off x="8513064" y="2688336"/>
            <a:ext cx="2880360" cy="402336"/>
          </a:xfrm>
          <a:prstGeom prst="rect">
            <a:avLst/>
          </a:prstGeom>
          <a:noFill/>
          <a:ln/>
        </p:spPr>
        <p:txBody>
          <a:bodyPr wrap="square" lIns="0" tIns="0" rIns="0" bIns="0" rtlCol="0" anchor="t"/>
          <a:lstStyle/>
          <a:p>
            <a:pPr indent="0" marL="0">
              <a:lnSpc>
                <a:spcPct val="106000"/>
              </a:lnSpc>
              <a:buNone/>
            </a:pPr>
            <a:r>
              <a:rPr lang="en-US" sz="1750" b="1" spc="-50" kern="0" dirty="0">
                <a:solidFill>
                  <a:srgbClr val="193F35"/>
                </a:solidFill>
                <a:latin typeface="Inter" pitchFamily="34" charset="0"/>
                <a:ea typeface="Inter" pitchFamily="34" charset="-122"/>
                <a:cs typeface="Inter" pitchFamily="34" charset="-120"/>
              </a:rPr>
              <a:t>Make a plan</a:t>
            </a:r>
            <a:endParaRPr lang="en-US" sz="1750" dirty="0"/>
          </a:p>
        </p:txBody>
      </p:sp>
      <p:sp>
        <p:nvSpPr>
          <p:cNvPr id="22" name="Text 20"/>
          <p:cNvSpPr/>
          <p:nvPr/>
        </p:nvSpPr>
        <p:spPr>
          <a:xfrm>
            <a:off x="8513064" y="3209544"/>
            <a:ext cx="2880360" cy="457200"/>
          </a:xfrm>
          <a:prstGeom prst="rect">
            <a:avLst/>
          </a:prstGeom>
          <a:noFill/>
          <a:ln/>
        </p:spPr>
        <p:txBody>
          <a:bodyPr wrap="square" lIns="0" tIns="0" rIns="0" bIns="0" rtlCol="0" anchor="t"/>
          <a:lstStyle/>
          <a:p>
            <a:pPr indent="0" marL="0">
              <a:lnSpc>
                <a:spcPct val="106000"/>
              </a:lnSpc>
              <a:buNone/>
            </a:pPr>
            <a:r>
              <a:rPr lang="en-US" sz="1120" dirty="0">
                <a:solidFill>
                  <a:srgbClr val="68776D"/>
                </a:solidFill>
                <a:latin typeface="Inter" pitchFamily="34" charset="0"/>
                <a:ea typeface="Inter" pitchFamily="34" charset="-122"/>
                <a:cs typeface="Inter" pitchFamily="34" charset="-120"/>
              </a:rPr>
              <a:t>Accept Monday’s meal.</a:t>
            </a:r>
            <a:endParaRPr lang="en-US" sz="1120" dirty="0"/>
          </a:p>
          <a:p>
            <a:pPr indent="0" marL="0">
              <a:lnSpc>
                <a:spcPct val="106000"/>
              </a:lnSpc>
              <a:buNone/>
            </a:pPr>
            <a:r>
              <a:rPr lang="en-US" sz="1120" dirty="0">
                <a:solidFill>
                  <a:srgbClr val="68776D"/>
                </a:solidFill>
                <a:latin typeface="Inter" pitchFamily="34" charset="0"/>
                <a:ea typeface="Inter" pitchFamily="34" charset="-122"/>
                <a:cs typeface="Inter" pitchFamily="34" charset="-120"/>
              </a:rPr>
              <a:t>Reserve 400 g; leave stock unchanged.</a:t>
            </a:r>
            <a:endParaRPr lang="en-US" sz="1120" dirty="0"/>
          </a:p>
        </p:txBody>
      </p:sp>
      <p:sp>
        <p:nvSpPr>
          <p:cNvPr id="23" name="Shape 21"/>
          <p:cNvSpPr/>
          <p:nvPr/>
        </p:nvSpPr>
        <p:spPr>
          <a:xfrm>
            <a:off x="594360" y="4096512"/>
            <a:ext cx="3273552" cy="1764792"/>
          </a:xfrm>
          <a:prstGeom prst="roundRect">
            <a:avLst>
              <a:gd name="adj" fmla="val 6218"/>
            </a:avLst>
          </a:prstGeom>
          <a:solidFill>
            <a:srgbClr val="FBE7DB"/>
          </a:solidFill>
          <a:ln w="8890">
            <a:solidFill>
              <a:srgbClr val="E0E4D9"/>
            </a:solidFill>
            <a:prstDash val="solid"/>
          </a:ln>
        </p:spPr>
      </p:sp>
      <p:sp>
        <p:nvSpPr>
          <p:cNvPr id="24" name="Text 22"/>
          <p:cNvSpPr/>
          <p:nvPr/>
        </p:nvSpPr>
        <p:spPr>
          <a:xfrm>
            <a:off x="786384" y="4279392"/>
            <a:ext cx="2834640" cy="182880"/>
          </a:xfrm>
          <a:prstGeom prst="rect">
            <a:avLst/>
          </a:prstGeom>
          <a:noFill/>
          <a:ln/>
        </p:spPr>
        <p:txBody>
          <a:bodyPr wrap="square" lIns="0" tIns="0" rIns="0" bIns="0" rtlCol="0" anchor="t"/>
          <a:lstStyle/>
          <a:p>
            <a:pPr indent="0" marL="0">
              <a:lnSpc>
                <a:spcPct val="106000"/>
              </a:lnSpc>
              <a:buNone/>
            </a:pPr>
            <a:r>
              <a:rPr lang="en-US" sz="850" b="1" spc="165" kern="0" dirty="0">
                <a:solidFill>
                  <a:srgbClr val="68776D"/>
                </a:solidFill>
                <a:latin typeface="Inter" pitchFamily="34" charset="0"/>
                <a:ea typeface="Inter" pitchFamily="34" charset="-122"/>
                <a:cs typeface="Inter" pitchFamily="34" charset="-120"/>
              </a:rPr>
              <a:t>GROCERY LIST</a:t>
            </a:r>
            <a:endParaRPr lang="en-US" sz="850" dirty="0"/>
          </a:p>
        </p:txBody>
      </p:sp>
      <p:sp>
        <p:nvSpPr>
          <p:cNvPr id="25" name="Text 23"/>
          <p:cNvSpPr/>
          <p:nvPr/>
        </p:nvSpPr>
        <p:spPr>
          <a:xfrm>
            <a:off x="3300984" y="4242816"/>
            <a:ext cx="384048" cy="365760"/>
          </a:xfrm>
          <a:prstGeom prst="rect">
            <a:avLst/>
          </a:prstGeom>
          <a:noFill/>
          <a:ln/>
        </p:spPr>
        <p:txBody>
          <a:bodyPr wrap="square" lIns="0" tIns="0" rIns="0" bIns="0" rtlCol="0" anchor="t"/>
          <a:lstStyle/>
          <a:p>
            <a:pPr indent="0" marL="0">
              <a:lnSpc>
                <a:spcPct val="106000"/>
              </a:lnSpc>
              <a:buNone/>
            </a:pPr>
            <a:r>
              <a:rPr lang="en-US" sz="1900" b="1" dirty="0">
                <a:solidFill>
                  <a:srgbClr val="68776D"/>
                </a:solidFill>
                <a:latin typeface="Inter" pitchFamily="34" charset="0"/>
                <a:ea typeface="Inter" pitchFamily="34" charset="-122"/>
                <a:cs typeface="Inter" pitchFamily="34" charset="-120"/>
              </a:rPr>
              <a:t>04</a:t>
            </a:r>
            <a:endParaRPr lang="en-US" sz="1900" dirty="0"/>
          </a:p>
        </p:txBody>
      </p:sp>
      <p:sp>
        <p:nvSpPr>
          <p:cNvPr id="26" name="Text 24"/>
          <p:cNvSpPr/>
          <p:nvPr/>
        </p:nvSpPr>
        <p:spPr>
          <a:xfrm>
            <a:off x="786384" y="4709160"/>
            <a:ext cx="2880360" cy="402336"/>
          </a:xfrm>
          <a:prstGeom prst="rect">
            <a:avLst/>
          </a:prstGeom>
          <a:noFill/>
          <a:ln/>
        </p:spPr>
        <p:txBody>
          <a:bodyPr wrap="square" lIns="0" tIns="0" rIns="0" bIns="0" rtlCol="0" anchor="t"/>
          <a:lstStyle/>
          <a:p>
            <a:pPr indent="0" marL="0">
              <a:lnSpc>
                <a:spcPct val="106000"/>
              </a:lnSpc>
              <a:buNone/>
            </a:pPr>
            <a:r>
              <a:rPr lang="en-US" sz="1750" b="1" spc="-50" kern="0" dirty="0">
                <a:solidFill>
                  <a:srgbClr val="193F35"/>
                </a:solidFill>
                <a:latin typeface="Inter" pitchFamily="34" charset="0"/>
                <a:ea typeface="Inter" pitchFamily="34" charset="-122"/>
                <a:cs typeface="Inter" pitchFamily="34" charset="-120"/>
              </a:rPr>
              <a:t>Fill the gap</a:t>
            </a:r>
            <a:endParaRPr lang="en-US" sz="1750" dirty="0"/>
          </a:p>
        </p:txBody>
      </p:sp>
      <p:sp>
        <p:nvSpPr>
          <p:cNvPr id="27" name="Text 25"/>
          <p:cNvSpPr/>
          <p:nvPr/>
        </p:nvSpPr>
        <p:spPr>
          <a:xfrm>
            <a:off x="786384" y="5230368"/>
            <a:ext cx="2880360" cy="457200"/>
          </a:xfrm>
          <a:prstGeom prst="rect">
            <a:avLst/>
          </a:prstGeom>
          <a:noFill/>
          <a:ln/>
        </p:spPr>
        <p:txBody>
          <a:bodyPr wrap="square" lIns="0" tIns="0" rIns="0" bIns="0" rtlCol="0" anchor="t"/>
          <a:lstStyle/>
          <a:p>
            <a:pPr indent="0" marL="0">
              <a:lnSpc>
                <a:spcPct val="106000"/>
              </a:lnSpc>
              <a:buNone/>
            </a:pPr>
            <a:r>
              <a:rPr lang="en-US" sz="1120" dirty="0">
                <a:solidFill>
                  <a:srgbClr val="68776D"/>
                </a:solidFill>
                <a:latin typeface="Inter" pitchFamily="34" charset="0"/>
                <a:ea typeface="Inter" pitchFamily="34" charset="-122"/>
                <a:cs typeface="Inter" pitchFamily="34" charset="-120"/>
              </a:rPr>
              <a:t>Need 100 g of spinach.</a:t>
            </a:r>
            <a:endParaRPr lang="en-US" sz="1120" dirty="0"/>
          </a:p>
          <a:p>
            <a:pPr indent="0" marL="0">
              <a:lnSpc>
                <a:spcPct val="106000"/>
              </a:lnSpc>
              <a:buNone/>
            </a:pPr>
            <a:r>
              <a:rPr lang="en-US" sz="1120" dirty="0">
                <a:solidFill>
                  <a:srgbClr val="68776D"/>
                </a:solidFill>
                <a:latin typeface="Inter" pitchFamily="34" charset="0"/>
                <a:ea typeface="Inter" pitchFamily="34" charset="-122"/>
                <a:cs typeface="Inter" pitchFamily="34" charset="-120"/>
              </a:rPr>
              <a:t>One combined grocery line appears.</a:t>
            </a:r>
            <a:endParaRPr lang="en-US" sz="1120" dirty="0"/>
          </a:p>
        </p:txBody>
      </p:sp>
      <p:sp>
        <p:nvSpPr>
          <p:cNvPr id="28" name="Shape 26"/>
          <p:cNvSpPr/>
          <p:nvPr/>
        </p:nvSpPr>
        <p:spPr>
          <a:xfrm>
            <a:off x="4462272" y="4096512"/>
            <a:ext cx="3273552" cy="1764792"/>
          </a:xfrm>
          <a:prstGeom prst="roundRect">
            <a:avLst>
              <a:gd name="adj" fmla="val 6218"/>
            </a:avLst>
          </a:prstGeom>
          <a:solidFill>
            <a:srgbClr val="EEF2E6"/>
          </a:solidFill>
          <a:ln w="8890">
            <a:solidFill>
              <a:srgbClr val="E0E4D9"/>
            </a:solidFill>
            <a:prstDash val="solid"/>
          </a:ln>
        </p:spPr>
      </p:sp>
      <p:sp>
        <p:nvSpPr>
          <p:cNvPr id="29" name="Text 27"/>
          <p:cNvSpPr/>
          <p:nvPr/>
        </p:nvSpPr>
        <p:spPr>
          <a:xfrm>
            <a:off x="4654296" y="4279392"/>
            <a:ext cx="2834640" cy="182880"/>
          </a:xfrm>
          <a:prstGeom prst="rect">
            <a:avLst/>
          </a:prstGeom>
          <a:noFill/>
          <a:ln/>
        </p:spPr>
        <p:txBody>
          <a:bodyPr wrap="square" lIns="0" tIns="0" rIns="0" bIns="0" rtlCol="0" anchor="t"/>
          <a:lstStyle/>
          <a:p>
            <a:pPr indent="0" marL="0">
              <a:lnSpc>
                <a:spcPct val="106000"/>
              </a:lnSpc>
              <a:buNone/>
            </a:pPr>
            <a:r>
              <a:rPr lang="en-US" sz="850" b="1" spc="165" kern="0" dirty="0">
                <a:solidFill>
                  <a:srgbClr val="68776D"/>
                </a:solidFill>
                <a:latin typeface="Inter" pitchFamily="34" charset="0"/>
                <a:ea typeface="Inter" pitchFamily="34" charset="-122"/>
                <a:cs typeface="Inter" pitchFamily="34" charset="-120"/>
              </a:rPr>
              <a:t>PANTRY</a:t>
            </a:r>
            <a:endParaRPr lang="en-US" sz="850" dirty="0"/>
          </a:p>
        </p:txBody>
      </p:sp>
      <p:sp>
        <p:nvSpPr>
          <p:cNvPr id="30" name="Text 28"/>
          <p:cNvSpPr/>
          <p:nvPr/>
        </p:nvSpPr>
        <p:spPr>
          <a:xfrm>
            <a:off x="7168896" y="4242816"/>
            <a:ext cx="384048" cy="365760"/>
          </a:xfrm>
          <a:prstGeom prst="rect">
            <a:avLst/>
          </a:prstGeom>
          <a:noFill/>
          <a:ln/>
        </p:spPr>
        <p:txBody>
          <a:bodyPr wrap="square" lIns="0" tIns="0" rIns="0" bIns="0" rtlCol="0" anchor="t"/>
          <a:lstStyle/>
          <a:p>
            <a:pPr indent="0" marL="0">
              <a:lnSpc>
                <a:spcPct val="106000"/>
              </a:lnSpc>
              <a:buNone/>
            </a:pPr>
            <a:r>
              <a:rPr lang="en-US" sz="1900" b="1" dirty="0">
                <a:solidFill>
                  <a:srgbClr val="68776D"/>
                </a:solidFill>
                <a:latin typeface="Inter" pitchFamily="34" charset="0"/>
                <a:ea typeface="Inter" pitchFamily="34" charset="-122"/>
                <a:cs typeface="Inter" pitchFamily="34" charset="-120"/>
              </a:rPr>
              <a:t>05</a:t>
            </a:r>
            <a:endParaRPr lang="en-US" sz="1900" dirty="0"/>
          </a:p>
        </p:txBody>
      </p:sp>
      <p:sp>
        <p:nvSpPr>
          <p:cNvPr id="31" name="Text 29"/>
          <p:cNvSpPr/>
          <p:nvPr/>
        </p:nvSpPr>
        <p:spPr>
          <a:xfrm>
            <a:off x="4654296" y="4709160"/>
            <a:ext cx="2880360" cy="402336"/>
          </a:xfrm>
          <a:prstGeom prst="rect">
            <a:avLst/>
          </a:prstGeom>
          <a:noFill/>
          <a:ln/>
        </p:spPr>
        <p:txBody>
          <a:bodyPr wrap="square" lIns="0" tIns="0" rIns="0" bIns="0" rtlCol="0" anchor="t"/>
          <a:lstStyle/>
          <a:p>
            <a:pPr indent="0" marL="0">
              <a:lnSpc>
                <a:spcPct val="106000"/>
              </a:lnSpc>
              <a:buNone/>
            </a:pPr>
            <a:r>
              <a:rPr lang="en-US" sz="1750" b="1" spc="-50" kern="0" dirty="0">
                <a:solidFill>
                  <a:srgbClr val="193F35"/>
                </a:solidFill>
                <a:latin typeface="Inter" pitchFamily="34" charset="0"/>
                <a:ea typeface="Inter" pitchFamily="34" charset="-122"/>
                <a:cs typeface="Inter" pitchFamily="34" charset="-120"/>
              </a:rPr>
              <a:t>Confirm what came home</a:t>
            </a:r>
            <a:endParaRPr lang="en-US" sz="1750" dirty="0"/>
          </a:p>
        </p:txBody>
      </p:sp>
      <p:sp>
        <p:nvSpPr>
          <p:cNvPr id="32" name="Text 30"/>
          <p:cNvSpPr/>
          <p:nvPr/>
        </p:nvSpPr>
        <p:spPr>
          <a:xfrm>
            <a:off x="4654296" y="5230368"/>
            <a:ext cx="2880360" cy="457200"/>
          </a:xfrm>
          <a:prstGeom prst="rect">
            <a:avLst/>
          </a:prstGeom>
          <a:noFill/>
          <a:ln/>
        </p:spPr>
        <p:txBody>
          <a:bodyPr wrap="square" lIns="0" tIns="0" rIns="0" bIns="0" rtlCol="0" anchor="t"/>
          <a:lstStyle/>
          <a:p>
            <a:pPr indent="0" marL="0">
              <a:lnSpc>
                <a:spcPct val="106000"/>
              </a:lnSpc>
              <a:buNone/>
            </a:pPr>
            <a:r>
              <a:rPr lang="en-US" sz="1120" dirty="0">
                <a:solidFill>
                  <a:srgbClr val="68776D"/>
                </a:solidFill>
                <a:latin typeface="Inter" pitchFamily="34" charset="0"/>
                <a:ea typeface="Inter" pitchFamily="34" charset="-122"/>
                <a:cs typeface="Inter" pitchFamily="34" charset="-120"/>
              </a:rPr>
              <a:t>Buy a 200 g bag.</a:t>
            </a:r>
            <a:endParaRPr lang="en-US" sz="1120" dirty="0"/>
          </a:p>
          <a:p>
            <a:pPr indent="0" marL="0">
              <a:lnSpc>
                <a:spcPct val="106000"/>
              </a:lnSpc>
              <a:buNone/>
            </a:pPr>
            <a:r>
              <a:rPr lang="en-US" sz="1120" dirty="0">
                <a:solidFill>
                  <a:srgbClr val="68776D"/>
                </a:solidFill>
                <a:latin typeface="Inter" pitchFamily="34" charset="0"/>
                <a:ea typeface="Inter" pitchFamily="34" charset="-122"/>
                <a:cs typeface="Inter" pitchFamily="34" charset="-120"/>
              </a:rPr>
              <a:t>Put-away confirmation adds 200 g.</a:t>
            </a:r>
            <a:endParaRPr lang="en-US" sz="1120" dirty="0"/>
          </a:p>
        </p:txBody>
      </p:sp>
      <p:sp>
        <p:nvSpPr>
          <p:cNvPr id="33" name="Shape 31"/>
          <p:cNvSpPr/>
          <p:nvPr/>
        </p:nvSpPr>
        <p:spPr>
          <a:xfrm>
            <a:off x="8321040" y="4096512"/>
            <a:ext cx="3273552" cy="1764792"/>
          </a:xfrm>
          <a:prstGeom prst="roundRect">
            <a:avLst>
              <a:gd name="adj" fmla="val 6218"/>
            </a:avLst>
          </a:prstGeom>
          <a:solidFill>
            <a:srgbClr val="DDECAB"/>
          </a:solidFill>
          <a:ln w="8890">
            <a:solidFill>
              <a:srgbClr val="E0E4D9"/>
            </a:solidFill>
            <a:prstDash val="solid"/>
          </a:ln>
        </p:spPr>
      </p:sp>
      <p:sp>
        <p:nvSpPr>
          <p:cNvPr id="34" name="Text 32"/>
          <p:cNvSpPr/>
          <p:nvPr/>
        </p:nvSpPr>
        <p:spPr>
          <a:xfrm>
            <a:off x="8513064" y="4279392"/>
            <a:ext cx="2834640" cy="182880"/>
          </a:xfrm>
          <a:prstGeom prst="rect">
            <a:avLst/>
          </a:prstGeom>
          <a:noFill/>
          <a:ln/>
        </p:spPr>
        <p:txBody>
          <a:bodyPr wrap="square" lIns="0" tIns="0" rIns="0" bIns="0" rtlCol="0" anchor="t"/>
          <a:lstStyle/>
          <a:p>
            <a:pPr indent="0" marL="0">
              <a:lnSpc>
                <a:spcPct val="106000"/>
              </a:lnSpc>
              <a:buNone/>
            </a:pPr>
            <a:r>
              <a:rPr lang="en-US" sz="850" b="1" spc="165" kern="0" dirty="0">
                <a:solidFill>
                  <a:srgbClr val="68776D"/>
                </a:solidFill>
                <a:latin typeface="Inter" pitchFamily="34" charset="0"/>
                <a:ea typeface="Inter" pitchFamily="34" charset="-122"/>
                <a:cs typeface="Inter" pitchFamily="34" charset="-120"/>
              </a:rPr>
              <a:t>CLOSE THE LOOP</a:t>
            </a:r>
            <a:endParaRPr lang="en-US" sz="850" dirty="0"/>
          </a:p>
        </p:txBody>
      </p:sp>
      <p:sp>
        <p:nvSpPr>
          <p:cNvPr id="35" name="Text 33"/>
          <p:cNvSpPr/>
          <p:nvPr/>
        </p:nvSpPr>
        <p:spPr>
          <a:xfrm>
            <a:off x="11027664" y="4242816"/>
            <a:ext cx="384048" cy="365760"/>
          </a:xfrm>
          <a:prstGeom prst="rect">
            <a:avLst/>
          </a:prstGeom>
          <a:noFill/>
          <a:ln/>
        </p:spPr>
        <p:txBody>
          <a:bodyPr wrap="square" lIns="0" tIns="0" rIns="0" bIns="0" rtlCol="0" anchor="t"/>
          <a:lstStyle/>
          <a:p>
            <a:pPr indent="0" marL="0">
              <a:lnSpc>
                <a:spcPct val="106000"/>
              </a:lnSpc>
              <a:buNone/>
            </a:pPr>
            <a:r>
              <a:rPr lang="en-US" sz="1900" b="1" dirty="0">
                <a:solidFill>
                  <a:srgbClr val="68776D"/>
                </a:solidFill>
                <a:latin typeface="Inter" pitchFamily="34" charset="0"/>
                <a:ea typeface="Inter" pitchFamily="34" charset="-122"/>
                <a:cs typeface="Inter" pitchFamily="34" charset="-120"/>
              </a:rPr>
              <a:t>06</a:t>
            </a:r>
            <a:endParaRPr lang="en-US" sz="1900" dirty="0"/>
          </a:p>
        </p:txBody>
      </p:sp>
      <p:sp>
        <p:nvSpPr>
          <p:cNvPr id="36" name="Text 34"/>
          <p:cNvSpPr/>
          <p:nvPr/>
        </p:nvSpPr>
        <p:spPr>
          <a:xfrm>
            <a:off x="8513064" y="4709160"/>
            <a:ext cx="2880360" cy="402336"/>
          </a:xfrm>
          <a:prstGeom prst="rect">
            <a:avLst/>
          </a:prstGeom>
          <a:noFill/>
          <a:ln/>
        </p:spPr>
        <p:txBody>
          <a:bodyPr wrap="square" lIns="0" tIns="0" rIns="0" bIns="0" rtlCol="0" anchor="t"/>
          <a:lstStyle/>
          <a:p>
            <a:pPr indent="0" marL="0">
              <a:lnSpc>
                <a:spcPct val="106000"/>
              </a:lnSpc>
              <a:buNone/>
            </a:pPr>
            <a:r>
              <a:rPr lang="en-US" sz="1750" b="1" spc="-50" kern="0" dirty="0">
                <a:solidFill>
                  <a:srgbClr val="193F35"/>
                </a:solidFill>
                <a:latin typeface="Inter" pitchFamily="34" charset="0"/>
                <a:ea typeface="Inter" pitchFamily="34" charset="-122"/>
                <a:cs typeface="Inter" pitchFamily="34" charset="-120"/>
              </a:rPr>
              <a:t>Cook, then keep the rest</a:t>
            </a:r>
            <a:endParaRPr lang="en-US" sz="1750" dirty="0"/>
          </a:p>
        </p:txBody>
      </p:sp>
      <p:sp>
        <p:nvSpPr>
          <p:cNvPr id="37" name="Text 35"/>
          <p:cNvSpPr/>
          <p:nvPr/>
        </p:nvSpPr>
        <p:spPr>
          <a:xfrm>
            <a:off x="8513064" y="5230368"/>
            <a:ext cx="2880360" cy="457200"/>
          </a:xfrm>
          <a:prstGeom prst="rect">
            <a:avLst/>
          </a:prstGeom>
          <a:noFill/>
          <a:ln/>
        </p:spPr>
        <p:txBody>
          <a:bodyPr wrap="square" lIns="0" tIns="0" rIns="0" bIns="0" rtlCol="0" anchor="t"/>
          <a:lstStyle/>
          <a:p>
            <a:pPr indent="0" marL="0">
              <a:lnSpc>
                <a:spcPct val="106000"/>
              </a:lnSpc>
              <a:buNone/>
            </a:pPr>
            <a:r>
              <a:rPr lang="en-US" sz="1120" dirty="0">
                <a:solidFill>
                  <a:srgbClr val="68776D"/>
                </a:solidFill>
                <a:latin typeface="Inter" pitchFamily="34" charset="0"/>
                <a:ea typeface="Inter" pitchFamily="34" charset="-122"/>
                <a:cs typeface="Inter" pitchFamily="34" charset="-120"/>
              </a:rPr>
              <a:t>Confirm actual ingredients used.</a:t>
            </a:r>
            <a:endParaRPr lang="en-US" sz="1120" dirty="0"/>
          </a:p>
          <a:p>
            <a:pPr indent="0" marL="0">
              <a:lnSpc>
                <a:spcPct val="106000"/>
              </a:lnSpc>
              <a:buNone/>
            </a:pPr>
            <a:r>
              <a:rPr lang="en-US" sz="1120" dirty="0">
                <a:solidFill>
                  <a:srgbClr val="68776D"/>
                </a:solidFill>
                <a:latin typeface="Inter" pitchFamily="34" charset="0"/>
                <a:ea typeface="Inter" pitchFamily="34" charset="-122"/>
                <a:cs typeface="Inter" pitchFamily="34" charset="-120"/>
              </a:rPr>
              <a:t>Save any uneaten portions as leftovers.</a:t>
            </a:r>
            <a:endParaRPr lang="en-US" sz="11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0"/>
        </a:solidFill>
      </p:bgPr>
    </p:bg>
    <p:spTree>
      <p:nvGrpSpPr>
        <p:cNvPr id="1" name=""/>
        <p:cNvGrpSpPr/>
        <p:nvPr/>
      </p:nvGrpSpPr>
      <p:grpSpPr>
        <a:xfrm>
          <a:off x="0" y="0"/>
          <a:ext cx="0" cy="0"/>
          <a:chOff x="0" y="0"/>
          <a:chExt cx="0" cy="0"/>
        </a:xfrm>
      </p:grpSpPr>
      <p:sp>
        <p:nvSpPr>
          <p:cNvPr id="2" name="Text 0"/>
          <p:cNvSpPr/>
          <p:nvPr/>
        </p:nvSpPr>
        <p:spPr>
          <a:xfrm>
            <a:off x="502920" y="320040"/>
            <a:ext cx="9144000" cy="182880"/>
          </a:xfrm>
          <a:prstGeom prst="rect">
            <a:avLst/>
          </a:prstGeom>
          <a:noFill/>
          <a:ln/>
        </p:spPr>
        <p:txBody>
          <a:bodyPr wrap="square" lIns="0" tIns="0" rIns="0" bIns="0" rtlCol="0" anchor="t"/>
          <a:lstStyle/>
          <a:p>
            <a:pPr indent="0" marL="0">
              <a:lnSpc>
                <a:spcPct val="106000"/>
              </a:lnSpc>
              <a:buNone/>
            </a:pPr>
            <a:r>
              <a:rPr lang="en-US" sz="850" b="1" spc="165" kern="0" dirty="0">
                <a:solidFill>
                  <a:srgbClr val="68776D"/>
                </a:solidFill>
                <a:latin typeface="Inter" pitchFamily="34" charset="0"/>
                <a:ea typeface="Inter" pitchFamily="34" charset="-122"/>
                <a:cs typeface="Inter" pitchFamily="34" charset="-120"/>
              </a:rPr>
              <a:t>LUNCHBOX  /  SCREEN 01 / RECIPES</a:t>
            </a:r>
            <a:endParaRPr lang="en-US" sz="850" dirty="0"/>
          </a:p>
        </p:txBody>
      </p:sp>
      <p:sp>
        <p:nvSpPr>
          <p:cNvPr id="3" name="Text 1"/>
          <p:cNvSpPr/>
          <p:nvPr/>
        </p:nvSpPr>
        <p:spPr>
          <a:xfrm>
            <a:off x="502920" y="749808"/>
            <a:ext cx="11155680" cy="658368"/>
          </a:xfrm>
          <a:prstGeom prst="rect">
            <a:avLst/>
          </a:prstGeom>
          <a:noFill/>
          <a:ln/>
        </p:spPr>
        <p:txBody>
          <a:bodyPr wrap="square" lIns="0" tIns="0" rIns="0" bIns="0" rtlCol="0" anchor="t"/>
          <a:lstStyle/>
          <a:p>
            <a:pPr indent="0" marL="0">
              <a:lnSpc>
                <a:spcPct val="106000"/>
              </a:lnSpc>
              <a:buNone/>
            </a:pPr>
            <a:r>
              <a:rPr lang="en-US" sz="3100" b="1" spc="-125" kern="0" dirty="0">
                <a:solidFill>
                  <a:srgbClr val="193F35"/>
                </a:solidFill>
                <a:latin typeface="Inter" pitchFamily="34" charset="0"/>
                <a:ea typeface="Inter" pitchFamily="34" charset="-122"/>
                <a:cs typeface="Inter" pitchFamily="34" charset="-120"/>
              </a:rPr>
              <a:t>The AI should explain its recommendation.</a:t>
            </a:r>
            <a:endParaRPr lang="en-US" sz="3100" dirty="0"/>
          </a:p>
        </p:txBody>
      </p:sp>
      <p:sp>
        <p:nvSpPr>
          <p:cNvPr id="4" name="Text 2"/>
          <p:cNvSpPr/>
          <p:nvPr/>
        </p:nvSpPr>
        <p:spPr>
          <a:xfrm>
            <a:off x="530352" y="1472184"/>
            <a:ext cx="10789920" cy="457200"/>
          </a:xfrm>
          <a:prstGeom prst="rect">
            <a:avLst/>
          </a:prstGeom>
          <a:noFill/>
          <a:ln/>
        </p:spPr>
        <p:txBody>
          <a:bodyPr wrap="square" lIns="0" tIns="0" rIns="0" bIns="0" rtlCol="0" anchor="t"/>
          <a:lstStyle/>
          <a:p>
            <a:pPr indent="0" marL="0">
              <a:lnSpc>
                <a:spcPct val="106000"/>
              </a:lnSpc>
              <a:buNone/>
            </a:pPr>
            <a:r>
              <a:rPr lang="en-US" sz="1200" dirty="0">
                <a:solidFill>
                  <a:srgbClr val="68776D"/>
                </a:solidFill>
                <a:latin typeface="Inter" pitchFamily="34" charset="0"/>
                <a:ea typeface="Inter" pitchFamily="34" charset="-122"/>
                <a:cs typeface="Inter" pitchFamily="34" charset="-120"/>
              </a:rPr>
              <a:t>A small set of relevant options beats an endless feed. Let the household see the tradeoffs.</a:t>
            </a:r>
            <a:endParaRPr lang="en-US" sz="1200" dirty="0"/>
          </a:p>
        </p:txBody>
      </p:sp>
      <p:sp>
        <p:nvSpPr>
          <p:cNvPr id="5" name="Shape 3"/>
          <p:cNvSpPr/>
          <p:nvPr/>
        </p:nvSpPr>
        <p:spPr>
          <a:xfrm>
            <a:off x="502920" y="6455664"/>
            <a:ext cx="11183112" cy="0"/>
          </a:xfrm>
          <a:prstGeom prst="line">
            <a:avLst/>
          </a:prstGeom>
          <a:noFill/>
          <a:ln w="8890">
            <a:solidFill>
              <a:srgbClr val="E0E4D9"/>
            </a:solidFill>
            <a:prstDash val="solid"/>
          </a:ln>
        </p:spPr>
      </p:sp>
      <p:sp>
        <p:nvSpPr>
          <p:cNvPr id="6" name="Text 4"/>
          <p:cNvSpPr/>
          <p:nvPr/>
        </p:nvSpPr>
        <p:spPr>
          <a:xfrm>
            <a:off x="512064" y="6565392"/>
            <a:ext cx="6400800" cy="118872"/>
          </a:xfrm>
          <a:prstGeom prst="rect">
            <a:avLst/>
          </a:prstGeom>
          <a:noFill/>
          <a:ln/>
        </p:spPr>
        <p:txBody>
          <a:bodyPr wrap="square" lIns="0" tIns="0" rIns="0" bIns="0" rtlCol="0" anchor="t"/>
          <a:lstStyle/>
          <a:p>
            <a:pPr indent="0" marL="0">
              <a:lnSpc>
                <a:spcPct val="106000"/>
              </a:lnSpc>
              <a:buNone/>
            </a:pPr>
            <a:r>
              <a:rPr lang="en-US" sz="730" spc="90" kern="0" dirty="0">
                <a:solidFill>
                  <a:srgbClr val="68776D"/>
                </a:solidFill>
                <a:latin typeface="Inter" pitchFamily="34" charset="0"/>
                <a:ea typeface="Inter" pitchFamily="34" charset="-122"/>
                <a:cs typeface="Inter" pitchFamily="34" charset="-120"/>
              </a:rPr>
              <a:t>CONCEPT PORTFOLIO · SEPTEMBER 2026</a:t>
            </a:r>
            <a:endParaRPr lang="en-US" sz="730" dirty="0"/>
          </a:p>
        </p:txBody>
      </p:sp>
      <p:sp>
        <p:nvSpPr>
          <p:cNvPr id="7" name="Text 5"/>
          <p:cNvSpPr/>
          <p:nvPr/>
        </p:nvSpPr>
        <p:spPr>
          <a:xfrm>
            <a:off x="11155680" y="6537960"/>
            <a:ext cx="530352" cy="155448"/>
          </a:xfrm>
          <a:prstGeom prst="rect">
            <a:avLst/>
          </a:prstGeom>
          <a:noFill/>
          <a:ln/>
        </p:spPr>
        <p:txBody>
          <a:bodyPr wrap="square" lIns="0" tIns="0" rIns="0" bIns="0" rtlCol="0" anchor="t"/>
          <a:lstStyle/>
          <a:p>
            <a:pPr algn="r" indent="0" marL="0">
              <a:lnSpc>
                <a:spcPct val="106000"/>
              </a:lnSpc>
              <a:buNone/>
            </a:pPr>
            <a:r>
              <a:rPr lang="en-US" sz="900" b="1" dirty="0">
                <a:solidFill>
                  <a:srgbClr val="193F35"/>
                </a:solidFill>
                <a:latin typeface="Inter" pitchFamily="34" charset="0"/>
                <a:ea typeface="Inter" pitchFamily="34" charset="-122"/>
                <a:cs typeface="Inter" pitchFamily="34" charset="-120"/>
              </a:rPr>
              <a:t>05</a:t>
            </a:r>
            <a:endParaRPr lang="en-US" sz="900" dirty="0"/>
          </a:p>
        </p:txBody>
      </p:sp>
      <p:sp>
        <p:nvSpPr>
          <p:cNvPr id="8" name="Shape 6"/>
          <p:cNvSpPr/>
          <p:nvPr/>
        </p:nvSpPr>
        <p:spPr>
          <a:xfrm>
            <a:off x="539496" y="2002536"/>
            <a:ext cx="11109960" cy="3593592"/>
          </a:xfrm>
          <a:prstGeom prst="roundRect">
            <a:avLst>
              <a:gd name="adj" fmla="val 3562"/>
            </a:avLst>
          </a:prstGeom>
          <a:solidFill>
            <a:srgbClr val="FFFEFA"/>
          </a:solidFill>
          <a:ln w="8890">
            <a:solidFill>
              <a:srgbClr val="E0E4D9"/>
            </a:solidFill>
            <a:prstDash val="solid"/>
          </a:ln>
        </p:spPr>
      </p:sp>
      <p:pic>
        <p:nvPicPr>
          <p:cNvPr id="9" name="Image 0" descr="/mnt/data/lunchbox_work/focus_recipes.png">    </p:cNvPr>
          <p:cNvPicPr>
            <a:picLocks noChangeAspect="1"/>
          </p:cNvPicPr>
          <p:nvPr/>
        </p:nvPicPr>
        <p:blipFill>
          <a:blip r:embed="rId1"/>
          <a:stretch>
            <a:fillRect/>
          </a:stretch>
        </p:blipFill>
        <p:spPr>
          <a:xfrm>
            <a:off x="2716226" y="2093976"/>
            <a:ext cx="6765643" cy="3337560"/>
          </a:xfrm>
          <a:prstGeom prst="rect">
            <a:avLst/>
          </a:prstGeom>
        </p:spPr>
      </p:pic>
      <p:sp>
        <p:nvSpPr>
          <p:cNvPr id="10" name="Shape 7"/>
          <p:cNvSpPr/>
          <p:nvPr/>
        </p:nvSpPr>
        <p:spPr>
          <a:xfrm>
            <a:off x="612648" y="5815584"/>
            <a:ext cx="347472" cy="347472"/>
          </a:xfrm>
          <a:prstGeom prst="roundRect">
            <a:avLst>
              <a:gd name="adj" fmla="val 28947"/>
            </a:avLst>
          </a:prstGeom>
          <a:solidFill>
            <a:srgbClr val="244D40"/>
          </a:solidFill>
          <a:ln w="12700">
            <a:solidFill>
              <a:srgbClr val="244D40"/>
            </a:solidFill>
            <a:prstDash val="solid"/>
          </a:ln>
        </p:spPr>
      </p:sp>
      <p:sp>
        <p:nvSpPr>
          <p:cNvPr id="11" name="Text 8"/>
          <p:cNvSpPr/>
          <p:nvPr/>
        </p:nvSpPr>
        <p:spPr>
          <a:xfrm>
            <a:off x="612648" y="5875020"/>
            <a:ext cx="347472" cy="210312"/>
          </a:xfrm>
          <a:prstGeom prst="rect">
            <a:avLst/>
          </a:prstGeom>
          <a:noFill/>
          <a:ln/>
        </p:spPr>
        <p:txBody>
          <a:bodyPr wrap="square" lIns="0" tIns="0" rIns="0" bIns="0" rtlCol="0" anchor="t"/>
          <a:lstStyle/>
          <a:p>
            <a:pPr algn="ctr" indent="0" marL="0">
              <a:lnSpc>
                <a:spcPct val="106000"/>
              </a:lnSpc>
              <a:buNone/>
            </a:pPr>
            <a:r>
              <a:rPr lang="en-US" sz="1000" b="1" dirty="0">
                <a:solidFill>
                  <a:srgbClr val="FFFEFA"/>
                </a:solidFill>
                <a:latin typeface="Inter" pitchFamily="34" charset="0"/>
                <a:ea typeface="Inter" pitchFamily="34" charset="-122"/>
                <a:cs typeface="Inter" pitchFamily="34" charset="-120"/>
              </a:rPr>
              <a:t>01</a:t>
            </a:r>
            <a:endParaRPr lang="en-US" sz="1000" dirty="0"/>
          </a:p>
        </p:txBody>
      </p:sp>
      <p:sp>
        <p:nvSpPr>
          <p:cNvPr id="12" name="Text 9"/>
          <p:cNvSpPr/>
          <p:nvPr/>
        </p:nvSpPr>
        <p:spPr>
          <a:xfrm>
            <a:off x="1097280" y="5815584"/>
            <a:ext cx="3035808" cy="182880"/>
          </a:xfrm>
          <a:prstGeom prst="rect">
            <a:avLst/>
          </a:prstGeom>
          <a:noFill/>
          <a:ln/>
        </p:spPr>
        <p:txBody>
          <a:bodyPr wrap="square" lIns="0" tIns="0" rIns="0" bIns="0" rtlCol="0" anchor="t"/>
          <a:lstStyle/>
          <a:p>
            <a:pPr indent="0" marL="0">
              <a:lnSpc>
                <a:spcPct val="106000"/>
              </a:lnSpc>
              <a:buNone/>
            </a:pPr>
            <a:r>
              <a:rPr lang="en-US" sz="1070" b="1" dirty="0">
                <a:solidFill>
                  <a:srgbClr val="193F35"/>
                </a:solidFill>
                <a:latin typeface="Inter" pitchFamily="34" charset="0"/>
                <a:ea typeface="Inter" pitchFamily="34" charset="-122"/>
                <a:cs typeface="Inter" pitchFamily="34" charset="-120"/>
              </a:rPr>
              <a:t>Context before inspiration</a:t>
            </a:r>
            <a:endParaRPr lang="en-US" sz="1070" dirty="0"/>
          </a:p>
        </p:txBody>
      </p:sp>
      <p:sp>
        <p:nvSpPr>
          <p:cNvPr id="13" name="Text 10"/>
          <p:cNvSpPr/>
          <p:nvPr/>
        </p:nvSpPr>
        <p:spPr>
          <a:xfrm>
            <a:off x="1097280" y="6089904"/>
            <a:ext cx="3035808" cy="164592"/>
          </a:xfrm>
          <a:prstGeom prst="rect">
            <a:avLst/>
          </a:prstGeom>
          <a:noFill/>
          <a:ln/>
        </p:spPr>
        <p:txBody>
          <a:bodyPr wrap="square" lIns="0" tIns="0" rIns="0" bIns="0" rtlCol="0" anchor="t"/>
          <a:lstStyle/>
          <a:p>
            <a:pPr indent="0" marL="0">
              <a:lnSpc>
                <a:spcPct val="106000"/>
              </a:lnSpc>
              <a:buNone/>
            </a:pPr>
            <a:r>
              <a:rPr lang="en-US" sz="900" dirty="0">
                <a:solidFill>
                  <a:srgbClr val="68776D"/>
                </a:solidFill>
                <a:latin typeface="Inter" pitchFamily="34" charset="0"/>
                <a:ea typeface="Inter" pitchFamily="34" charset="-122"/>
                <a:cs typeface="Inter" pitchFamily="34" charset="-120"/>
              </a:rPr>
              <a:t>Food, time, servings and equipment.</a:t>
            </a:r>
            <a:endParaRPr lang="en-US" sz="900" dirty="0"/>
          </a:p>
        </p:txBody>
      </p:sp>
      <p:sp>
        <p:nvSpPr>
          <p:cNvPr id="14" name="Shape 11"/>
          <p:cNvSpPr/>
          <p:nvPr/>
        </p:nvSpPr>
        <p:spPr>
          <a:xfrm>
            <a:off x="4434840" y="5815584"/>
            <a:ext cx="347472" cy="347472"/>
          </a:xfrm>
          <a:prstGeom prst="roundRect">
            <a:avLst>
              <a:gd name="adj" fmla="val 28947"/>
            </a:avLst>
          </a:prstGeom>
          <a:solidFill>
            <a:srgbClr val="244D40"/>
          </a:solidFill>
          <a:ln w="12700">
            <a:solidFill>
              <a:srgbClr val="244D40"/>
            </a:solidFill>
            <a:prstDash val="solid"/>
          </a:ln>
        </p:spPr>
      </p:sp>
      <p:sp>
        <p:nvSpPr>
          <p:cNvPr id="15" name="Text 12"/>
          <p:cNvSpPr/>
          <p:nvPr/>
        </p:nvSpPr>
        <p:spPr>
          <a:xfrm>
            <a:off x="4434840" y="5875020"/>
            <a:ext cx="347472" cy="210312"/>
          </a:xfrm>
          <a:prstGeom prst="rect">
            <a:avLst/>
          </a:prstGeom>
          <a:noFill/>
          <a:ln/>
        </p:spPr>
        <p:txBody>
          <a:bodyPr wrap="square" lIns="0" tIns="0" rIns="0" bIns="0" rtlCol="0" anchor="t"/>
          <a:lstStyle/>
          <a:p>
            <a:pPr algn="ctr" indent="0" marL="0">
              <a:lnSpc>
                <a:spcPct val="106000"/>
              </a:lnSpc>
              <a:buNone/>
            </a:pPr>
            <a:r>
              <a:rPr lang="en-US" sz="1000" b="1" dirty="0">
                <a:solidFill>
                  <a:srgbClr val="FFFEFA"/>
                </a:solidFill>
                <a:latin typeface="Inter" pitchFamily="34" charset="0"/>
                <a:ea typeface="Inter" pitchFamily="34" charset="-122"/>
                <a:cs typeface="Inter" pitchFamily="34" charset="-120"/>
              </a:rPr>
              <a:t>02</a:t>
            </a:r>
            <a:endParaRPr lang="en-US" sz="1000" dirty="0"/>
          </a:p>
        </p:txBody>
      </p:sp>
      <p:sp>
        <p:nvSpPr>
          <p:cNvPr id="16" name="Text 13"/>
          <p:cNvSpPr/>
          <p:nvPr/>
        </p:nvSpPr>
        <p:spPr>
          <a:xfrm>
            <a:off x="4919472" y="5815584"/>
            <a:ext cx="3035808" cy="182880"/>
          </a:xfrm>
          <a:prstGeom prst="rect">
            <a:avLst/>
          </a:prstGeom>
          <a:noFill/>
          <a:ln/>
        </p:spPr>
        <p:txBody>
          <a:bodyPr wrap="square" lIns="0" tIns="0" rIns="0" bIns="0" rtlCol="0" anchor="t"/>
          <a:lstStyle/>
          <a:p>
            <a:pPr indent="0" marL="0">
              <a:lnSpc>
                <a:spcPct val="106000"/>
              </a:lnSpc>
              <a:buNone/>
            </a:pPr>
            <a:r>
              <a:rPr lang="en-US" sz="1070" b="1" dirty="0">
                <a:solidFill>
                  <a:srgbClr val="193F35"/>
                </a:solidFill>
                <a:latin typeface="Inter" pitchFamily="34" charset="0"/>
                <a:ea typeface="Inter" pitchFamily="34" charset="-122"/>
                <a:cs typeface="Inter" pitchFamily="34" charset="-120"/>
              </a:rPr>
              <a:t>Reasons, not a mystery score</a:t>
            </a:r>
            <a:endParaRPr lang="en-US" sz="1070" dirty="0"/>
          </a:p>
        </p:txBody>
      </p:sp>
      <p:sp>
        <p:nvSpPr>
          <p:cNvPr id="17" name="Text 14"/>
          <p:cNvSpPr/>
          <p:nvPr/>
        </p:nvSpPr>
        <p:spPr>
          <a:xfrm>
            <a:off x="4919472" y="6089904"/>
            <a:ext cx="3035808" cy="164592"/>
          </a:xfrm>
          <a:prstGeom prst="rect">
            <a:avLst/>
          </a:prstGeom>
          <a:noFill/>
          <a:ln/>
        </p:spPr>
        <p:txBody>
          <a:bodyPr wrap="square" lIns="0" tIns="0" rIns="0" bIns="0" rtlCol="0" anchor="t"/>
          <a:lstStyle/>
          <a:p>
            <a:pPr indent="0" marL="0">
              <a:lnSpc>
                <a:spcPct val="106000"/>
              </a:lnSpc>
              <a:buNone/>
            </a:pPr>
            <a:r>
              <a:rPr lang="en-US" sz="900" dirty="0">
                <a:solidFill>
                  <a:srgbClr val="68776D"/>
                </a:solidFill>
                <a:latin typeface="Inter" pitchFamily="34" charset="0"/>
                <a:ea typeface="Inter" pitchFamily="34" charset="-122"/>
                <a:cs typeface="Inter" pitchFamily="34" charset="-120"/>
              </a:rPr>
              <a:t>Use-soon food, effort, and missing items.</a:t>
            </a:r>
            <a:endParaRPr lang="en-US" sz="900" dirty="0"/>
          </a:p>
        </p:txBody>
      </p:sp>
      <p:sp>
        <p:nvSpPr>
          <p:cNvPr id="18" name="Shape 15"/>
          <p:cNvSpPr/>
          <p:nvPr/>
        </p:nvSpPr>
        <p:spPr>
          <a:xfrm>
            <a:off x="8257032" y="5815584"/>
            <a:ext cx="347472" cy="347472"/>
          </a:xfrm>
          <a:prstGeom prst="roundRect">
            <a:avLst>
              <a:gd name="adj" fmla="val 28947"/>
            </a:avLst>
          </a:prstGeom>
          <a:solidFill>
            <a:srgbClr val="244D40"/>
          </a:solidFill>
          <a:ln w="12700">
            <a:solidFill>
              <a:srgbClr val="244D40"/>
            </a:solidFill>
            <a:prstDash val="solid"/>
          </a:ln>
        </p:spPr>
      </p:sp>
      <p:sp>
        <p:nvSpPr>
          <p:cNvPr id="19" name="Text 16"/>
          <p:cNvSpPr/>
          <p:nvPr/>
        </p:nvSpPr>
        <p:spPr>
          <a:xfrm>
            <a:off x="8257032" y="5875020"/>
            <a:ext cx="347472" cy="210312"/>
          </a:xfrm>
          <a:prstGeom prst="rect">
            <a:avLst/>
          </a:prstGeom>
          <a:noFill/>
          <a:ln/>
        </p:spPr>
        <p:txBody>
          <a:bodyPr wrap="square" lIns="0" tIns="0" rIns="0" bIns="0" rtlCol="0" anchor="t"/>
          <a:lstStyle/>
          <a:p>
            <a:pPr algn="ctr" indent="0" marL="0">
              <a:lnSpc>
                <a:spcPct val="106000"/>
              </a:lnSpc>
              <a:buNone/>
            </a:pPr>
            <a:r>
              <a:rPr lang="en-US" sz="1000" b="1" dirty="0">
                <a:solidFill>
                  <a:srgbClr val="FFFEFA"/>
                </a:solidFill>
                <a:latin typeface="Inter" pitchFamily="34" charset="0"/>
                <a:ea typeface="Inter" pitchFamily="34" charset="-122"/>
                <a:cs typeface="Inter" pitchFamily="34" charset="-120"/>
              </a:rPr>
              <a:t>03</a:t>
            </a:r>
            <a:endParaRPr lang="en-US" sz="1000" dirty="0"/>
          </a:p>
        </p:txBody>
      </p:sp>
      <p:sp>
        <p:nvSpPr>
          <p:cNvPr id="20" name="Text 17"/>
          <p:cNvSpPr/>
          <p:nvPr/>
        </p:nvSpPr>
        <p:spPr>
          <a:xfrm>
            <a:off x="8741664" y="5815584"/>
            <a:ext cx="3035808" cy="182880"/>
          </a:xfrm>
          <a:prstGeom prst="rect">
            <a:avLst/>
          </a:prstGeom>
          <a:noFill/>
          <a:ln/>
        </p:spPr>
        <p:txBody>
          <a:bodyPr wrap="square" lIns="0" tIns="0" rIns="0" bIns="0" rtlCol="0" anchor="t"/>
          <a:lstStyle/>
          <a:p>
            <a:pPr indent="0" marL="0">
              <a:lnSpc>
                <a:spcPct val="106000"/>
              </a:lnSpc>
              <a:buNone/>
            </a:pPr>
            <a:r>
              <a:rPr lang="en-US" sz="1070" b="1" dirty="0">
                <a:solidFill>
                  <a:srgbClr val="193F35"/>
                </a:solidFill>
                <a:latin typeface="Inter" pitchFamily="34" charset="0"/>
                <a:ea typeface="Inter" pitchFamily="34" charset="-122"/>
                <a:cs typeface="Inter" pitchFamily="34" charset="-120"/>
              </a:rPr>
              <a:t>A choice that leads to action</a:t>
            </a:r>
            <a:endParaRPr lang="en-US" sz="1070" dirty="0"/>
          </a:p>
        </p:txBody>
      </p:sp>
      <p:sp>
        <p:nvSpPr>
          <p:cNvPr id="21" name="Text 18"/>
          <p:cNvSpPr/>
          <p:nvPr/>
        </p:nvSpPr>
        <p:spPr>
          <a:xfrm>
            <a:off x="8741664" y="6089904"/>
            <a:ext cx="3035808" cy="164592"/>
          </a:xfrm>
          <a:prstGeom prst="rect">
            <a:avLst/>
          </a:prstGeom>
          <a:noFill/>
          <a:ln/>
        </p:spPr>
        <p:txBody>
          <a:bodyPr wrap="square" lIns="0" tIns="0" rIns="0" bIns="0" rtlCol="0" anchor="t"/>
          <a:lstStyle/>
          <a:p>
            <a:pPr indent="0" marL="0">
              <a:lnSpc>
                <a:spcPct val="106000"/>
              </a:lnSpc>
              <a:buNone/>
            </a:pPr>
            <a:r>
              <a:rPr lang="en-US" sz="900" dirty="0">
                <a:solidFill>
                  <a:srgbClr val="68776D"/>
                </a:solidFill>
                <a:latin typeface="Inter" pitchFamily="34" charset="0"/>
                <a:ea typeface="Inter" pitchFamily="34" charset="-122"/>
                <a:cs typeface="Inter" pitchFamily="34" charset="-120"/>
              </a:rPr>
              <a:t>Plan it, cook it, save it, or adapt it.</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0"/>
        </a:solidFill>
      </p:bgPr>
    </p:bg>
    <p:spTree>
      <p:nvGrpSpPr>
        <p:cNvPr id="1" name=""/>
        <p:cNvGrpSpPr/>
        <p:nvPr/>
      </p:nvGrpSpPr>
      <p:grpSpPr>
        <a:xfrm>
          <a:off x="0" y="0"/>
          <a:ext cx="0" cy="0"/>
          <a:chOff x="0" y="0"/>
          <a:chExt cx="0" cy="0"/>
        </a:xfrm>
      </p:grpSpPr>
      <p:sp>
        <p:nvSpPr>
          <p:cNvPr id="2" name="Text 0"/>
          <p:cNvSpPr/>
          <p:nvPr/>
        </p:nvSpPr>
        <p:spPr>
          <a:xfrm>
            <a:off x="502920" y="320040"/>
            <a:ext cx="9144000" cy="182880"/>
          </a:xfrm>
          <a:prstGeom prst="rect">
            <a:avLst/>
          </a:prstGeom>
          <a:noFill/>
          <a:ln/>
        </p:spPr>
        <p:txBody>
          <a:bodyPr wrap="square" lIns="0" tIns="0" rIns="0" bIns="0" rtlCol="0" anchor="t"/>
          <a:lstStyle/>
          <a:p>
            <a:pPr indent="0" marL="0">
              <a:lnSpc>
                <a:spcPct val="106000"/>
              </a:lnSpc>
              <a:buNone/>
            </a:pPr>
            <a:r>
              <a:rPr lang="en-US" sz="850" b="1" spc="165" kern="0" dirty="0">
                <a:solidFill>
                  <a:srgbClr val="68776D"/>
                </a:solidFill>
                <a:latin typeface="Inter" pitchFamily="34" charset="0"/>
                <a:ea typeface="Inter" pitchFamily="34" charset="-122"/>
                <a:cs typeface="Inter" pitchFamily="34" charset="-120"/>
              </a:rPr>
              <a:t>LUNCHBOX  /  SCREEN 02 / MEAL PLANNING</a:t>
            </a:r>
            <a:endParaRPr lang="en-US" sz="850" dirty="0"/>
          </a:p>
        </p:txBody>
      </p:sp>
      <p:sp>
        <p:nvSpPr>
          <p:cNvPr id="3" name="Text 1"/>
          <p:cNvSpPr/>
          <p:nvPr/>
        </p:nvSpPr>
        <p:spPr>
          <a:xfrm>
            <a:off x="502920" y="749808"/>
            <a:ext cx="11155680" cy="658368"/>
          </a:xfrm>
          <a:prstGeom prst="rect">
            <a:avLst/>
          </a:prstGeom>
          <a:noFill/>
          <a:ln/>
        </p:spPr>
        <p:txBody>
          <a:bodyPr wrap="square" lIns="0" tIns="0" rIns="0" bIns="0" rtlCol="0" anchor="t"/>
          <a:lstStyle/>
          <a:p>
            <a:pPr indent="0" marL="0">
              <a:lnSpc>
                <a:spcPct val="106000"/>
              </a:lnSpc>
              <a:buNone/>
            </a:pPr>
            <a:r>
              <a:rPr lang="en-US" sz="3100" b="1" spc="-125" kern="0" dirty="0">
                <a:solidFill>
                  <a:srgbClr val="193F35"/>
                </a:solidFill>
                <a:latin typeface="Inter" pitchFamily="34" charset="0"/>
                <a:ea typeface="Inter" pitchFamily="34" charset="-122"/>
                <a:cs typeface="Inter" pitchFamily="34" charset="-120"/>
              </a:rPr>
              <a:t>Plan enough. Leave room for life.</a:t>
            </a:r>
            <a:endParaRPr lang="en-US" sz="3100" dirty="0"/>
          </a:p>
        </p:txBody>
      </p:sp>
      <p:sp>
        <p:nvSpPr>
          <p:cNvPr id="4" name="Text 2"/>
          <p:cNvSpPr/>
          <p:nvPr/>
        </p:nvSpPr>
        <p:spPr>
          <a:xfrm>
            <a:off x="530352" y="1472184"/>
            <a:ext cx="10789920" cy="457200"/>
          </a:xfrm>
          <a:prstGeom prst="rect">
            <a:avLst/>
          </a:prstGeom>
          <a:noFill/>
          <a:ln/>
        </p:spPr>
        <p:txBody>
          <a:bodyPr wrap="square" lIns="0" tIns="0" rIns="0" bIns="0" rtlCol="0" anchor="t"/>
          <a:lstStyle/>
          <a:p>
            <a:pPr indent="0" marL="0">
              <a:lnSpc>
                <a:spcPct val="106000"/>
              </a:lnSpc>
              <a:buNone/>
            </a:pPr>
            <a:r>
              <a:rPr lang="en-US" sz="1200" dirty="0">
                <a:solidFill>
                  <a:srgbClr val="68776D"/>
                </a:solidFill>
                <a:latin typeface="Inter" pitchFamily="34" charset="0"/>
                <a:ea typeface="Inter" pitchFamily="34" charset="-122"/>
                <a:cs typeface="Inter" pitchFamily="34" charset="-120"/>
              </a:rPr>
              <a:t>Batch the decisions without pretending every breakfast, lunch and dinner must be optimized.</a:t>
            </a:r>
            <a:endParaRPr lang="en-US" sz="1200" dirty="0"/>
          </a:p>
        </p:txBody>
      </p:sp>
      <p:sp>
        <p:nvSpPr>
          <p:cNvPr id="5" name="Shape 3"/>
          <p:cNvSpPr/>
          <p:nvPr/>
        </p:nvSpPr>
        <p:spPr>
          <a:xfrm>
            <a:off x="502920" y="6455664"/>
            <a:ext cx="11183112" cy="0"/>
          </a:xfrm>
          <a:prstGeom prst="line">
            <a:avLst/>
          </a:prstGeom>
          <a:noFill/>
          <a:ln w="8890">
            <a:solidFill>
              <a:srgbClr val="E0E4D9"/>
            </a:solidFill>
            <a:prstDash val="solid"/>
          </a:ln>
        </p:spPr>
      </p:sp>
      <p:sp>
        <p:nvSpPr>
          <p:cNvPr id="6" name="Text 4"/>
          <p:cNvSpPr/>
          <p:nvPr/>
        </p:nvSpPr>
        <p:spPr>
          <a:xfrm>
            <a:off x="512064" y="6565392"/>
            <a:ext cx="6400800" cy="118872"/>
          </a:xfrm>
          <a:prstGeom prst="rect">
            <a:avLst/>
          </a:prstGeom>
          <a:noFill/>
          <a:ln/>
        </p:spPr>
        <p:txBody>
          <a:bodyPr wrap="square" lIns="0" tIns="0" rIns="0" bIns="0" rtlCol="0" anchor="t"/>
          <a:lstStyle/>
          <a:p>
            <a:pPr indent="0" marL="0">
              <a:lnSpc>
                <a:spcPct val="106000"/>
              </a:lnSpc>
              <a:buNone/>
            </a:pPr>
            <a:r>
              <a:rPr lang="en-US" sz="730" spc="90" kern="0" dirty="0">
                <a:solidFill>
                  <a:srgbClr val="68776D"/>
                </a:solidFill>
                <a:latin typeface="Inter" pitchFamily="34" charset="0"/>
                <a:ea typeface="Inter" pitchFamily="34" charset="-122"/>
                <a:cs typeface="Inter" pitchFamily="34" charset="-120"/>
              </a:rPr>
              <a:t>CONCEPT PORTFOLIO · SEPTEMBER 2026</a:t>
            </a:r>
            <a:endParaRPr lang="en-US" sz="730" dirty="0"/>
          </a:p>
        </p:txBody>
      </p:sp>
      <p:sp>
        <p:nvSpPr>
          <p:cNvPr id="7" name="Text 5"/>
          <p:cNvSpPr/>
          <p:nvPr/>
        </p:nvSpPr>
        <p:spPr>
          <a:xfrm>
            <a:off x="11155680" y="6537960"/>
            <a:ext cx="530352" cy="155448"/>
          </a:xfrm>
          <a:prstGeom prst="rect">
            <a:avLst/>
          </a:prstGeom>
          <a:noFill/>
          <a:ln/>
        </p:spPr>
        <p:txBody>
          <a:bodyPr wrap="square" lIns="0" tIns="0" rIns="0" bIns="0" rtlCol="0" anchor="t"/>
          <a:lstStyle/>
          <a:p>
            <a:pPr algn="r" indent="0" marL="0">
              <a:lnSpc>
                <a:spcPct val="106000"/>
              </a:lnSpc>
              <a:buNone/>
            </a:pPr>
            <a:r>
              <a:rPr lang="en-US" sz="900" b="1" dirty="0">
                <a:solidFill>
                  <a:srgbClr val="193F35"/>
                </a:solidFill>
                <a:latin typeface="Inter" pitchFamily="34" charset="0"/>
                <a:ea typeface="Inter" pitchFamily="34" charset="-122"/>
                <a:cs typeface="Inter" pitchFamily="34" charset="-120"/>
              </a:rPr>
              <a:t>06</a:t>
            </a:r>
            <a:endParaRPr lang="en-US" sz="900" dirty="0"/>
          </a:p>
        </p:txBody>
      </p:sp>
      <p:sp>
        <p:nvSpPr>
          <p:cNvPr id="8" name="Shape 6"/>
          <p:cNvSpPr/>
          <p:nvPr/>
        </p:nvSpPr>
        <p:spPr>
          <a:xfrm>
            <a:off x="539496" y="2011680"/>
            <a:ext cx="8156448" cy="4151376"/>
          </a:xfrm>
          <a:prstGeom prst="roundRect">
            <a:avLst>
              <a:gd name="adj" fmla="val 2863"/>
            </a:avLst>
          </a:prstGeom>
          <a:solidFill>
            <a:srgbClr val="FFFEFA"/>
          </a:solidFill>
          <a:ln w="8890">
            <a:solidFill>
              <a:srgbClr val="E0E4D9"/>
            </a:solidFill>
            <a:prstDash val="solid"/>
          </a:ln>
        </p:spPr>
      </p:sp>
      <p:pic>
        <p:nvPicPr>
          <p:cNvPr id="9" name="Image 0" descr="/mnt/data/lunchbox_work/focus_plan.png">    </p:cNvPr>
          <p:cNvPicPr>
            <a:picLocks noChangeAspect="1"/>
          </p:cNvPicPr>
          <p:nvPr/>
        </p:nvPicPr>
        <p:blipFill>
          <a:blip r:embed="rId1"/>
          <a:stretch>
            <a:fillRect/>
          </a:stretch>
        </p:blipFill>
        <p:spPr>
          <a:xfrm>
            <a:off x="1683184" y="2029968"/>
            <a:ext cx="5850783" cy="4096512"/>
          </a:xfrm>
          <a:prstGeom prst="rect">
            <a:avLst/>
          </a:prstGeom>
        </p:spPr>
      </p:pic>
      <p:sp>
        <p:nvSpPr>
          <p:cNvPr id="10" name="Text 7"/>
          <p:cNvSpPr/>
          <p:nvPr/>
        </p:nvSpPr>
        <p:spPr>
          <a:xfrm>
            <a:off x="9015984" y="2212848"/>
            <a:ext cx="2578608" cy="182880"/>
          </a:xfrm>
          <a:prstGeom prst="rect">
            <a:avLst/>
          </a:prstGeom>
          <a:noFill/>
          <a:ln/>
        </p:spPr>
        <p:txBody>
          <a:bodyPr wrap="square" lIns="0" tIns="0" rIns="0" bIns="0" rtlCol="0" anchor="t"/>
          <a:lstStyle/>
          <a:p>
            <a:pPr indent="0" marL="0">
              <a:lnSpc>
                <a:spcPct val="106000"/>
              </a:lnSpc>
              <a:buNone/>
            </a:pPr>
            <a:r>
              <a:rPr lang="en-US" sz="850" b="1" spc="165" kern="0" dirty="0">
                <a:solidFill>
                  <a:srgbClr val="68776D"/>
                </a:solidFill>
                <a:latin typeface="Inter" pitchFamily="34" charset="0"/>
                <a:ea typeface="Inter" pitchFamily="34" charset="-122"/>
                <a:cs typeface="Inter" pitchFamily="34" charset="-120"/>
              </a:rPr>
              <a:t>01 / KEEP CONTROL</a:t>
            </a:r>
            <a:endParaRPr lang="en-US" sz="850" dirty="0"/>
          </a:p>
        </p:txBody>
      </p:sp>
      <p:sp>
        <p:nvSpPr>
          <p:cNvPr id="11" name="Text 8"/>
          <p:cNvSpPr/>
          <p:nvPr/>
        </p:nvSpPr>
        <p:spPr>
          <a:xfrm>
            <a:off x="9015984" y="2487168"/>
            <a:ext cx="2578608" cy="914400"/>
          </a:xfrm>
          <a:prstGeom prst="rect">
            <a:avLst/>
          </a:prstGeom>
          <a:noFill/>
          <a:ln/>
        </p:spPr>
        <p:txBody>
          <a:bodyPr wrap="square" lIns="0" tIns="0" rIns="0" bIns="0" rtlCol="0" anchor="t"/>
          <a:lstStyle/>
          <a:p>
            <a:pPr indent="0" marL="0">
              <a:lnSpc>
                <a:spcPct val="106000"/>
              </a:lnSpc>
              <a:buNone/>
            </a:pPr>
            <a:r>
              <a:rPr lang="en-US" sz="1500" b="1" spc="-40" kern="0" dirty="0">
                <a:solidFill>
                  <a:srgbClr val="193F35"/>
                </a:solidFill>
                <a:latin typeface="Inter" pitchFamily="34" charset="0"/>
                <a:ea typeface="Inter" pitchFamily="34" charset="-122"/>
                <a:cs typeface="Inter" pitchFamily="34" charset="-120"/>
              </a:rPr>
              <a:t>Fill empty slots.</a:t>
            </a:r>
            <a:endParaRPr lang="en-US" sz="1500" dirty="0"/>
          </a:p>
          <a:p>
            <a:pPr indent="0" marL="0">
              <a:lnSpc>
                <a:spcPct val="106000"/>
              </a:lnSpc>
              <a:buNone/>
            </a:pPr>
            <a:r>
              <a:rPr lang="en-US" sz="1500" b="1" spc="-40" kern="0" dirty="0">
                <a:solidFill>
                  <a:srgbClr val="193F35"/>
                </a:solidFill>
                <a:latin typeface="Inter" pitchFamily="34" charset="0"/>
                <a:ea typeface="Inter" pitchFamily="34" charset="-122"/>
                <a:cs typeface="Inter" pitchFamily="34" charset="-120"/>
              </a:rPr>
              <a:t>Keep locked meals.</a:t>
            </a:r>
            <a:endParaRPr lang="en-US" sz="1500" dirty="0"/>
          </a:p>
        </p:txBody>
      </p:sp>
      <p:sp>
        <p:nvSpPr>
          <p:cNvPr id="12" name="Text 9"/>
          <p:cNvSpPr/>
          <p:nvPr/>
        </p:nvSpPr>
        <p:spPr>
          <a:xfrm>
            <a:off x="9015984" y="3035808"/>
            <a:ext cx="2542032" cy="731520"/>
          </a:xfrm>
          <a:prstGeom prst="rect">
            <a:avLst/>
          </a:prstGeom>
          <a:noFill/>
          <a:ln/>
        </p:spPr>
        <p:txBody>
          <a:bodyPr wrap="square" lIns="0" tIns="0" rIns="0" bIns="0" rtlCol="0" anchor="t"/>
          <a:lstStyle/>
          <a:p>
            <a:pPr indent="0" marL="0">
              <a:lnSpc>
                <a:spcPct val="106000"/>
              </a:lnSpc>
              <a:buNone/>
            </a:pPr>
            <a:r>
              <a:rPr lang="en-US" sz="1140" dirty="0">
                <a:solidFill>
                  <a:srgbClr val="68776D"/>
                </a:solidFill>
                <a:latin typeface="Inter" pitchFamily="34" charset="0"/>
                <a:ea typeface="Inter" pitchFamily="34" charset="-122"/>
                <a:cs typeface="Inter" pitchFamily="34" charset="-120"/>
              </a:rPr>
              <a:t>Generate a proposal, then review it. Do not silently replace plans the household already made.</a:t>
            </a:r>
            <a:endParaRPr lang="en-US" sz="1140" dirty="0"/>
          </a:p>
        </p:txBody>
      </p:sp>
      <p:sp>
        <p:nvSpPr>
          <p:cNvPr id="13" name="Text 10"/>
          <p:cNvSpPr/>
          <p:nvPr/>
        </p:nvSpPr>
        <p:spPr>
          <a:xfrm>
            <a:off x="9015984" y="4114800"/>
            <a:ext cx="2560320" cy="182880"/>
          </a:xfrm>
          <a:prstGeom prst="rect">
            <a:avLst/>
          </a:prstGeom>
          <a:noFill/>
          <a:ln/>
        </p:spPr>
        <p:txBody>
          <a:bodyPr wrap="square" lIns="0" tIns="0" rIns="0" bIns="0" rtlCol="0" anchor="t"/>
          <a:lstStyle/>
          <a:p>
            <a:pPr indent="0" marL="0">
              <a:lnSpc>
                <a:spcPct val="106000"/>
              </a:lnSpc>
              <a:buNone/>
            </a:pPr>
            <a:r>
              <a:rPr lang="en-US" sz="850" b="1" spc="165" kern="0" dirty="0">
                <a:solidFill>
                  <a:srgbClr val="68776D"/>
                </a:solidFill>
                <a:latin typeface="Inter" pitchFamily="34" charset="0"/>
                <a:ea typeface="Inter" pitchFamily="34" charset="-122"/>
                <a:cs typeface="Inter" pitchFamily="34" charset="-120"/>
              </a:rPr>
              <a:t>02 / SEE THE CONSEQUENCE</a:t>
            </a:r>
            <a:endParaRPr lang="en-US" sz="850" dirty="0"/>
          </a:p>
        </p:txBody>
      </p:sp>
      <p:sp>
        <p:nvSpPr>
          <p:cNvPr id="14" name="Text 11"/>
          <p:cNvSpPr/>
          <p:nvPr/>
        </p:nvSpPr>
        <p:spPr>
          <a:xfrm>
            <a:off x="9015984" y="4389120"/>
            <a:ext cx="2560320" cy="914400"/>
          </a:xfrm>
          <a:prstGeom prst="rect">
            <a:avLst/>
          </a:prstGeom>
          <a:noFill/>
          <a:ln/>
        </p:spPr>
        <p:txBody>
          <a:bodyPr wrap="square" lIns="0" tIns="0" rIns="0" bIns="0" rtlCol="0" anchor="t"/>
          <a:lstStyle/>
          <a:p>
            <a:pPr indent="0" marL="0">
              <a:lnSpc>
                <a:spcPct val="106000"/>
              </a:lnSpc>
              <a:buNone/>
            </a:pPr>
            <a:r>
              <a:rPr lang="en-US" sz="1500" b="1" spc="-40" kern="0" dirty="0">
                <a:solidFill>
                  <a:srgbClr val="193F35"/>
                </a:solidFill>
                <a:latin typeface="Inter" pitchFamily="34" charset="0"/>
                <a:ea typeface="Inter" pitchFamily="34" charset="-122"/>
                <a:cs typeface="Inter" pitchFamily="34" charset="-120"/>
              </a:rPr>
              <a:t>One edit updates</a:t>
            </a:r>
            <a:endParaRPr lang="en-US" sz="1500" dirty="0"/>
          </a:p>
          <a:p>
            <a:pPr indent="0" marL="0">
              <a:lnSpc>
                <a:spcPct val="106000"/>
              </a:lnSpc>
              <a:buNone/>
            </a:pPr>
            <a:r>
              <a:rPr lang="en-US" sz="1500" b="1" spc="-40" kern="0" dirty="0">
                <a:solidFill>
                  <a:srgbClr val="193F35"/>
                </a:solidFill>
                <a:latin typeface="Inter" pitchFamily="34" charset="0"/>
                <a:ea typeface="Inter" pitchFamily="34" charset="-122"/>
                <a:cs typeface="Inter" pitchFamily="34" charset="-120"/>
              </a:rPr>
              <a:t>the connected plan.</a:t>
            </a:r>
            <a:endParaRPr lang="en-US" sz="1500" dirty="0"/>
          </a:p>
        </p:txBody>
      </p:sp>
      <p:sp>
        <p:nvSpPr>
          <p:cNvPr id="15" name="Text 12"/>
          <p:cNvSpPr/>
          <p:nvPr/>
        </p:nvSpPr>
        <p:spPr>
          <a:xfrm>
            <a:off x="9015984" y="4937760"/>
            <a:ext cx="2542032" cy="749808"/>
          </a:xfrm>
          <a:prstGeom prst="rect">
            <a:avLst/>
          </a:prstGeom>
          <a:noFill/>
          <a:ln/>
        </p:spPr>
        <p:txBody>
          <a:bodyPr wrap="square" lIns="0" tIns="0" rIns="0" bIns="0" rtlCol="0" anchor="t"/>
          <a:lstStyle/>
          <a:p>
            <a:pPr indent="0" marL="0">
              <a:lnSpc>
                <a:spcPct val="106000"/>
              </a:lnSpc>
              <a:buNone/>
            </a:pPr>
            <a:r>
              <a:rPr lang="en-US" sz="1140" dirty="0">
                <a:solidFill>
                  <a:srgbClr val="68776D"/>
                </a:solidFill>
                <a:latin typeface="Inter" pitchFamily="34" charset="0"/>
                <a:ea typeface="Inter" pitchFamily="34" charset="-122"/>
                <a:cs typeface="Inter" pitchFamily="34" charset="-120"/>
              </a:rPr>
              <a:t>Rescale servings, swap a recipe, or remove a meal. Reservations and grocery needs follow.</a:t>
            </a:r>
            <a:endParaRPr lang="en-US" sz="114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0"/>
        </a:solidFill>
      </p:bgPr>
    </p:bg>
    <p:spTree>
      <p:nvGrpSpPr>
        <p:cNvPr id="1" name=""/>
        <p:cNvGrpSpPr/>
        <p:nvPr/>
      </p:nvGrpSpPr>
      <p:grpSpPr>
        <a:xfrm>
          <a:off x="0" y="0"/>
          <a:ext cx="0" cy="0"/>
          <a:chOff x="0" y="0"/>
          <a:chExt cx="0" cy="0"/>
        </a:xfrm>
      </p:grpSpPr>
      <p:sp>
        <p:nvSpPr>
          <p:cNvPr id="2" name="Text 0"/>
          <p:cNvSpPr/>
          <p:nvPr/>
        </p:nvSpPr>
        <p:spPr>
          <a:xfrm>
            <a:off x="502920" y="320040"/>
            <a:ext cx="9144000" cy="182880"/>
          </a:xfrm>
          <a:prstGeom prst="rect">
            <a:avLst/>
          </a:prstGeom>
          <a:noFill/>
          <a:ln/>
        </p:spPr>
        <p:txBody>
          <a:bodyPr wrap="square" lIns="0" tIns="0" rIns="0" bIns="0" rtlCol="0" anchor="t"/>
          <a:lstStyle/>
          <a:p>
            <a:pPr indent="0" marL="0">
              <a:lnSpc>
                <a:spcPct val="106000"/>
              </a:lnSpc>
              <a:buNone/>
            </a:pPr>
            <a:r>
              <a:rPr lang="en-US" sz="850" b="1" spc="165" kern="0" dirty="0">
                <a:solidFill>
                  <a:srgbClr val="68776D"/>
                </a:solidFill>
                <a:latin typeface="Inter" pitchFamily="34" charset="0"/>
                <a:ea typeface="Inter" pitchFamily="34" charset="-122"/>
                <a:cs typeface="Inter" pitchFamily="34" charset="-120"/>
              </a:rPr>
              <a:t>LUNCHBOX  /  SCREEN 03 / PANTRY</a:t>
            </a:r>
            <a:endParaRPr lang="en-US" sz="850" dirty="0"/>
          </a:p>
        </p:txBody>
      </p:sp>
      <p:sp>
        <p:nvSpPr>
          <p:cNvPr id="3" name="Text 1"/>
          <p:cNvSpPr/>
          <p:nvPr/>
        </p:nvSpPr>
        <p:spPr>
          <a:xfrm>
            <a:off x="502920" y="749808"/>
            <a:ext cx="11155680" cy="658368"/>
          </a:xfrm>
          <a:prstGeom prst="rect">
            <a:avLst/>
          </a:prstGeom>
          <a:noFill/>
          <a:ln/>
        </p:spPr>
        <p:txBody>
          <a:bodyPr wrap="square" lIns="0" tIns="0" rIns="0" bIns="0" rtlCol="0" anchor="t"/>
          <a:lstStyle/>
          <a:p>
            <a:pPr indent="0" marL="0">
              <a:lnSpc>
                <a:spcPct val="106000"/>
              </a:lnSpc>
              <a:buNone/>
            </a:pPr>
            <a:r>
              <a:rPr lang="en-US" sz="3100" b="1" spc="-125" kern="0" dirty="0">
                <a:solidFill>
                  <a:srgbClr val="193F35"/>
                </a:solidFill>
                <a:latin typeface="Inter" pitchFamily="34" charset="0"/>
                <a:ea typeface="Inter" pitchFamily="34" charset="-122"/>
                <a:cs typeface="Inter" pitchFamily="34" charset="-120"/>
              </a:rPr>
              <a:t>Useful inventory, not another chore.</a:t>
            </a:r>
            <a:endParaRPr lang="en-US" sz="3100" dirty="0"/>
          </a:p>
        </p:txBody>
      </p:sp>
      <p:sp>
        <p:nvSpPr>
          <p:cNvPr id="4" name="Text 2"/>
          <p:cNvSpPr/>
          <p:nvPr/>
        </p:nvSpPr>
        <p:spPr>
          <a:xfrm>
            <a:off x="530352" y="1472184"/>
            <a:ext cx="10789920" cy="457200"/>
          </a:xfrm>
          <a:prstGeom prst="rect">
            <a:avLst/>
          </a:prstGeom>
          <a:noFill/>
          <a:ln/>
        </p:spPr>
        <p:txBody>
          <a:bodyPr wrap="square" lIns="0" tIns="0" rIns="0" bIns="0" rtlCol="0" anchor="t"/>
          <a:lstStyle/>
          <a:p>
            <a:pPr indent="0" marL="0">
              <a:lnSpc>
                <a:spcPct val="106000"/>
              </a:lnSpc>
              <a:buNone/>
            </a:pPr>
            <a:r>
              <a:rPr lang="en-US" sz="1200" dirty="0">
                <a:solidFill>
                  <a:srgbClr val="68776D"/>
                </a:solidFill>
                <a:latin typeface="Inter" pitchFamily="34" charset="0"/>
                <a:ea typeface="Inter" pitchFamily="34" charset="-122"/>
                <a:cs typeface="Inter" pitchFamily="34" charset="-120"/>
              </a:rPr>
              <a:t>Accuracy matters. So does making correction easier than abandoning the system.</a:t>
            </a:r>
            <a:endParaRPr lang="en-US" sz="1200" dirty="0"/>
          </a:p>
        </p:txBody>
      </p:sp>
      <p:sp>
        <p:nvSpPr>
          <p:cNvPr id="5" name="Shape 3"/>
          <p:cNvSpPr/>
          <p:nvPr/>
        </p:nvSpPr>
        <p:spPr>
          <a:xfrm>
            <a:off x="502920" y="6455664"/>
            <a:ext cx="11183112" cy="0"/>
          </a:xfrm>
          <a:prstGeom prst="line">
            <a:avLst/>
          </a:prstGeom>
          <a:noFill/>
          <a:ln w="8890">
            <a:solidFill>
              <a:srgbClr val="E0E4D9"/>
            </a:solidFill>
            <a:prstDash val="solid"/>
          </a:ln>
        </p:spPr>
      </p:sp>
      <p:sp>
        <p:nvSpPr>
          <p:cNvPr id="6" name="Text 4"/>
          <p:cNvSpPr/>
          <p:nvPr/>
        </p:nvSpPr>
        <p:spPr>
          <a:xfrm>
            <a:off x="512064" y="6565392"/>
            <a:ext cx="6400800" cy="118872"/>
          </a:xfrm>
          <a:prstGeom prst="rect">
            <a:avLst/>
          </a:prstGeom>
          <a:noFill/>
          <a:ln/>
        </p:spPr>
        <p:txBody>
          <a:bodyPr wrap="square" lIns="0" tIns="0" rIns="0" bIns="0" rtlCol="0" anchor="t"/>
          <a:lstStyle/>
          <a:p>
            <a:pPr indent="0" marL="0">
              <a:lnSpc>
                <a:spcPct val="106000"/>
              </a:lnSpc>
              <a:buNone/>
            </a:pPr>
            <a:r>
              <a:rPr lang="en-US" sz="730" spc="90" kern="0" dirty="0">
                <a:solidFill>
                  <a:srgbClr val="68776D"/>
                </a:solidFill>
                <a:latin typeface="Inter" pitchFamily="34" charset="0"/>
                <a:ea typeface="Inter" pitchFamily="34" charset="-122"/>
                <a:cs typeface="Inter" pitchFamily="34" charset="-120"/>
              </a:rPr>
              <a:t>CONCEPT PORTFOLIO · SEPTEMBER 2026</a:t>
            </a:r>
            <a:endParaRPr lang="en-US" sz="730" dirty="0"/>
          </a:p>
        </p:txBody>
      </p:sp>
      <p:sp>
        <p:nvSpPr>
          <p:cNvPr id="7" name="Text 5"/>
          <p:cNvSpPr/>
          <p:nvPr/>
        </p:nvSpPr>
        <p:spPr>
          <a:xfrm>
            <a:off x="11155680" y="6537960"/>
            <a:ext cx="530352" cy="155448"/>
          </a:xfrm>
          <a:prstGeom prst="rect">
            <a:avLst/>
          </a:prstGeom>
          <a:noFill/>
          <a:ln/>
        </p:spPr>
        <p:txBody>
          <a:bodyPr wrap="square" lIns="0" tIns="0" rIns="0" bIns="0" rtlCol="0" anchor="t"/>
          <a:lstStyle/>
          <a:p>
            <a:pPr algn="r" indent="0" marL="0">
              <a:lnSpc>
                <a:spcPct val="106000"/>
              </a:lnSpc>
              <a:buNone/>
            </a:pPr>
            <a:r>
              <a:rPr lang="en-US" sz="900" b="1" dirty="0">
                <a:solidFill>
                  <a:srgbClr val="193F35"/>
                </a:solidFill>
                <a:latin typeface="Inter" pitchFamily="34" charset="0"/>
                <a:ea typeface="Inter" pitchFamily="34" charset="-122"/>
                <a:cs typeface="Inter" pitchFamily="34" charset="-120"/>
              </a:rPr>
              <a:t>07</a:t>
            </a:r>
            <a:endParaRPr lang="en-US" sz="900" dirty="0"/>
          </a:p>
        </p:txBody>
      </p:sp>
      <p:sp>
        <p:nvSpPr>
          <p:cNvPr id="8" name="Shape 6"/>
          <p:cNvSpPr/>
          <p:nvPr/>
        </p:nvSpPr>
        <p:spPr>
          <a:xfrm>
            <a:off x="548640" y="2029968"/>
            <a:ext cx="5632704" cy="4197096"/>
          </a:xfrm>
          <a:prstGeom prst="roundRect">
            <a:avLst>
              <a:gd name="adj" fmla="val 2832"/>
            </a:avLst>
          </a:prstGeom>
          <a:solidFill>
            <a:srgbClr val="FFFEFA"/>
          </a:solidFill>
          <a:ln w="8890">
            <a:solidFill>
              <a:srgbClr val="E0E4D9"/>
            </a:solidFill>
            <a:prstDash val="solid"/>
          </a:ln>
        </p:spPr>
      </p:sp>
      <p:pic>
        <p:nvPicPr>
          <p:cNvPr id="9" name="Image 0" descr="/mnt/data/lunchbox_work/focus_pantry.png">    </p:cNvPr>
          <p:cNvPicPr>
            <a:picLocks noChangeAspect="1"/>
          </p:cNvPicPr>
          <p:nvPr/>
        </p:nvPicPr>
        <p:blipFill>
          <a:blip r:embed="rId1"/>
          <a:stretch>
            <a:fillRect/>
          </a:stretch>
        </p:blipFill>
        <p:spPr>
          <a:xfrm>
            <a:off x="1011647" y="2057400"/>
            <a:ext cx="4706690" cy="4114800"/>
          </a:xfrm>
          <a:prstGeom prst="rect">
            <a:avLst/>
          </a:prstGeom>
        </p:spPr>
      </p:pic>
      <p:sp>
        <p:nvSpPr>
          <p:cNvPr id="10" name="Shape 7"/>
          <p:cNvSpPr/>
          <p:nvPr/>
        </p:nvSpPr>
        <p:spPr>
          <a:xfrm>
            <a:off x="6537960" y="2249424"/>
            <a:ext cx="347472" cy="347472"/>
          </a:xfrm>
          <a:prstGeom prst="roundRect">
            <a:avLst>
              <a:gd name="adj" fmla="val 28947"/>
            </a:avLst>
          </a:prstGeom>
          <a:solidFill>
            <a:srgbClr val="244D40"/>
          </a:solidFill>
          <a:ln w="12700">
            <a:solidFill>
              <a:srgbClr val="244D40"/>
            </a:solidFill>
            <a:prstDash val="solid"/>
          </a:ln>
        </p:spPr>
      </p:sp>
      <p:sp>
        <p:nvSpPr>
          <p:cNvPr id="11" name="Text 8"/>
          <p:cNvSpPr/>
          <p:nvPr/>
        </p:nvSpPr>
        <p:spPr>
          <a:xfrm>
            <a:off x="6537960" y="2308860"/>
            <a:ext cx="347472" cy="210312"/>
          </a:xfrm>
          <a:prstGeom prst="rect">
            <a:avLst/>
          </a:prstGeom>
          <a:noFill/>
          <a:ln/>
        </p:spPr>
        <p:txBody>
          <a:bodyPr wrap="square" lIns="0" tIns="0" rIns="0" bIns="0" rtlCol="0" anchor="t"/>
          <a:lstStyle/>
          <a:p>
            <a:pPr algn="ctr" indent="0" marL="0">
              <a:lnSpc>
                <a:spcPct val="106000"/>
              </a:lnSpc>
              <a:buNone/>
            </a:pPr>
            <a:r>
              <a:rPr lang="en-US" sz="1000" b="1" dirty="0">
                <a:solidFill>
                  <a:srgbClr val="FFFEFA"/>
                </a:solidFill>
                <a:latin typeface="Inter" pitchFamily="34" charset="0"/>
                <a:ea typeface="Inter" pitchFamily="34" charset="-122"/>
                <a:cs typeface="Inter" pitchFamily="34" charset="-120"/>
              </a:rPr>
              <a:t>01</a:t>
            </a:r>
            <a:endParaRPr lang="en-US" sz="1000" dirty="0"/>
          </a:p>
        </p:txBody>
      </p:sp>
      <p:sp>
        <p:nvSpPr>
          <p:cNvPr id="12" name="Text 9"/>
          <p:cNvSpPr/>
          <p:nvPr/>
        </p:nvSpPr>
        <p:spPr>
          <a:xfrm>
            <a:off x="7068312" y="2249424"/>
            <a:ext cx="4480560" cy="320040"/>
          </a:xfrm>
          <a:prstGeom prst="rect">
            <a:avLst/>
          </a:prstGeom>
          <a:noFill/>
          <a:ln/>
        </p:spPr>
        <p:txBody>
          <a:bodyPr wrap="square" lIns="0" tIns="0" rIns="0" bIns="0" rtlCol="0" anchor="t"/>
          <a:lstStyle/>
          <a:p>
            <a:pPr indent="0" marL="0">
              <a:lnSpc>
                <a:spcPct val="106000"/>
              </a:lnSpc>
              <a:buNone/>
            </a:pPr>
            <a:r>
              <a:rPr lang="en-US" sz="1800" b="1" spc="-40" kern="0" dirty="0">
                <a:solidFill>
                  <a:srgbClr val="193F35"/>
                </a:solidFill>
                <a:latin typeface="Inter" pitchFamily="34" charset="0"/>
                <a:ea typeface="Inter" pitchFamily="34" charset="-122"/>
                <a:cs typeface="Inter" pitchFamily="34" charset="-120"/>
              </a:rPr>
              <a:t>Keep the useful details</a:t>
            </a:r>
            <a:endParaRPr lang="en-US" sz="1800" dirty="0"/>
          </a:p>
        </p:txBody>
      </p:sp>
      <p:sp>
        <p:nvSpPr>
          <p:cNvPr id="13" name="Text 10"/>
          <p:cNvSpPr/>
          <p:nvPr/>
        </p:nvSpPr>
        <p:spPr>
          <a:xfrm>
            <a:off x="7068312" y="2706624"/>
            <a:ext cx="4352544" cy="594360"/>
          </a:xfrm>
          <a:prstGeom prst="rect">
            <a:avLst/>
          </a:prstGeom>
          <a:noFill/>
          <a:ln/>
        </p:spPr>
        <p:txBody>
          <a:bodyPr wrap="square" lIns="0" tIns="0" rIns="0" bIns="0" rtlCol="0" anchor="t"/>
          <a:lstStyle/>
          <a:p>
            <a:pPr indent="0" marL="0">
              <a:lnSpc>
                <a:spcPct val="106000"/>
              </a:lnSpc>
              <a:buNone/>
            </a:pPr>
            <a:r>
              <a:rPr lang="en-US" sz="1150" dirty="0">
                <a:solidFill>
                  <a:srgbClr val="68776D"/>
                </a:solidFill>
                <a:latin typeface="Inter" pitchFamily="34" charset="0"/>
                <a:ea typeface="Inter" pitchFamily="34" charset="-122"/>
                <a:cs typeface="Inter" pitchFamily="34" charset="-120"/>
              </a:rPr>
              <a:t>Amount, unit, storage, source, and freshness reminder. Add an opened date or batch only when it helps.</a:t>
            </a:r>
            <a:endParaRPr lang="en-US" sz="1150" dirty="0"/>
          </a:p>
        </p:txBody>
      </p:sp>
      <p:sp>
        <p:nvSpPr>
          <p:cNvPr id="14" name="Shape 11"/>
          <p:cNvSpPr/>
          <p:nvPr/>
        </p:nvSpPr>
        <p:spPr>
          <a:xfrm>
            <a:off x="6537960" y="3511296"/>
            <a:ext cx="347472" cy="347472"/>
          </a:xfrm>
          <a:prstGeom prst="roundRect">
            <a:avLst>
              <a:gd name="adj" fmla="val 28947"/>
            </a:avLst>
          </a:prstGeom>
          <a:solidFill>
            <a:srgbClr val="244D40"/>
          </a:solidFill>
          <a:ln w="12700">
            <a:solidFill>
              <a:srgbClr val="244D40"/>
            </a:solidFill>
            <a:prstDash val="solid"/>
          </a:ln>
        </p:spPr>
      </p:sp>
      <p:sp>
        <p:nvSpPr>
          <p:cNvPr id="15" name="Text 12"/>
          <p:cNvSpPr/>
          <p:nvPr/>
        </p:nvSpPr>
        <p:spPr>
          <a:xfrm>
            <a:off x="6537960" y="3570732"/>
            <a:ext cx="347472" cy="210312"/>
          </a:xfrm>
          <a:prstGeom prst="rect">
            <a:avLst/>
          </a:prstGeom>
          <a:noFill/>
          <a:ln/>
        </p:spPr>
        <p:txBody>
          <a:bodyPr wrap="square" lIns="0" tIns="0" rIns="0" bIns="0" rtlCol="0" anchor="t"/>
          <a:lstStyle/>
          <a:p>
            <a:pPr algn="ctr" indent="0" marL="0">
              <a:lnSpc>
                <a:spcPct val="106000"/>
              </a:lnSpc>
              <a:buNone/>
            </a:pPr>
            <a:r>
              <a:rPr lang="en-US" sz="1000" b="1" dirty="0">
                <a:solidFill>
                  <a:srgbClr val="FFFEFA"/>
                </a:solidFill>
                <a:latin typeface="Inter" pitchFamily="34" charset="0"/>
                <a:ea typeface="Inter" pitchFamily="34" charset="-122"/>
                <a:cs typeface="Inter" pitchFamily="34" charset="-120"/>
              </a:rPr>
              <a:t>02</a:t>
            </a:r>
            <a:endParaRPr lang="en-US" sz="1000" dirty="0"/>
          </a:p>
        </p:txBody>
      </p:sp>
      <p:sp>
        <p:nvSpPr>
          <p:cNvPr id="16" name="Text 13"/>
          <p:cNvSpPr/>
          <p:nvPr/>
        </p:nvSpPr>
        <p:spPr>
          <a:xfrm>
            <a:off x="7068312" y="3511296"/>
            <a:ext cx="4480560" cy="320040"/>
          </a:xfrm>
          <a:prstGeom prst="rect">
            <a:avLst/>
          </a:prstGeom>
          <a:noFill/>
          <a:ln/>
        </p:spPr>
        <p:txBody>
          <a:bodyPr wrap="square" lIns="0" tIns="0" rIns="0" bIns="0" rtlCol="0" anchor="t"/>
          <a:lstStyle/>
          <a:p>
            <a:pPr indent="0" marL="0">
              <a:lnSpc>
                <a:spcPct val="106000"/>
              </a:lnSpc>
              <a:buNone/>
            </a:pPr>
            <a:r>
              <a:rPr lang="en-US" sz="1800" b="1" spc="-40" kern="0" dirty="0">
                <a:solidFill>
                  <a:srgbClr val="193F35"/>
                </a:solidFill>
                <a:latin typeface="Inter" pitchFamily="34" charset="0"/>
                <a:ea typeface="Inter" pitchFamily="34" charset="-122"/>
                <a:cs typeface="Inter" pitchFamily="34" charset="-120"/>
              </a:rPr>
              <a:t>Show uncertainty honestly</a:t>
            </a:r>
            <a:endParaRPr lang="en-US" sz="1800" dirty="0"/>
          </a:p>
        </p:txBody>
      </p:sp>
      <p:sp>
        <p:nvSpPr>
          <p:cNvPr id="17" name="Text 14"/>
          <p:cNvSpPr/>
          <p:nvPr/>
        </p:nvSpPr>
        <p:spPr>
          <a:xfrm>
            <a:off x="7068312" y="3968496"/>
            <a:ext cx="4352544" cy="594360"/>
          </a:xfrm>
          <a:prstGeom prst="rect">
            <a:avLst/>
          </a:prstGeom>
          <a:noFill/>
          <a:ln/>
        </p:spPr>
        <p:txBody>
          <a:bodyPr wrap="square" lIns="0" tIns="0" rIns="0" bIns="0" rtlCol="0" anchor="t"/>
          <a:lstStyle/>
          <a:p>
            <a:pPr indent="0" marL="0">
              <a:lnSpc>
                <a:spcPct val="106000"/>
              </a:lnSpc>
              <a:buNone/>
            </a:pPr>
            <a:r>
              <a:rPr lang="en-US" sz="1150" dirty="0">
                <a:solidFill>
                  <a:srgbClr val="68776D"/>
                </a:solidFill>
                <a:latin typeface="Inter" pitchFamily="34" charset="0"/>
                <a:ea typeface="Inter" pitchFamily="34" charset="-122"/>
                <a:cs typeface="Inter" pitchFamily="34" charset="-120"/>
              </a:rPr>
              <a:t>Known, approximate, or unknown. “Unknown” is not “zero,” and a reminder is not a food-safety verdict.</a:t>
            </a:r>
            <a:endParaRPr lang="en-US" sz="1150" dirty="0"/>
          </a:p>
        </p:txBody>
      </p:sp>
      <p:sp>
        <p:nvSpPr>
          <p:cNvPr id="18" name="Shape 15"/>
          <p:cNvSpPr/>
          <p:nvPr/>
        </p:nvSpPr>
        <p:spPr>
          <a:xfrm>
            <a:off x="6537960" y="4773168"/>
            <a:ext cx="347472" cy="347472"/>
          </a:xfrm>
          <a:prstGeom prst="roundRect">
            <a:avLst>
              <a:gd name="adj" fmla="val 28947"/>
            </a:avLst>
          </a:prstGeom>
          <a:solidFill>
            <a:srgbClr val="244D40"/>
          </a:solidFill>
          <a:ln w="12700">
            <a:solidFill>
              <a:srgbClr val="244D40"/>
            </a:solidFill>
            <a:prstDash val="solid"/>
          </a:ln>
        </p:spPr>
      </p:sp>
      <p:sp>
        <p:nvSpPr>
          <p:cNvPr id="19" name="Text 16"/>
          <p:cNvSpPr/>
          <p:nvPr/>
        </p:nvSpPr>
        <p:spPr>
          <a:xfrm>
            <a:off x="6537960" y="4832604"/>
            <a:ext cx="347472" cy="210312"/>
          </a:xfrm>
          <a:prstGeom prst="rect">
            <a:avLst/>
          </a:prstGeom>
          <a:noFill/>
          <a:ln/>
        </p:spPr>
        <p:txBody>
          <a:bodyPr wrap="square" lIns="0" tIns="0" rIns="0" bIns="0" rtlCol="0" anchor="t"/>
          <a:lstStyle/>
          <a:p>
            <a:pPr algn="ctr" indent="0" marL="0">
              <a:lnSpc>
                <a:spcPct val="106000"/>
              </a:lnSpc>
              <a:buNone/>
            </a:pPr>
            <a:r>
              <a:rPr lang="en-US" sz="1000" b="1" dirty="0">
                <a:solidFill>
                  <a:srgbClr val="FFFEFA"/>
                </a:solidFill>
                <a:latin typeface="Inter" pitchFamily="34" charset="0"/>
                <a:ea typeface="Inter" pitchFamily="34" charset="-122"/>
                <a:cs typeface="Inter" pitchFamily="34" charset="-120"/>
              </a:rPr>
              <a:t>03</a:t>
            </a:r>
            <a:endParaRPr lang="en-US" sz="1000" dirty="0"/>
          </a:p>
        </p:txBody>
      </p:sp>
      <p:sp>
        <p:nvSpPr>
          <p:cNvPr id="20" name="Text 17"/>
          <p:cNvSpPr/>
          <p:nvPr/>
        </p:nvSpPr>
        <p:spPr>
          <a:xfrm>
            <a:off x="7068312" y="4773168"/>
            <a:ext cx="4480560" cy="320040"/>
          </a:xfrm>
          <a:prstGeom prst="rect">
            <a:avLst/>
          </a:prstGeom>
          <a:noFill/>
          <a:ln/>
        </p:spPr>
        <p:txBody>
          <a:bodyPr wrap="square" lIns="0" tIns="0" rIns="0" bIns="0" rtlCol="0" anchor="t"/>
          <a:lstStyle/>
          <a:p>
            <a:pPr indent="0" marL="0">
              <a:lnSpc>
                <a:spcPct val="106000"/>
              </a:lnSpc>
              <a:buNone/>
            </a:pPr>
            <a:r>
              <a:rPr lang="en-US" sz="1800" b="1" spc="-40" kern="0" dirty="0">
                <a:solidFill>
                  <a:srgbClr val="193F35"/>
                </a:solidFill>
                <a:latin typeface="Inter" pitchFamily="34" charset="0"/>
                <a:ea typeface="Inter" pitchFamily="34" charset="-122"/>
                <a:cs typeface="Inter" pitchFamily="34" charset="-120"/>
              </a:rPr>
              <a:t>Make small updates effortless</a:t>
            </a:r>
            <a:endParaRPr lang="en-US" sz="1800" dirty="0"/>
          </a:p>
        </p:txBody>
      </p:sp>
      <p:sp>
        <p:nvSpPr>
          <p:cNvPr id="21" name="Text 18"/>
          <p:cNvSpPr/>
          <p:nvPr/>
        </p:nvSpPr>
        <p:spPr>
          <a:xfrm>
            <a:off x="7068312" y="5230368"/>
            <a:ext cx="4352544" cy="594360"/>
          </a:xfrm>
          <a:prstGeom prst="rect">
            <a:avLst/>
          </a:prstGeom>
          <a:noFill/>
          <a:ln/>
        </p:spPr>
        <p:txBody>
          <a:bodyPr wrap="square" lIns="0" tIns="0" rIns="0" bIns="0" rtlCol="0" anchor="t"/>
          <a:lstStyle/>
          <a:p>
            <a:pPr indent="0" marL="0">
              <a:lnSpc>
                <a:spcPct val="106000"/>
              </a:lnSpc>
              <a:buNone/>
            </a:pPr>
            <a:r>
              <a:rPr lang="en-US" sz="1150" dirty="0">
                <a:solidFill>
                  <a:srgbClr val="68776D"/>
                </a:solidFill>
                <a:latin typeface="Inter" pitchFamily="34" charset="0"/>
                <a:ea typeface="Inter" pitchFamily="34" charset="-122"/>
                <a:cs typeface="Inter" pitchFamily="34" charset="-120"/>
              </a:rPr>
              <a:t>Add a harvest, adjust a count, mark food used elsewhere, or record waste. Let the next plan adapt.</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0"/>
        </a:solidFill>
      </p:bgPr>
    </p:bg>
    <p:spTree>
      <p:nvGrpSpPr>
        <p:cNvPr id="1" name=""/>
        <p:cNvGrpSpPr/>
        <p:nvPr/>
      </p:nvGrpSpPr>
      <p:grpSpPr>
        <a:xfrm>
          <a:off x="0" y="0"/>
          <a:ext cx="0" cy="0"/>
          <a:chOff x="0" y="0"/>
          <a:chExt cx="0" cy="0"/>
        </a:xfrm>
      </p:grpSpPr>
      <p:sp>
        <p:nvSpPr>
          <p:cNvPr id="2" name="Text 0"/>
          <p:cNvSpPr/>
          <p:nvPr/>
        </p:nvSpPr>
        <p:spPr>
          <a:xfrm>
            <a:off x="502920" y="320040"/>
            <a:ext cx="9144000" cy="182880"/>
          </a:xfrm>
          <a:prstGeom prst="rect">
            <a:avLst/>
          </a:prstGeom>
          <a:noFill/>
          <a:ln/>
        </p:spPr>
        <p:txBody>
          <a:bodyPr wrap="square" lIns="0" tIns="0" rIns="0" bIns="0" rtlCol="0" anchor="t"/>
          <a:lstStyle/>
          <a:p>
            <a:pPr indent="0" marL="0">
              <a:lnSpc>
                <a:spcPct val="106000"/>
              </a:lnSpc>
              <a:buNone/>
            </a:pPr>
            <a:r>
              <a:rPr lang="en-US" sz="850" b="1" spc="165" kern="0" dirty="0">
                <a:solidFill>
                  <a:srgbClr val="68776D"/>
                </a:solidFill>
                <a:latin typeface="Inter" pitchFamily="34" charset="0"/>
                <a:ea typeface="Inter" pitchFamily="34" charset="-122"/>
                <a:cs typeface="Inter" pitchFamily="34" charset="-120"/>
              </a:rPr>
              <a:t>LUNCHBOX  /  SCREEN 04 / GROCERY LIST</a:t>
            </a:r>
            <a:endParaRPr lang="en-US" sz="850" dirty="0"/>
          </a:p>
        </p:txBody>
      </p:sp>
      <p:sp>
        <p:nvSpPr>
          <p:cNvPr id="3" name="Text 1"/>
          <p:cNvSpPr/>
          <p:nvPr/>
        </p:nvSpPr>
        <p:spPr>
          <a:xfrm>
            <a:off x="502920" y="749808"/>
            <a:ext cx="11155680" cy="658368"/>
          </a:xfrm>
          <a:prstGeom prst="rect">
            <a:avLst/>
          </a:prstGeom>
          <a:noFill/>
          <a:ln/>
        </p:spPr>
        <p:txBody>
          <a:bodyPr wrap="square" lIns="0" tIns="0" rIns="0" bIns="0" rtlCol="0" anchor="t"/>
          <a:lstStyle/>
          <a:p>
            <a:pPr indent="0" marL="0">
              <a:lnSpc>
                <a:spcPct val="106000"/>
              </a:lnSpc>
              <a:buNone/>
            </a:pPr>
            <a:r>
              <a:rPr lang="en-US" sz="3100" b="1" spc="-125" kern="0" dirty="0">
                <a:solidFill>
                  <a:srgbClr val="193F35"/>
                </a:solidFill>
                <a:latin typeface="Inter" pitchFamily="34" charset="0"/>
                <a:ea typeface="Inter" pitchFamily="34" charset="-122"/>
                <a:cs typeface="Inter" pitchFamily="34" charset="-120"/>
              </a:rPr>
              <a:t>A list with a reason behind every item.</a:t>
            </a:r>
            <a:endParaRPr lang="en-US" sz="3100" dirty="0"/>
          </a:p>
        </p:txBody>
      </p:sp>
      <p:sp>
        <p:nvSpPr>
          <p:cNvPr id="4" name="Text 2"/>
          <p:cNvSpPr/>
          <p:nvPr/>
        </p:nvSpPr>
        <p:spPr>
          <a:xfrm>
            <a:off x="530352" y="1472184"/>
            <a:ext cx="10789920" cy="457200"/>
          </a:xfrm>
          <a:prstGeom prst="rect">
            <a:avLst/>
          </a:prstGeom>
          <a:noFill/>
          <a:ln/>
        </p:spPr>
        <p:txBody>
          <a:bodyPr wrap="square" lIns="0" tIns="0" rIns="0" bIns="0" rtlCol="0" anchor="t"/>
          <a:lstStyle/>
          <a:p>
            <a:pPr indent="0" marL="0">
              <a:lnSpc>
                <a:spcPct val="106000"/>
              </a:lnSpc>
              <a:buNone/>
            </a:pPr>
            <a:r>
              <a:rPr lang="en-US" sz="1200" dirty="0">
                <a:solidFill>
                  <a:srgbClr val="68776D"/>
                </a:solidFill>
                <a:latin typeface="Inter" pitchFamily="34" charset="0"/>
                <a:ea typeface="Inter" pitchFamily="34" charset="-122"/>
                <a:cs typeface="Inter" pitchFamily="34" charset="-120"/>
              </a:rPr>
              <a:t>The list should feel simple in the store, even when the logic behind it is doing more work.</a:t>
            </a:r>
            <a:endParaRPr lang="en-US" sz="1200" dirty="0"/>
          </a:p>
        </p:txBody>
      </p:sp>
      <p:sp>
        <p:nvSpPr>
          <p:cNvPr id="5" name="Shape 3"/>
          <p:cNvSpPr/>
          <p:nvPr/>
        </p:nvSpPr>
        <p:spPr>
          <a:xfrm>
            <a:off x="502920" y="6455664"/>
            <a:ext cx="11183112" cy="0"/>
          </a:xfrm>
          <a:prstGeom prst="line">
            <a:avLst/>
          </a:prstGeom>
          <a:noFill/>
          <a:ln w="8890">
            <a:solidFill>
              <a:srgbClr val="E0E4D9"/>
            </a:solidFill>
            <a:prstDash val="solid"/>
          </a:ln>
        </p:spPr>
      </p:sp>
      <p:sp>
        <p:nvSpPr>
          <p:cNvPr id="6" name="Text 4"/>
          <p:cNvSpPr/>
          <p:nvPr/>
        </p:nvSpPr>
        <p:spPr>
          <a:xfrm>
            <a:off x="512064" y="6565392"/>
            <a:ext cx="6400800" cy="118872"/>
          </a:xfrm>
          <a:prstGeom prst="rect">
            <a:avLst/>
          </a:prstGeom>
          <a:noFill/>
          <a:ln/>
        </p:spPr>
        <p:txBody>
          <a:bodyPr wrap="square" lIns="0" tIns="0" rIns="0" bIns="0" rtlCol="0" anchor="t"/>
          <a:lstStyle/>
          <a:p>
            <a:pPr indent="0" marL="0">
              <a:lnSpc>
                <a:spcPct val="106000"/>
              </a:lnSpc>
              <a:buNone/>
            </a:pPr>
            <a:r>
              <a:rPr lang="en-US" sz="730" spc="90" kern="0" dirty="0">
                <a:solidFill>
                  <a:srgbClr val="68776D"/>
                </a:solidFill>
                <a:latin typeface="Inter" pitchFamily="34" charset="0"/>
                <a:ea typeface="Inter" pitchFamily="34" charset="-122"/>
                <a:cs typeface="Inter" pitchFamily="34" charset="-120"/>
              </a:rPr>
              <a:t>CONCEPT PORTFOLIO · SEPTEMBER 2026</a:t>
            </a:r>
            <a:endParaRPr lang="en-US" sz="730" dirty="0"/>
          </a:p>
        </p:txBody>
      </p:sp>
      <p:sp>
        <p:nvSpPr>
          <p:cNvPr id="7" name="Text 5"/>
          <p:cNvSpPr/>
          <p:nvPr/>
        </p:nvSpPr>
        <p:spPr>
          <a:xfrm>
            <a:off x="11155680" y="6537960"/>
            <a:ext cx="530352" cy="155448"/>
          </a:xfrm>
          <a:prstGeom prst="rect">
            <a:avLst/>
          </a:prstGeom>
          <a:noFill/>
          <a:ln/>
        </p:spPr>
        <p:txBody>
          <a:bodyPr wrap="square" lIns="0" tIns="0" rIns="0" bIns="0" rtlCol="0" anchor="t"/>
          <a:lstStyle/>
          <a:p>
            <a:pPr algn="r" indent="0" marL="0">
              <a:lnSpc>
                <a:spcPct val="106000"/>
              </a:lnSpc>
              <a:buNone/>
            </a:pPr>
            <a:r>
              <a:rPr lang="en-US" sz="900" b="1" dirty="0">
                <a:solidFill>
                  <a:srgbClr val="193F35"/>
                </a:solidFill>
                <a:latin typeface="Inter" pitchFamily="34" charset="0"/>
                <a:ea typeface="Inter" pitchFamily="34" charset="-122"/>
                <a:cs typeface="Inter" pitchFamily="34" charset="-120"/>
              </a:rPr>
              <a:t>08</a:t>
            </a:r>
            <a:endParaRPr lang="en-US" sz="900" dirty="0"/>
          </a:p>
        </p:txBody>
      </p:sp>
      <p:sp>
        <p:nvSpPr>
          <p:cNvPr id="8" name="Shape 6"/>
          <p:cNvSpPr/>
          <p:nvPr/>
        </p:nvSpPr>
        <p:spPr>
          <a:xfrm>
            <a:off x="530352" y="2020824"/>
            <a:ext cx="8339328" cy="4087368"/>
          </a:xfrm>
          <a:prstGeom prst="roundRect">
            <a:avLst>
              <a:gd name="adj" fmla="val 2908"/>
            </a:avLst>
          </a:prstGeom>
          <a:solidFill>
            <a:srgbClr val="FFFEFA"/>
          </a:solidFill>
          <a:ln w="8890">
            <a:solidFill>
              <a:srgbClr val="E0E4D9"/>
            </a:solidFill>
            <a:prstDash val="solid"/>
          </a:ln>
        </p:spPr>
      </p:sp>
      <p:pic>
        <p:nvPicPr>
          <p:cNvPr id="9" name="Image 0" descr="/mnt/data/lunchbox_work/focus_grocery.png">    </p:cNvPr>
          <p:cNvPicPr>
            <a:picLocks noChangeAspect="1"/>
          </p:cNvPicPr>
          <p:nvPr/>
        </p:nvPicPr>
        <p:blipFill>
          <a:blip r:embed="rId1"/>
          <a:stretch>
            <a:fillRect/>
          </a:stretch>
        </p:blipFill>
        <p:spPr>
          <a:xfrm>
            <a:off x="1371302" y="2057400"/>
            <a:ext cx="6657429" cy="3977640"/>
          </a:xfrm>
          <a:prstGeom prst="rect">
            <a:avLst/>
          </a:prstGeom>
        </p:spPr>
      </p:pic>
      <p:sp>
        <p:nvSpPr>
          <p:cNvPr id="10" name="Text 7"/>
          <p:cNvSpPr/>
          <p:nvPr/>
        </p:nvSpPr>
        <p:spPr>
          <a:xfrm>
            <a:off x="9153144" y="2304288"/>
            <a:ext cx="2395728" cy="182880"/>
          </a:xfrm>
          <a:prstGeom prst="rect">
            <a:avLst/>
          </a:prstGeom>
          <a:noFill/>
          <a:ln/>
        </p:spPr>
        <p:txBody>
          <a:bodyPr wrap="square" lIns="0" tIns="0" rIns="0" bIns="0" rtlCol="0" anchor="t"/>
          <a:lstStyle/>
          <a:p>
            <a:pPr indent="0" marL="0">
              <a:lnSpc>
                <a:spcPct val="106000"/>
              </a:lnSpc>
              <a:buNone/>
            </a:pPr>
            <a:r>
              <a:rPr lang="en-US" sz="850" b="1" spc="165" kern="0" dirty="0">
                <a:solidFill>
                  <a:srgbClr val="68776D"/>
                </a:solidFill>
                <a:latin typeface="Inter" pitchFamily="34" charset="0"/>
                <a:ea typeface="Inter" pitchFamily="34" charset="-122"/>
                <a:cs typeface="Inter" pitchFamily="34" charset="-120"/>
              </a:rPr>
              <a:t>LESS MENTAL ARITHMETIC</a:t>
            </a:r>
            <a:endParaRPr lang="en-US" sz="850" dirty="0"/>
          </a:p>
        </p:txBody>
      </p:sp>
      <p:sp>
        <p:nvSpPr>
          <p:cNvPr id="11" name="Text 8"/>
          <p:cNvSpPr/>
          <p:nvPr/>
        </p:nvSpPr>
        <p:spPr>
          <a:xfrm>
            <a:off x="9153144" y="2724912"/>
            <a:ext cx="2459736" cy="1371600"/>
          </a:xfrm>
          <a:prstGeom prst="rect">
            <a:avLst/>
          </a:prstGeom>
          <a:noFill/>
          <a:ln/>
        </p:spPr>
        <p:txBody>
          <a:bodyPr wrap="square" lIns="0" tIns="0" rIns="0" bIns="0" rtlCol="0" anchor="t"/>
          <a:lstStyle/>
          <a:p>
            <a:pPr indent="0" marL="0">
              <a:lnSpc>
                <a:spcPct val="106000"/>
              </a:lnSpc>
              <a:buNone/>
            </a:pPr>
            <a:r>
              <a:rPr lang="en-US" sz="2300" b="1" spc="-75" kern="0" dirty="0">
                <a:solidFill>
                  <a:srgbClr val="193F35"/>
                </a:solidFill>
                <a:latin typeface="Inter" pitchFamily="34" charset="0"/>
                <a:ea typeface="Inter" pitchFamily="34" charset="-122"/>
                <a:cs typeface="Inter" pitchFamily="34" charset="-120"/>
              </a:rPr>
              <a:t>Need 100 g.</a:t>
            </a:r>
            <a:endParaRPr lang="en-US" sz="2300" dirty="0"/>
          </a:p>
          <a:p>
            <a:pPr indent="0" marL="0">
              <a:lnSpc>
                <a:spcPct val="106000"/>
              </a:lnSpc>
              <a:buNone/>
            </a:pPr>
            <a:r>
              <a:rPr lang="en-US" sz="2300" b="1" spc="-75" kern="0" dirty="0">
                <a:solidFill>
                  <a:srgbClr val="193F35"/>
                </a:solidFill>
                <a:latin typeface="Inter" pitchFamily="34" charset="0"/>
                <a:ea typeface="Inter" pitchFamily="34" charset="-122"/>
                <a:cs typeface="Inter" pitchFamily="34" charset="-120"/>
              </a:rPr>
              <a:t>Buy a 200 g bag.</a:t>
            </a:r>
            <a:endParaRPr lang="en-US" sz="2300" dirty="0"/>
          </a:p>
          <a:p>
            <a:pPr indent="0" marL="0">
              <a:lnSpc>
                <a:spcPct val="106000"/>
              </a:lnSpc>
              <a:buNone/>
            </a:pPr>
            <a:r>
              <a:rPr lang="en-US" sz="2300" b="1" spc="-75" kern="0" dirty="0">
                <a:solidFill>
                  <a:srgbClr val="193F35"/>
                </a:solidFill>
                <a:latin typeface="Inter" pitchFamily="34" charset="0"/>
                <a:ea typeface="Inter" pitchFamily="34" charset="-122"/>
                <a:cs typeface="Inter" pitchFamily="34" charset="-120"/>
              </a:rPr>
              <a:t>Record 200 g.</a:t>
            </a:r>
            <a:endParaRPr lang="en-US" sz="2300" dirty="0"/>
          </a:p>
        </p:txBody>
      </p:sp>
      <p:sp>
        <p:nvSpPr>
          <p:cNvPr id="12" name="Text 9"/>
          <p:cNvSpPr/>
          <p:nvPr/>
        </p:nvSpPr>
        <p:spPr>
          <a:xfrm>
            <a:off x="9162288" y="4434840"/>
            <a:ext cx="2404872" cy="923544"/>
          </a:xfrm>
          <a:prstGeom prst="rect">
            <a:avLst/>
          </a:prstGeom>
          <a:noFill/>
          <a:ln/>
        </p:spPr>
        <p:txBody>
          <a:bodyPr wrap="square" lIns="0" tIns="0" rIns="0" bIns="0" rtlCol="0" anchor="t"/>
          <a:lstStyle/>
          <a:p>
            <a:pPr indent="0" marL="0">
              <a:lnSpc>
                <a:spcPct val="106000"/>
              </a:lnSpc>
              <a:buNone/>
            </a:pPr>
            <a:r>
              <a:rPr lang="en-US" sz="1200" dirty="0">
                <a:solidFill>
                  <a:srgbClr val="68776D"/>
                </a:solidFill>
                <a:latin typeface="Inter" pitchFamily="34" charset="0"/>
                <a:ea typeface="Inter" pitchFamily="34" charset="-122"/>
                <a:cs typeface="Inter" pitchFamily="34" charset="-120"/>
              </a:rPr>
              <a:t>Check off while shopping. Confirm quantities and substitutions when putting groceries away.</a:t>
            </a:r>
            <a:endParaRPr lang="en-US" sz="1200" dirty="0"/>
          </a:p>
        </p:txBody>
      </p:sp>
      <p:sp>
        <p:nvSpPr>
          <p:cNvPr id="13" name="Shape 10"/>
          <p:cNvSpPr/>
          <p:nvPr/>
        </p:nvSpPr>
        <p:spPr>
          <a:xfrm>
            <a:off x="9162288" y="5568696"/>
            <a:ext cx="2395728" cy="292608"/>
          </a:xfrm>
          <a:prstGeom prst="roundRect">
            <a:avLst>
              <a:gd name="adj" fmla="val 37500"/>
            </a:avLst>
          </a:prstGeom>
          <a:solidFill>
            <a:srgbClr val="FBE7DB"/>
          </a:solidFill>
          <a:ln w="12700">
            <a:solidFill>
              <a:srgbClr val="FBE7DB"/>
            </a:solidFill>
            <a:prstDash val="solid"/>
          </a:ln>
        </p:spPr>
      </p:sp>
      <p:sp>
        <p:nvSpPr>
          <p:cNvPr id="14" name="Text 11"/>
          <p:cNvSpPr/>
          <p:nvPr/>
        </p:nvSpPr>
        <p:spPr>
          <a:xfrm>
            <a:off x="9272016" y="5637276"/>
            <a:ext cx="2176272" cy="146304"/>
          </a:xfrm>
          <a:prstGeom prst="rect">
            <a:avLst/>
          </a:prstGeom>
          <a:noFill/>
          <a:ln/>
        </p:spPr>
        <p:txBody>
          <a:bodyPr wrap="square" lIns="0" tIns="0" rIns="0" bIns="0" rtlCol="0" anchor="t"/>
          <a:lstStyle/>
          <a:p>
            <a:pPr indent="0" marL="0">
              <a:lnSpc>
                <a:spcPct val="106000"/>
              </a:lnSpc>
              <a:buNone/>
            </a:pPr>
            <a:r>
              <a:rPr lang="en-US" sz="820" b="1" dirty="0">
                <a:solidFill>
                  <a:srgbClr val="B74420"/>
                </a:solidFill>
                <a:latin typeface="Inter" pitchFamily="34" charset="0"/>
                <a:ea typeface="Inter" pitchFamily="34" charset="-122"/>
                <a:cs typeface="Inter" pitchFamily="34" charset="-120"/>
              </a:rPr>
              <a:t>NO SILENT PURCHASES</a:t>
            </a:r>
            <a:endParaRPr lang="en-US" sz="8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0"/>
        </a:solidFill>
      </p:bgPr>
    </p:bg>
    <p:spTree>
      <p:nvGrpSpPr>
        <p:cNvPr id="1" name=""/>
        <p:cNvGrpSpPr/>
        <p:nvPr/>
      </p:nvGrpSpPr>
      <p:grpSpPr>
        <a:xfrm>
          <a:off x="0" y="0"/>
          <a:ext cx="0" cy="0"/>
          <a:chOff x="0" y="0"/>
          <a:chExt cx="0" cy="0"/>
        </a:xfrm>
      </p:grpSpPr>
      <p:sp>
        <p:nvSpPr>
          <p:cNvPr id="2" name="Text 0"/>
          <p:cNvSpPr/>
          <p:nvPr/>
        </p:nvSpPr>
        <p:spPr>
          <a:xfrm>
            <a:off x="502920" y="320040"/>
            <a:ext cx="9144000" cy="182880"/>
          </a:xfrm>
          <a:prstGeom prst="rect">
            <a:avLst/>
          </a:prstGeom>
          <a:noFill/>
          <a:ln/>
        </p:spPr>
        <p:txBody>
          <a:bodyPr wrap="square" lIns="0" tIns="0" rIns="0" bIns="0" rtlCol="0" anchor="t"/>
          <a:lstStyle/>
          <a:p>
            <a:pPr indent="0" marL="0">
              <a:lnSpc>
                <a:spcPct val="106000"/>
              </a:lnSpc>
              <a:buNone/>
            </a:pPr>
            <a:r>
              <a:rPr lang="en-US" sz="850" b="1" spc="165" kern="0" dirty="0">
                <a:solidFill>
                  <a:srgbClr val="68776D"/>
                </a:solidFill>
                <a:latin typeface="Inter" pitchFamily="34" charset="0"/>
                <a:ea typeface="Inter" pitchFamily="34" charset="-122"/>
                <a:cs typeface="Inter" pitchFamily="34" charset="-120"/>
              </a:rPr>
              <a:t>LUNCHBOX  /  INVENTORY LOGIC</a:t>
            </a:r>
            <a:endParaRPr lang="en-US" sz="850" dirty="0"/>
          </a:p>
        </p:txBody>
      </p:sp>
      <p:sp>
        <p:nvSpPr>
          <p:cNvPr id="3" name="Text 1"/>
          <p:cNvSpPr/>
          <p:nvPr/>
        </p:nvSpPr>
        <p:spPr>
          <a:xfrm>
            <a:off x="502920" y="749808"/>
            <a:ext cx="11155680" cy="658368"/>
          </a:xfrm>
          <a:prstGeom prst="rect">
            <a:avLst/>
          </a:prstGeom>
          <a:noFill/>
          <a:ln/>
        </p:spPr>
        <p:txBody>
          <a:bodyPr wrap="square" lIns="0" tIns="0" rIns="0" bIns="0" rtlCol="0" anchor="t"/>
          <a:lstStyle/>
          <a:p>
            <a:pPr indent="0" marL="0">
              <a:lnSpc>
                <a:spcPct val="106000"/>
              </a:lnSpc>
              <a:buNone/>
            </a:pPr>
            <a:r>
              <a:rPr lang="en-US" sz="3100" b="1" spc="-125" kern="0" dirty="0">
                <a:solidFill>
                  <a:srgbClr val="193F35"/>
                </a:solidFill>
                <a:latin typeface="Inter" pitchFamily="34" charset="0"/>
                <a:ea typeface="Inter" pitchFamily="34" charset="-122"/>
                <a:cs typeface="Inter" pitchFamily="34" charset="-120"/>
              </a:rPr>
              <a:t>Cooked is not the same as eaten.</a:t>
            </a:r>
            <a:endParaRPr lang="en-US" sz="3100" dirty="0"/>
          </a:p>
        </p:txBody>
      </p:sp>
      <p:sp>
        <p:nvSpPr>
          <p:cNvPr id="4" name="Text 2"/>
          <p:cNvSpPr/>
          <p:nvPr/>
        </p:nvSpPr>
        <p:spPr>
          <a:xfrm>
            <a:off x="530352" y="1472184"/>
            <a:ext cx="10789920" cy="457200"/>
          </a:xfrm>
          <a:prstGeom prst="rect">
            <a:avLst/>
          </a:prstGeom>
          <a:noFill/>
          <a:ln/>
        </p:spPr>
        <p:txBody>
          <a:bodyPr wrap="square" lIns="0" tIns="0" rIns="0" bIns="0" rtlCol="0" anchor="t"/>
          <a:lstStyle/>
          <a:p>
            <a:pPr indent="0" marL="0">
              <a:lnSpc>
                <a:spcPct val="106000"/>
              </a:lnSpc>
              <a:buNone/>
            </a:pPr>
            <a:r>
              <a:rPr lang="en-US" sz="1200" dirty="0">
                <a:solidFill>
                  <a:srgbClr val="68776D"/>
                </a:solidFill>
                <a:latin typeface="Inter" pitchFamily="34" charset="0"/>
                <a:ea typeface="Inter" pitchFamily="34" charset="-122"/>
                <a:cs typeface="Inter" pitchFamily="34" charset="-120"/>
              </a:rPr>
              <a:t>Keep ingredients, reservations and prepared meals separate so food is never counted twice.</a:t>
            </a:r>
            <a:endParaRPr lang="en-US" sz="1200" dirty="0"/>
          </a:p>
        </p:txBody>
      </p:sp>
      <p:sp>
        <p:nvSpPr>
          <p:cNvPr id="5" name="Shape 3"/>
          <p:cNvSpPr/>
          <p:nvPr/>
        </p:nvSpPr>
        <p:spPr>
          <a:xfrm>
            <a:off x="502920" y="6455664"/>
            <a:ext cx="11183112" cy="0"/>
          </a:xfrm>
          <a:prstGeom prst="line">
            <a:avLst/>
          </a:prstGeom>
          <a:noFill/>
          <a:ln w="8890">
            <a:solidFill>
              <a:srgbClr val="E0E4D9"/>
            </a:solidFill>
            <a:prstDash val="solid"/>
          </a:ln>
        </p:spPr>
      </p:sp>
      <p:sp>
        <p:nvSpPr>
          <p:cNvPr id="6" name="Text 4"/>
          <p:cNvSpPr/>
          <p:nvPr/>
        </p:nvSpPr>
        <p:spPr>
          <a:xfrm>
            <a:off x="512064" y="6565392"/>
            <a:ext cx="6400800" cy="118872"/>
          </a:xfrm>
          <a:prstGeom prst="rect">
            <a:avLst/>
          </a:prstGeom>
          <a:noFill/>
          <a:ln/>
        </p:spPr>
        <p:txBody>
          <a:bodyPr wrap="square" lIns="0" tIns="0" rIns="0" bIns="0" rtlCol="0" anchor="t"/>
          <a:lstStyle/>
          <a:p>
            <a:pPr indent="0" marL="0">
              <a:lnSpc>
                <a:spcPct val="106000"/>
              </a:lnSpc>
              <a:buNone/>
            </a:pPr>
            <a:r>
              <a:rPr lang="en-US" sz="730" spc="90" kern="0" dirty="0">
                <a:solidFill>
                  <a:srgbClr val="68776D"/>
                </a:solidFill>
                <a:latin typeface="Inter" pitchFamily="34" charset="0"/>
                <a:ea typeface="Inter" pitchFamily="34" charset="-122"/>
                <a:cs typeface="Inter" pitchFamily="34" charset="-120"/>
              </a:rPr>
              <a:t>CONCEPT PORTFOLIO · SEPTEMBER 2026</a:t>
            </a:r>
            <a:endParaRPr lang="en-US" sz="730" dirty="0"/>
          </a:p>
        </p:txBody>
      </p:sp>
      <p:sp>
        <p:nvSpPr>
          <p:cNvPr id="7" name="Text 5"/>
          <p:cNvSpPr/>
          <p:nvPr/>
        </p:nvSpPr>
        <p:spPr>
          <a:xfrm>
            <a:off x="11155680" y="6537960"/>
            <a:ext cx="530352" cy="155448"/>
          </a:xfrm>
          <a:prstGeom prst="rect">
            <a:avLst/>
          </a:prstGeom>
          <a:noFill/>
          <a:ln/>
        </p:spPr>
        <p:txBody>
          <a:bodyPr wrap="square" lIns="0" tIns="0" rIns="0" bIns="0" rtlCol="0" anchor="t"/>
          <a:lstStyle/>
          <a:p>
            <a:pPr algn="r" indent="0" marL="0">
              <a:lnSpc>
                <a:spcPct val="106000"/>
              </a:lnSpc>
              <a:buNone/>
            </a:pPr>
            <a:r>
              <a:rPr lang="en-US" sz="900" b="1" dirty="0">
                <a:solidFill>
                  <a:srgbClr val="193F35"/>
                </a:solidFill>
                <a:latin typeface="Inter" pitchFamily="34" charset="0"/>
                <a:ea typeface="Inter" pitchFamily="34" charset="-122"/>
                <a:cs typeface="Inter" pitchFamily="34" charset="-120"/>
              </a:rPr>
              <a:t>09</a:t>
            </a:r>
            <a:endParaRPr lang="en-US" sz="900" dirty="0"/>
          </a:p>
        </p:txBody>
      </p:sp>
      <p:sp>
        <p:nvSpPr>
          <p:cNvPr id="8" name="Shape 6"/>
          <p:cNvSpPr/>
          <p:nvPr/>
        </p:nvSpPr>
        <p:spPr>
          <a:xfrm>
            <a:off x="576072" y="2231136"/>
            <a:ext cx="2523744" cy="1554480"/>
          </a:xfrm>
          <a:prstGeom prst="roundRect">
            <a:avLst>
              <a:gd name="adj" fmla="val 7059"/>
            </a:avLst>
          </a:prstGeom>
          <a:solidFill>
            <a:srgbClr val="EEF2E6"/>
          </a:solidFill>
          <a:ln w="12700">
            <a:solidFill>
              <a:srgbClr val="EEF2E6"/>
            </a:solidFill>
            <a:prstDash val="solid"/>
          </a:ln>
        </p:spPr>
      </p:sp>
      <p:sp>
        <p:nvSpPr>
          <p:cNvPr id="9" name="Text 7"/>
          <p:cNvSpPr/>
          <p:nvPr/>
        </p:nvSpPr>
        <p:spPr>
          <a:xfrm>
            <a:off x="740664" y="2450592"/>
            <a:ext cx="2176272" cy="182880"/>
          </a:xfrm>
          <a:prstGeom prst="rect">
            <a:avLst/>
          </a:prstGeom>
          <a:noFill/>
          <a:ln/>
        </p:spPr>
        <p:txBody>
          <a:bodyPr wrap="square" lIns="0" tIns="0" rIns="0" bIns="0" rtlCol="0" anchor="t"/>
          <a:lstStyle/>
          <a:p>
            <a:pPr indent="0" marL="0">
              <a:lnSpc>
                <a:spcPct val="106000"/>
              </a:lnSpc>
              <a:buNone/>
            </a:pPr>
            <a:r>
              <a:rPr lang="en-US" sz="850" b="1" spc="165" kern="0" dirty="0">
                <a:solidFill>
                  <a:srgbClr val="68776D"/>
                </a:solidFill>
                <a:latin typeface="Inter" pitchFamily="34" charset="0"/>
                <a:ea typeface="Inter" pitchFamily="34" charset="-122"/>
                <a:cs typeface="Inter" pitchFamily="34" charset="-120"/>
              </a:rPr>
              <a:t>ON HAND</a:t>
            </a:r>
            <a:endParaRPr lang="en-US" sz="850" dirty="0"/>
          </a:p>
        </p:txBody>
      </p:sp>
      <p:sp>
        <p:nvSpPr>
          <p:cNvPr id="10" name="Text 8"/>
          <p:cNvSpPr/>
          <p:nvPr/>
        </p:nvSpPr>
        <p:spPr>
          <a:xfrm>
            <a:off x="740664" y="2834640"/>
            <a:ext cx="2185416" cy="393192"/>
          </a:xfrm>
          <a:prstGeom prst="rect">
            <a:avLst/>
          </a:prstGeom>
          <a:noFill/>
          <a:ln/>
        </p:spPr>
        <p:txBody>
          <a:bodyPr wrap="square" lIns="0" tIns="0" rIns="0" bIns="0" rtlCol="0" anchor="t"/>
          <a:lstStyle/>
          <a:p>
            <a:pPr indent="0" marL="0">
              <a:lnSpc>
                <a:spcPct val="106000"/>
              </a:lnSpc>
              <a:buNone/>
            </a:pPr>
            <a:r>
              <a:rPr lang="en-US" sz="2700" b="1" spc="-90" kern="0" dirty="0">
                <a:solidFill>
                  <a:srgbClr val="193F35"/>
                </a:solidFill>
                <a:latin typeface="Inter" pitchFamily="34" charset="0"/>
                <a:ea typeface="Inter" pitchFamily="34" charset="-122"/>
                <a:cs typeface="Inter" pitchFamily="34" charset="-120"/>
              </a:rPr>
              <a:t>800 g</a:t>
            </a:r>
            <a:endParaRPr lang="en-US" sz="2700" dirty="0"/>
          </a:p>
        </p:txBody>
      </p:sp>
      <p:sp>
        <p:nvSpPr>
          <p:cNvPr id="11" name="Text 9"/>
          <p:cNvSpPr/>
          <p:nvPr/>
        </p:nvSpPr>
        <p:spPr>
          <a:xfrm>
            <a:off x="740664" y="3401568"/>
            <a:ext cx="2212848" cy="182880"/>
          </a:xfrm>
          <a:prstGeom prst="rect">
            <a:avLst/>
          </a:prstGeom>
          <a:noFill/>
          <a:ln/>
        </p:spPr>
        <p:txBody>
          <a:bodyPr wrap="square" lIns="0" tIns="0" rIns="0" bIns="0" rtlCol="0" anchor="t"/>
          <a:lstStyle/>
          <a:p>
            <a:pPr indent="0" marL="0">
              <a:lnSpc>
                <a:spcPct val="106000"/>
              </a:lnSpc>
              <a:buNone/>
            </a:pPr>
            <a:r>
              <a:rPr lang="en-US" sz="950" dirty="0">
                <a:solidFill>
                  <a:srgbClr val="68776D"/>
                </a:solidFill>
                <a:latin typeface="Inter" pitchFamily="34" charset="0"/>
                <a:ea typeface="Inter" pitchFamily="34" charset="-122"/>
                <a:cs typeface="Inter" pitchFamily="34" charset="-120"/>
              </a:rPr>
              <a:t>Tomatoes in the pantry</a:t>
            </a:r>
            <a:endParaRPr lang="en-US" sz="950" dirty="0"/>
          </a:p>
        </p:txBody>
      </p:sp>
      <p:sp>
        <p:nvSpPr>
          <p:cNvPr id="12" name="Text 10"/>
          <p:cNvSpPr/>
          <p:nvPr/>
        </p:nvSpPr>
        <p:spPr>
          <a:xfrm>
            <a:off x="3172968" y="2825496"/>
            <a:ext cx="274320" cy="274320"/>
          </a:xfrm>
          <a:prstGeom prst="rect">
            <a:avLst/>
          </a:prstGeom>
          <a:noFill/>
          <a:ln/>
        </p:spPr>
        <p:txBody>
          <a:bodyPr wrap="square" lIns="0" tIns="0" rIns="0" bIns="0" rtlCol="0" anchor="t"/>
          <a:lstStyle/>
          <a:p>
            <a:pPr indent="0" marL="0">
              <a:lnSpc>
                <a:spcPct val="106000"/>
              </a:lnSpc>
              <a:buNone/>
            </a:pPr>
            <a:r>
              <a:rPr lang="en-US" sz="2100" dirty="0">
                <a:solidFill>
                  <a:srgbClr val="68776D"/>
                </a:solidFill>
                <a:latin typeface="Inter" pitchFamily="34" charset="0"/>
                <a:ea typeface="Inter" pitchFamily="34" charset="-122"/>
                <a:cs typeface="Inter" pitchFamily="34" charset="-120"/>
              </a:rPr>
              <a:t>→</a:t>
            </a:r>
            <a:endParaRPr lang="en-US" sz="2100" dirty="0"/>
          </a:p>
        </p:txBody>
      </p:sp>
      <p:sp>
        <p:nvSpPr>
          <p:cNvPr id="13" name="Shape 11"/>
          <p:cNvSpPr/>
          <p:nvPr/>
        </p:nvSpPr>
        <p:spPr>
          <a:xfrm>
            <a:off x="3429000" y="2231136"/>
            <a:ext cx="2523744" cy="1554480"/>
          </a:xfrm>
          <a:prstGeom prst="roundRect">
            <a:avLst>
              <a:gd name="adj" fmla="val 7059"/>
            </a:avLst>
          </a:prstGeom>
          <a:solidFill>
            <a:srgbClr val="DDECAB"/>
          </a:solidFill>
          <a:ln w="12700">
            <a:solidFill>
              <a:srgbClr val="DDECAB"/>
            </a:solidFill>
            <a:prstDash val="solid"/>
          </a:ln>
        </p:spPr>
      </p:sp>
      <p:sp>
        <p:nvSpPr>
          <p:cNvPr id="14" name="Text 12"/>
          <p:cNvSpPr/>
          <p:nvPr/>
        </p:nvSpPr>
        <p:spPr>
          <a:xfrm>
            <a:off x="3593592" y="2450592"/>
            <a:ext cx="2176272" cy="182880"/>
          </a:xfrm>
          <a:prstGeom prst="rect">
            <a:avLst/>
          </a:prstGeom>
          <a:noFill/>
          <a:ln/>
        </p:spPr>
        <p:txBody>
          <a:bodyPr wrap="square" lIns="0" tIns="0" rIns="0" bIns="0" rtlCol="0" anchor="t"/>
          <a:lstStyle/>
          <a:p>
            <a:pPr indent="0" marL="0">
              <a:lnSpc>
                <a:spcPct val="106000"/>
              </a:lnSpc>
              <a:buNone/>
            </a:pPr>
            <a:r>
              <a:rPr lang="en-US" sz="850" b="1" spc="165" kern="0" dirty="0">
                <a:solidFill>
                  <a:srgbClr val="68776D"/>
                </a:solidFill>
                <a:latin typeface="Inter" pitchFamily="34" charset="0"/>
                <a:ea typeface="Inter" pitchFamily="34" charset="-122"/>
                <a:cs typeface="Inter" pitchFamily="34" charset="-120"/>
              </a:rPr>
              <a:t>PLANNED</a:t>
            </a:r>
            <a:endParaRPr lang="en-US" sz="850" dirty="0"/>
          </a:p>
        </p:txBody>
      </p:sp>
      <p:sp>
        <p:nvSpPr>
          <p:cNvPr id="15" name="Text 13"/>
          <p:cNvSpPr/>
          <p:nvPr/>
        </p:nvSpPr>
        <p:spPr>
          <a:xfrm>
            <a:off x="3593592" y="2834640"/>
            <a:ext cx="2185416" cy="393192"/>
          </a:xfrm>
          <a:prstGeom prst="rect">
            <a:avLst/>
          </a:prstGeom>
          <a:noFill/>
          <a:ln/>
        </p:spPr>
        <p:txBody>
          <a:bodyPr wrap="square" lIns="0" tIns="0" rIns="0" bIns="0" rtlCol="0" anchor="t"/>
          <a:lstStyle/>
          <a:p>
            <a:pPr indent="0" marL="0">
              <a:lnSpc>
                <a:spcPct val="106000"/>
              </a:lnSpc>
              <a:buNone/>
            </a:pPr>
            <a:r>
              <a:rPr lang="en-US" sz="2300" b="1" spc="-90" kern="0" dirty="0">
                <a:solidFill>
                  <a:srgbClr val="193F35"/>
                </a:solidFill>
                <a:latin typeface="Inter" pitchFamily="34" charset="0"/>
                <a:ea typeface="Inter" pitchFamily="34" charset="-122"/>
                <a:cs typeface="Inter" pitchFamily="34" charset="-120"/>
              </a:rPr>
              <a:t>400 g reserved</a:t>
            </a:r>
            <a:endParaRPr lang="en-US" sz="2300" dirty="0"/>
          </a:p>
        </p:txBody>
      </p:sp>
      <p:sp>
        <p:nvSpPr>
          <p:cNvPr id="16" name="Text 14"/>
          <p:cNvSpPr/>
          <p:nvPr/>
        </p:nvSpPr>
        <p:spPr>
          <a:xfrm>
            <a:off x="3593592" y="3401568"/>
            <a:ext cx="2212848" cy="182880"/>
          </a:xfrm>
          <a:prstGeom prst="rect">
            <a:avLst/>
          </a:prstGeom>
          <a:noFill/>
          <a:ln/>
        </p:spPr>
        <p:txBody>
          <a:bodyPr wrap="square" lIns="0" tIns="0" rIns="0" bIns="0" rtlCol="0" anchor="t"/>
          <a:lstStyle/>
          <a:p>
            <a:pPr indent="0" marL="0">
              <a:lnSpc>
                <a:spcPct val="106000"/>
              </a:lnSpc>
              <a:buNone/>
            </a:pPr>
            <a:r>
              <a:rPr lang="en-US" sz="950" dirty="0">
                <a:solidFill>
                  <a:srgbClr val="68776D"/>
                </a:solidFill>
                <a:latin typeface="Inter" pitchFamily="34" charset="0"/>
                <a:ea typeface="Inter" pitchFamily="34" charset="-122"/>
                <a:cs typeface="Inter" pitchFamily="34" charset="-120"/>
              </a:rPr>
              <a:t>Still 800 g physically</a:t>
            </a:r>
            <a:endParaRPr lang="en-US" sz="950" dirty="0"/>
          </a:p>
        </p:txBody>
      </p:sp>
      <p:sp>
        <p:nvSpPr>
          <p:cNvPr id="17" name="Text 15"/>
          <p:cNvSpPr/>
          <p:nvPr/>
        </p:nvSpPr>
        <p:spPr>
          <a:xfrm>
            <a:off x="6025896" y="2825496"/>
            <a:ext cx="274320" cy="274320"/>
          </a:xfrm>
          <a:prstGeom prst="rect">
            <a:avLst/>
          </a:prstGeom>
          <a:noFill/>
          <a:ln/>
        </p:spPr>
        <p:txBody>
          <a:bodyPr wrap="square" lIns="0" tIns="0" rIns="0" bIns="0" rtlCol="0" anchor="t"/>
          <a:lstStyle/>
          <a:p>
            <a:pPr indent="0" marL="0">
              <a:lnSpc>
                <a:spcPct val="106000"/>
              </a:lnSpc>
              <a:buNone/>
            </a:pPr>
            <a:r>
              <a:rPr lang="en-US" sz="2100" dirty="0">
                <a:solidFill>
                  <a:srgbClr val="68776D"/>
                </a:solidFill>
                <a:latin typeface="Inter" pitchFamily="34" charset="0"/>
                <a:ea typeface="Inter" pitchFamily="34" charset="-122"/>
                <a:cs typeface="Inter" pitchFamily="34" charset="-120"/>
              </a:rPr>
              <a:t>→</a:t>
            </a:r>
            <a:endParaRPr lang="en-US" sz="2100" dirty="0"/>
          </a:p>
        </p:txBody>
      </p:sp>
      <p:sp>
        <p:nvSpPr>
          <p:cNvPr id="18" name="Shape 16"/>
          <p:cNvSpPr/>
          <p:nvPr/>
        </p:nvSpPr>
        <p:spPr>
          <a:xfrm>
            <a:off x="6281928" y="2231136"/>
            <a:ext cx="2523744" cy="1554480"/>
          </a:xfrm>
          <a:prstGeom prst="roundRect">
            <a:avLst>
              <a:gd name="adj" fmla="val 7059"/>
            </a:avLst>
          </a:prstGeom>
          <a:solidFill>
            <a:srgbClr val="FBE7DB"/>
          </a:solidFill>
          <a:ln w="12700">
            <a:solidFill>
              <a:srgbClr val="FBE7DB"/>
            </a:solidFill>
            <a:prstDash val="solid"/>
          </a:ln>
        </p:spPr>
      </p:sp>
      <p:sp>
        <p:nvSpPr>
          <p:cNvPr id="19" name="Text 17"/>
          <p:cNvSpPr/>
          <p:nvPr/>
        </p:nvSpPr>
        <p:spPr>
          <a:xfrm>
            <a:off x="6446520" y="2450592"/>
            <a:ext cx="2176272" cy="182880"/>
          </a:xfrm>
          <a:prstGeom prst="rect">
            <a:avLst/>
          </a:prstGeom>
          <a:noFill/>
          <a:ln/>
        </p:spPr>
        <p:txBody>
          <a:bodyPr wrap="square" lIns="0" tIns="0" rIns="0" bIns="0" rtlCol="0" anchor="t"/>
          <a:lstStyle/>
          <a:p>
            <a:pPr indent="0" marL="0">
              <a:lnSpc>
                <a:spcPct val="106000"/>
              </a:lnSpc>
              <a:buNone/>
            </a:pPr>
            <a:r>
              <a:rPr lang="en-US" sz="850" b="1" spc="165" kern="0" dirty="0">
                <a:solidFill>
                  <a:srgbClr val="68776D"/>
                </a:solidFill>
                <a:latin typeface="Inter" pitchFamily="34" charset="0"/>
                <a:ea typeface="Inter" pitchFamily="34" charset="-122"/>
                <a:cs typeface="Inter" pitchFamily="34" charset="-120"/>
              </a:rPr>
              <a:t>COOKED</a:t>
            </a:r>
            <a:endParaRPr lang="en-US" sz="850" dirty="0"/>
          </a:p>
        </p:txBody>
      </p:sp>
      <p:sp>
        <p:nvSpPr>
          <p:cNvPr id="20" name="Text 18"/>
          <p:cNvSpPr/>
          <p:nvPr/>
        </p:nvSpPr>
        <p:spPr>
          <a:xfrm>
            <a:off x="6446520" y="2834640"/>
            <a:ext cx="2185416" cy="393192"/>
          </a:xfrm>
          <a:prstGeom prst="rect">
            <a:avLst/>
          </a:prstGeom>
          <a:noFill/>
          <a:ln/>
        </p:spPr>
        <p:txBody>
          <a:bodyPr wrap="square" lIns="0" tIns="0" rIns="0" bIns="0" rtlCol="0" anchor="t"/>
          <a:lstStyle/>
          <a:p>
            <a:pPr indent="0" marL="0">
              <a:lnSpc>
                <a:spcPct val="106000"/>
              </a:lnSpc>
              <a:buNone/>
            </a:pPr>
            <a:r>
              <a:rPr lang="en-US" sz="2700" b="1" spc="-90" kern="0" dirty="0">
                <a:solidFill>
                  <a:srgbClr val="193F35"/>
                </a:solidFill>
                <a:latin typeface="Inter" pitchFamily="34" charset="0"/>
                <a:ea typeface="Inter" pitchFamily="34" charset="-122"/>
                <a:cs typeface="Inter" pitchFamily="34" charset="-120"/>
              </a:rPr>
              <a:t>400 g left</a:t>
            </a:r>
            <a:endParaRPr lang="en-US" sz="2700" dirty="0"/>
          </a:p>
        </p:txBody>
      </p:sp>
      <p:sp>
        <p:nvSpPr>
          <p:cNvPr id="21" name="Text 19"/>
          <p:cNvSpPr/>
          <p:nvPr/>
        </p:nvSpPr>
        <p:spPr>
          <a:xfrm>
            <a:off x="6446520" y="3401568"/>
            <a:ext cx="2212848" cy="182880"/>
          </a:xfrm>
          <a:prstGeom prst="rect">
            <a:avLst/>
          </a:prstGeom>
          <a:noFill/>
          <a:ln/>
        </p:spPr>
        <p:txBody>
          <a:bodyPr wrap="square" lIns="0" tIns="0" rIns="0" bIns="0" rtlCol="0" anchor="t"/>
          <a:lstStyle/>
          <a:p>
            <a:pPr indent="0" marL="0">
              <a:lnSpc>
                <a:spcPct val="106000"/>
              </a:lnSpc>
              <a:buNone/>
            </a:pPr>
            <a:r>
              <a:rPr lang="en-US" sz="950" dirty="0">
                <a:solidFill>
                  <a:srgbClr val="68776D"/>
                </a:solidFill>
                <a:latin typeface="Inter" pitchFamily="34" charset="0"/>
                <a:ea typeface="Inter" pitchFamily="34" charset="-122"/>
                <a:cs typeface="Inter" pitchFamily="34" charset="-120"/>
              </a:rPr>
              <a:t>400 g ingredients used</a:t>
            </a:r>
            <a:endParaRPr lang="en-US" sz="950" dirty="0"/>
          </a:p>
        </p:txBody>
      </p:sp>
      <p:sp>
        <p:nvSpPr>
          <p:cNvPr id="22" name="Text 20"/>
          <p:cNvSpPr/>
          <p:nvPr/>
        </p:nvSpPr>
        <p:spPr>
          <a:xfrm>
            <a:off x="8878824" y="2825496"/>
            <a:ext cx="274320" cy="274320"/>
          </a:xfrm>
          <a:prstGeom prst="rect">
            <a:avLst/>
          </a:prstGeom>
          <a:noFill/>
          <a:ln/>
        </p:spPr>
        <p:txBody>
          <a:bodyPr wrap="square" lIns="0" tIns="0" rIns="0" bIns="0" rtlCol="0" anchor="t"/>
          <a:lstStyle/>
          <a:p>
            <a:pPr indent="0" marL="0">
              <a:lnSpc>
                <a:spcPct val="106000"/>
              </a:lnSpc>
              <a:buNone/>
            </a:pPr>
            <a:r>
              <a:rPr lang="en-US" sz="2100" dirty="0">
                <a:solidFill>
                  <a:srgbClr val="68776D"/>
                </a:solidFill>
                <a:latin typeface="Inter" pitchFamily="34" charset="0"/>
                <a:ea typeface="Inter" pitchFamily="34" charset="-122"/>
                <a:cs typeface="Inter" pitchFamily="34" charset="-120"/>
              </a:rPr>
              <a:t>→</a:t>
            </a:r>
            <a:endParaRPr lang="en-US" sz="2100" dirty="0"/>
          </a:p>
        </p:txBody>
      </p:sp>
      <p:sp>
        <p:nvSpPr>
          <p:cNvPr id="23" name="Shape 21"/>
          <p:cNvSpPr/>
          <p:nvPr/>
        </p:nvSpPr>
        <p:spPr>
          <a:xfrm>
            <a:off x="9134856" y="2231136"/>
            <a:ext cx="2523744" cy="1554480"/>
          </a:xfrm>
          <a:prstGeom prst="roundRect">
            <a:avLst>
              <a:gd name="adj" fmla="val 7059"/>
            </a:avLst>
          </a:prstGeom>
          <a:solidFill>
            <a:srgbClr val="EEF2E6"/>
          </a:solidFill>
          <a:ln w="12700">
            <a:solidFill>
              <a:srgbClr val="EEF2E6"/>
            </a:solidFill>
            <a:prstDash val="solid"/>
          </a:ln>
        </p:spPr>
      </p:sp>
      <p:sp>
        <p:nvSpPr>
          <p:cNvPr id="24" name="Text 22"/>
          <p:cNvSpPr/>
          <p:nvPr/>
        </p:nvSpPr>
        <p:spPr>
          <a:xfrm>
            <a:off x="9299448" y="2450592"/>
            <a:ext cx="2176272" cy="182880"/>
          </a:xfrm>
          <a:prstGeom prst="rect">
            <a:avLst/>
          </a:prstGeom>
          <a:noFill/>
          <a:ln/>
        </p:spPr>
        <p:txBody>
          <a:bodyPr wrap="square" lIns="0" tIns="0" rIns="0" bIns="0" rtlCol="0" anchor="t"/>
          <a:lstStyle/>
          <a:p>
            <a:pPr indent="0" marL="0">
              <a:lnSpc>
                <a:spcPct val="106000"/>
              </a:lnSpc>
              <a:buNone/>
            </a:pPr>
            <a:r>
              <a:rPr lang="en-US" sz="850" b="1" spc="165" kern="0" dirty="0">
                <a:solidFill>
                  <a:srgbClr val="68776D"/>
                </a:solidFill>
                <a:latin typeface="Inter" pitchFamily="34" charset="0"/>
                <a:ea typeface="Inter" pitchFamily="34" charset="-122"/>
                <a:cs typeface="Inter" pitchFamily="34" charset="-120"/>
              </a:rPr>
              <a:t>LEFTOVER</a:t>
            </a:r>
            <a:endParaRPr lang="en-US" sz="850" dirty="0"/>
          </a:p>
        </p:txBody>
      </p:sp>
      <p:sp>
        <p:nvSpPr>
          <p:cNvPr id="25" name="Text 23"/>
          <p:cNvSpPr/>
          <p:nvPr/>
        </p:nvSpPr>
        <p:spPr>
          <a:xfrm>
            <a:off x="9299448" y="2834640"/>
            <a:ext cx="2185416" cy="393192"/>
          </a:xfrm>
          <a:prstGeom prst="rect">
            <a:avLst/>
          </a:prstGeom>
          <a:noFill/>
          <a:ln/>
        </p:spPr>
        <p:txBody>
          <a:bodyPr wrap="square" lIns="0" tIns="0" rIns="0" bIns="0" rtlCol="0" anchor="t"/>
          <a:lstStyle/>
          <a:p>
            <a:pPr indent="0" marL="0">
              <a:lnSpc>
                <a:spcPct val="106000"/>
              </a:lnSpc>
              <a:buNone/>
            </a:pPr>
            <a:r>
              <a:rPr lang="en-US" sz="2700" b="1" spc="-90" kern="0" dirty="0">
                <a:solidFill>
                  <a:srgbClr val="193F35"/>
                </a:solidFill>
                <a:latin typeface="Inter" pitchFamily="34" charset="0"/>
                <a:ea typeface="Inter" pitchFamily="34" charset="-122"/>
                <a:cs typeface="Inter" pitchFamily="34" charset="-120"/>
              </a:rPr>
              <a:t>1 portion</a:t>
            </a:r>
            <a:endParaRPr lang="en-US" sz="2700" dirty="0"/>
          </a:p>
        </p:txBody>
      </p:sp>
      <p:sp>
        <p:nvSpPr>
          <p:cNvPr id="26" name="Text 24"/>
          <p:cNvSpPr/>
          <p:nvPr/>
        </p:nvSpPr>
        <p:spPr>
          <a:xfrm>
            <a:off x="9299448" y="3401568"/>
            <a:ext cx="2212848" cy="182880"/>
          </a:xfrm>
          <a:prstGeom prst="rect">
            <a:avLst/>
          </a:prstGeom>
          <a:noFill/>
          <a:ln/>
        </p:spPr>
        <p:txBody>
          <a:bodyPr wrap="square" lIns="0" tIns="0" rIns="0" bIns="0" rtlCol="0" anchor="t"/>
          <a:lstStyle/>
          <a:p>
            <a:pPr indent="0" marL="0">
              <a:lnSpc>
                <a:spcPct val="106000"/>
              </a:lnSpc>
              <a:buNone/>
            </a:pPr>
            <a:r>
              <a:rPr lang="en-US" sz="950" dirty="0">
                <a:solidFill>
                  <a:srgbClr val="68776D"/>
                </a:solidFill>
                <a:latin typeface="Inter" pitchFamily="34" charset="0"/>
                <a:ea typeface="Inter" pitchFamily="34" charset="-122"/>
                <a:cs typeface="Inter" pitchFamily="34" charset="-120"/>
              </a:rPr>
              <a:t>Ingredients already deducted</a:t>
            </a:r>
            <a:endParaRPr lang="en-US" sz="950" dirty="0"/>
          </a:p>
        </p:txBody>
      </p:sp>
      <p:sp>
        <p:nvSpPr>
          <p:cNvPr id="27" name="Text 25"/>
          <p:cNvSpPr/>
          <p:nvPr/>
        </p:nvSpPr>
        <p:spPr>
          <a:xfrm>
            <a:off x="621792" y="4315968"/>
            <a:ext cx="3337560" cy="182880"/>
          </a:xfrm>
          <a:prstGeom prst="rect">
            <a:avLst/>
          </a:prstGeom>
          <a:noFill/>
          <a:ln/>
        </p:spPr>
        <p:txBody>
          <a:bodyPr wrap="square" lIns="0" tIns="0" rIns="0" bIns="0" rtlCol="0" anchor="t"/>
          <a:lstStyle/>
          <a:p>
            <a:pPr indent="0" marL="0">
              <a:lnSpc>
                <a:spcPct val="106000"/>
              </a:lnSpc>
              <a:buNone/>
            </a:pPr>
            <a:r>
              <a:rPr lang="en-US" sz="850" b="1" spc="165" kern="0" dirty="0">
                <a:solidFill>
                  <a:srgbClr val="68776D"/>
                </a:solidFill>
                <a:latin typeface="Inter" pitchFamily="34" charset="0"/>
                <a:ea typeface="Inter" pitchFamily="34" charset="-122"/>
                <a:cs typeface="Inter" pitchFamily="34" charset="-120"/>
              </a:rPr>
              <a:t>RULE 01</a:t>
            </a:r>
            <a:endParaRPr lang="en-US" sz="850" dirty="0"/>
          </a:p>
        </p:txBody>
      </p:sp>
      <p:sp>
        <p:nvSpPr>
          <p:cNvPr id="28" name="Text 26"/>
          <p:cNvSpPr/>
          <p:nvPr/>
        </p:nvSpPr>
        <p:spPr>
          <a:xfrm>
            <a:off x="621792" y="4672584"/>
            <a:ext cx="3392424" cy="338328"/>
          </a:xfrm>
          <a:prstGeom prst="rect">
            <a:avLst/>
          </a:prstGeom>
          <a:noFill/>
          <a:ln/>
        </p:spPr>
        <p:txBody>
          <a:bodyPr wrap="square" lIns="0" tIns="0" rIns="0" bIns="0" rtlCol="0" anchor="t"/>
          <a:lstStyle/>
          <a:p>
            <a:pPr indent="0" marL="0">
              <a:lnSpc>
                <a:spcPct val="106000"/>
              </a:lnSpc>
              <a:buNone/>
            </a:pPr>
            <a:r>
              <a:rPr lang="en-US" sz="1900" b="1" spc="-50" kern="0" dirty="0">
                <a:solidFill>
                  <a:srgbClr val="193F35"/>
                </a:solidFill>
                <a:latin typeface="Inter" pitchFamily="34" charset="0"/>
                <a:ea typeface="Inter" pitchFamily="34" charset="-122"/>
                <a:cs typeface="Inter" pitchFamily="34" charset="-120"/>
              </a:rPr>
              <a:t>Plan or reschedule</a:t>
            </a:r>
            <a:endParaRPr lang="en-US" sz="1900" dirty="0"/>
          </a:p>
        </p:txBody>
      </p:sp>
      <p:sp>
        <p:nvSpPr>
          <p:cNvPr id="29" name="Text 27"/>
          <p:cNvSpPr/>
          <p:nvPr/>
        </p:nvSpPr>
        <p:spPr>
          <a:xfrm>
            <a:off x="621792" y="5230368"/>
            <a:ext cx="3474720" cy="585216"/>
          </a:xfrm>
          <a:prstGeom prst="rect">
            <a:avLst/>
          </a:prstGeom>
          <a:noFill/>
          <a:ln/>
        </p:spPr>
        <p:txBody>
          <a:bodyPr wrap="square" lIns="0" tIns="0" rIns="0" bIns="0" rtlCol="0" anchor="t"/>
          <a:lstStyle/>
          <a:p>
            <a:pPr indent="0" marL="0">
              <a:lnSpc>
                <a:spcPct val="106000"/>
              </a:lnSpc>
              <a:buNone/>
            </a:pPr>
            <a:r>
              <a:rPr lang="en-US" sz="1160" dirty="0">
                <a:solidFill>
                  <a:srgbClr val="68776D"/>
                </a:solidFill>
                <a:latin typeface="Inter" pitchFamily="34" charset="0"/>
                <a:ea typeface="Inter" pitchFamily="34" charset="-122"/>
                <a:cs typeface="Inter" pitchFamily="34" charset="-120"/>
              </a:rPr>
              <a:t>Change reservations and shopping needs.</a:t>
            </a:r>
            <a:endParaRPr lang="en-US" sz="1160" dirty="0"/>
          </a:p>
          <a:p>
            <a:pPr indent="0" marL="0">
              <a:lnSpc>
                <a:spcPct val="106000"/>
              </a:lnSpc>
              <a:buNone/>
            </a:pPr>
            <a:r>
              <a:rPr lang="en-US" sz="1160" dirty="0">
                <a:solidFill>
                  <a:srgbClr val="68776D"/>
                </a:solidFill>
                <a:latin typeface="Inter" pitchFamily="34" charset="0"/>
                <a:ea typeface="Inter" pitchFamily="34" charset="-122"/>
                <a:cs typeface="Inter" pitchFamily="34" charset="-120"/>
              </a:rPr>
              <a:t>Do not change physical stock.</a:t>
            </a:r>
            <a:endParaRPr lang="en-US" sz="1160" dirty="0"/>
          </a:p>
        </p:txBody>
      </p:sp>
      <p:sp>
        <p:nvSpPr>
          <p:cNvPr id="30" name="Text 28"/>
          <p:cNvSpPr/>
          <p:nvPr/>
        </p:nvSpPr>
        <p:spPr>
          <a:xfrm>
            <a:off x="4434840" y="4315968"/>
            <a:ext cx="3337560" cy="182880"/>
          </a:xfrm>
          <a:prstGeom prst="rect">
            <a:avLst/>
          </a:prstGeom>
          <a:noFill/>
          <a:ln/>
        </p:spPr>
        <p:txBody>
          <a:bodyPr wrap="square" lIns="0" tIns="0" rIns="0" bIns="0" rtlCol="0" anchor="t"/>
          <a:lstStyle/>
          <a:p>
            <a:pPr indent="0" marL="0">
              <a:lnSpc>
                <a:spcPct val="106000"/>
              </a:lnSpc>
              <a:buNone/>
            </a:pPr>
            <a:r>
              <a:rPr lang="en-US" sz="850" b="1" spc="165" kern="0" dirty="0">
                <a:solidFill>
                  <a:srgbClr val="68776D"/>
                </a:solidFill>
                <a:latin typeface="Inter" pitchFamily="34" charset="0"/>
                <a:ea typeface="Inter" pitchFamily="34" charset="-122"/>
                <a:cs typeface="Inter" pitchFamily="34" charset="-120"/>
              </a:rPr>
              <a:t>RULE 02</a:t>
            </a:r>
            <a:endParaRPr lang="en-US" sz="850" dirty="0"/>
          </a:p>
        </p:txBody>
      </p:sp>
      <p:sp>
        <p:nvSpPr>
          <p:cNvPr id="31" name="Text 29"/>
          <p:cNvSpPr/>
          <p:nvPr/>
        </p:nvSpPr>
        <p:spPr>
          <a:xfrm>
            <a:off x="4434840" y="4672584"/>
            <a:ext cx="3392424" cy="338328"/>
          </a:xfrm>
          <a:prstGeom prst="rect">
            <a:avLst/>
          </a:prstGeom>
          <a:noFill/>
          <a:ln/>
        </p:spPr>
        <p:txBody>
          <a:bodyPr wrap="square" lIns="0" tIns="0" rIns="0" bIns="0" rtlCol="0" anchor="t"/>
          <a:lstStyle/>
          <a:p>
            <a:pPr indent="0" marL="0">
              <a:lnSpc>
                <a:spcPct val="106000"/>
              </a:lnSpc>
              <a:buNone/>
            </a:pPr>
            <a:r>
              <a:rPr lang="en-US" sz="1900" b="1" spc="-50" kern="0" dirty="0">
                <a:solidFill>
                  <a:srgbClr val="193F35"/>
                </a:solidFill>
                <a:latin typeface="Inter" pitchFamily="34" charset="0"/>
                <a:ea typeface="Inter" pitchFamily="34" charset="-122"/>
                <a:cs typeface="Inter" pitchFamily="34" charset="-120"/>
              </a:rPr>
              <a:t>Cook or assemble a meal</a:t>
            </a:r>
            <a:endParaRPr lang="en-US" sz="1900" dirty="0"/>
          </a:p>
        </p:txBody>
      </p:sp>
      <p:sp>
        <p:nvSpPr>
          <p:cNvPr id="32" name="Text 30"/>
          <p:cNvSpPr/>
          <p:nvPr/>
        </p:nvSpPr>
        <p:spPr>
          <a:xfrm>
            <a:off x="4434840" y="5230368"/>
            <a:ext cx="3474720" cy="585216"/>
          </a:xfrm>
          <a:prstGeom prst="rect">
            <a:avLst/>
          </a:prstGeom>
          <a:noFill/>
          <a:ln/>
        </p:spPr>
        <p:txBody>
          <a:bodyPr wrap="square" lIns="0" tIns="0" rIns="0" bIns="0" rtlCol="0" anchor="t"/>
          <a:lstStyle/>
          <a:p>
            <a:pPr indent="0" marL="0">
              <a:lnSpc>
                <a:spcPct val="106000"/>
              </a:lnSpc>
              <a:buNone/>
            </a:pPr>
            <a:r>
              <a:rPr lang="en-US" sz="1160" dirty="0">
                <a:solidFill>
                  <a:srgbClr val="68776D"/>
                </a:solidFill>
                <a:latin typeface="Inter" pitchFamily="34" charset="0"/>
                <a:ea typeface="Inter" pitchFamily="34" charset="-122"/>
                <a:cs typeface="Inter" pitchFamily="34" charset="-120"/>
              </a:rPr>
              <a:t>Review actual use. Deduct ingredients.</a:t>
            </a:r>
            <a:endParaRPr lang="en-US" sz="1160" dirty="0"/>
          </a:p>
          <a:p>
            <a:pPr indent="0" marL="0">
              <a:lnSpc>
                <a:spcPct val="106000"/>
              </a:lnSpc>
              <a:buNone/>
            </a:pPr>
            <a:r>
              <a:rPr lang="en-US" sz="1160" dirty="0">
                <a:solidFill>
                  <a:srgbClr val="68776D"/>
                </a:solidFill>
                <a:latin typeface="Inter" pitchFamily="34" charset="0"/>
                <a:ea typeface="Inter" pitchFamily="34" charset="-122"/>
                <a:cs typeface="Inter" pitchFamily="34" charset="-120"/>
              </a:rPr>
              <a:t>Create the confirmed prepared portions.</a:t>
            </a:r>
            <a:endParaRPr lang="en-US" sz="1160" dirty="0"/>
          </a:p>
        </p:txBody>
      </p:sp>
      <p:sp>
        <p:nvSpPr>
          <p:cNvPr id="33" name="Text 31"/>
          <p:cNvSpPr/>
          <p:nvPr/>
        </p:nvSpPr>
        <p:spPr>
          <a:xfrm>
            <a:off x="8247888" y="4315968"/>
            <a:ext cx="3337560" cy="182880"/>
          </a:xfrm>
          <a:prstGeom prst="rect">
            <a:avLst/>
          </a:prstGeom>
          <a:noFill/>
          <a:ln/>
        </p:spPr>
        <p:txBody>
          <a:bodyPr wrap="square" lIns="0" tIns="0" rIns="0" bIns="0" rtlCol="0" anchor="t"/>
          <a:lstStyle/>
          <a:p>
            <a:pPr indent="0" marL="0">
              <a:lnSpc>
                <a:spcPct val="106000"/>
              </a:lnSpc>
              <a:buNone/>
            </a:pPr>
            <a:r>
              <a:rPr lang="en-US" sz="850" b="1" spc="165" kern="0" dirty="0">
                <a:solidFill>
                  <a:srgbClr val="68776D"/>
                </a:solidFill>
                <a:latin typeface="Inter" pitchFamily="34" charset="0"/>
                <a:ea typeface="Inter" pitchFamily="34" charset="-122"/>
                <a:cs typeface="Inter" pitchFamily="34" charset="-120"/>
              </a:rPr>
              <a:t>RULE 03</a:t>
            </a:r>
            <a:endParaRPr lang="en-US" sz="850" dirty="0"/>
          </a:p>
        </p:txBody>
      </p:sp>
      <p:sp>
        <p:nvSpPr>
          <p:cNvPr id="34" name="Text 32"/>
          <p:cNvSpPr/>
          <p:nvPr/>
        </p:nvSpPr>
        <p:spPr>
          <a:xfrm>
            <a:off x="8247888" y="4672584"/>
            <a:ext cx="3392424" cy="338328"/>
          </a:xfrm>
          <a:prstGeom prst="rect">
            <a:avLst/>
          </a:prstGeom>
          <a:noFill/>
          <a:ln/>
        </p:spPr>
        <p:txBody>
          <a:bodyPr wrap="square" lIns="0" tIns="0" rIns="0" bIns="0" rtlCol="0" anchor="t"/>
          <a:lstStyle/>
          <a:p>
            <a:pPr indent="0" marL="0">
              <a:lnSpc>
                <a:spcPct val="106000"/>
              </a:lnSpc>
              <a:buNone/>
            </a:pPr>
            <a:r>
              <a:rPr lang="en-US" sz="1900" b="1" spc="-50" kern="0" dirty="0">
                <a:solidFill>
                  <a:srgbClr val="193F35"/>
                </a:solidFill>
                <a:latin typeface="Inter" pitchFamily="34" charset="0"/>
                <a:ea typeface="Inter" pitchFamily="34" charset="-122"/>
                <a:cs typeface="Inter" pitchFamily="34" charset="-120"/>
              </a:rPr>
              <a:t>Eat a leftover</a:t>
            </a:r>
            <a:endParaRPr lang="en-US" sz="1900" dirty="0"/>
          </a:p>
        </p:txBody>
      </p:sp>
      <p:sp>
        <p:nvSpPr>
          <p:cNvPr id="35" name="Text 33"/>
          <p:cNvSpPr/>
          <p:nvPr/>
        </p:nvSpPr>
        <p:spPr>
          <a:xfrm>
            <a:off x="8247888" y="5230368"/>
            <a:ext cx="3474720" cy="585216"/>
          </a:xfrm>
          <a:prstGeom prst="rect">
            <a:avLst/>
          </a:prstGeom>
          <a:noFill/>
          <a:ln/>
        </p:spPr>
        <p:txBody>
          <a:bodyPr wrap="square" lIns="0" tIns="0" rIns="0" bIns="0" rtlCol="0" anchor="t"/>
          <a:lstStyle/>
          <a:p>
            <a:pPr indent="0" marL="0">
              <a:lnSpc>
                <a:spcPct val="106000"/>
              </a:lnSpc>
              <a:buNone/>
            </a:pPr>
            <a:r>
              <a:rPr lang="en-US" sz="1160" dirty="0">
                <a:solidFill>
                  <a:srgbClr val="68776D"/>
                </a:solidFill>
                <a:latin typeface="Inter" pitchFamily="34" charset="0"/>
                <a:ea typeface="Inter" pitchFamily="34" charset="-122"/>
                <a:cs typeface="Inter" pitchFamily="34" charset="-120"/>
              </a:rPr>
              <a:t>Deduct a prepared portion only.</a:t>
            </a:r>
            <a:endParaRPr lang="en-US" sz="1160" dirty="0"/>
          </a:p>
          <a:p>
            <a:pPr indent="0" marL="0">
              <a:lnSpc>
                <a:spcPct val="106000"/>
              </a:lnSpc>
              <a:buNone/>
            </a:pPr>
            <a:r>
              <a:rPr lang="en-US" sz="1160" dirty="0">
                <a:solidFill>
                  <a:srgbClr val="68776D"/>
                </a:solidFill>
                <a:latin typeface="Inter" pitchFamily="34" charset="0"/>
                <a:ea typeface="Inter" pitchFamily="34" charset="-122"/>
                <a:cs typeface="Inter" pitchFamily="34" charset="-120"/>
              </a:rPr>
              <a:t>Do not deduct the recipe again.</a:t>
            </a:r>
            <a:endParaRPr lang="en-US" sz="1160" dirty="0"/>
          </a:p>
        </p:txBody>
      </p:sp>
      <p:sp>
        <p:nvSpPr>
          <p:cNvPr id="36" name="Text 34"/>
          <p:cNvSpPr/>
          <p:nvPr/>
        </p:nvSpPr>
        <p:spPr>
          <a:xfrm>
            <a:off x="621792" y="6135624"/>
            <a:ext cx="10972800" cy="182880"/>
          </a:xfrm>
          <a:prstGeom prst="rect">
            <a:avLst/>
          </a:prstGeom>
          <a:noFill/>
          <a:ln/>
        </p:spPr>
        <p:txBody>
          <a:bodyPr wrap="square" lIns="0" tIns="0" rIns="0" bIns="0" rtlCol="0" anchor="t"/>
          <a:lstStyle/>
          <a:p>
            <a:pPr indent="0" marL="0">
              <a:lnSpc>
                <a:spcPct val="106000"/>
              </a:lnSpc>
              <a:buNone/>
            </a:pPr>
            <a:r>
              <a:rPr lang="en-US" sz="1030" dirty="0">
                <a:solidFill>
                  <a:srgbClr val="68776D"/>
                </a:solidFill>
                <a:latin typeface="Inter" pitchFamily="34" charset="0"/>
                <a:ea typeface="Inter" pitchFamily="34" charset="-122"/>
                <a:cs typeface="Inter" pitchFamily="34" charset="-120"/>
              </a:rPr>
              <a:t>Every change needs a reason, a preview when consequential, and an undo path. Shared-household writes must not apply twice.</a:t>
            </a:r>
            <a:endParaRPr lang="en-US" sz="103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0"/>
        </a:solidFill>
      </p:bgPr>
    </p:bg>
    <p:spTree>
      <p:nvGrpSpPr>
        <p:cNvPr id="1" name=""/>
        <p:cNvGrpSpPr/>
        <p:nvPr/>
      </p:nvGrpSpPr>
      <p:grpSpPr>
        <a:xfrm>
          <a:off x="0" y="0"/>
          <a:ext cx="0" cy="0"/>
          <a:chOff x="0" y="0"/>
          <a:chExt cx="0" cy="0"/>
        </a:xfrm>
      </p:grpSpPr>
      <p:sp>
        <p:nvSpPr>
          <p:cNvPr id="2" name="Text 0"/>
          <p:cNvSpPr/>
          <p:nvPr/>
        </p:nvSpPr>
        <p:spPr>
          <a:xfrm>
            <a:off x="502920" y="320040"/>
            <a:ext cx="9144000" cy="182880"/>
          </a:xfrm>
          <a:prstGeom prst="rect">
            <a:avLst/>
          </a:prstGeom>
          <a:noFill/>
          <a:ln/>
        </p:spPr>
        <p:txBody>
          <a:bodyPr wrap="square" lIns="0" tIns="0" rIns="0" bIns="0" rtlCol="0" anchor="t"/>
          <a:lstStyle/>
          <a:p>
            <a:pPr indent="0" marL="0">
              <a:lnSpc>
                <a:spcPct val="106000"/>
              </a:lnSpc>
              <a:buNone/>
            </a:pPr>
            <a:r>
              <a:rPr lang="en-US" sz="850" b="1" spc="165" kern="0" dirty="0">
                <a:solidFill>
                  <a:srgbClr val="68776D"/>
                </a:solidFill>
                <a:latin typeface="Inter" pitchFamily="34" charset="0"/>
                <a:ea typeface="Inter" pitchFamily="34" charset="-122"/>
                <a:cs typeface="Inter" pitchFamily="34" charset="-120"/>
              </a:rPr>
              <a:t>LUNCHBOX  /  AGENT EXPERIENCE</a:t>
            </a:r>
            <a:endParaRPr lang="en-US" sz="850" dirty="0"/>
          </a:p>
        </p:txBody>
      </p:sp>
      <p:sp>
        <p:nvSpPr>
          <p:cNvPr id="3" name="Text 1"/>
          <p:cNvSpPr/>
          <p:nvPr/>
        </p:nvSpPr>
        <p:spPr>
          <a:xfrm>
            <a:off x="502920" y="749808"/>
            <a:ext cx="11155680" cy="658368"/>
          </a:xfrm>
          <a:prstGeom prst="rect">
            <a:avLst/>
          </a:prstGeom>
          <a:noFill/>
          <a:ln/>
        </p:spPr>
        <p:txBody>
          <a:bodyPr wrap="square" lIns="0" tIns="0" rIns="0" bIns="0" rtlCol="0" anchor="t"/>
          <a:lstStyle/>
          <a:p>
            <a:pPr indent="0" marL="0">
              <a:lnSpc>
                <a:spcPct val="106000"/>
              </a:lnSpc>
              <a:buNone/>
            </a:pPr>
            <a:r>
              <a:rPr lang="en-US" sz="3100" b="1" spc="-125" kern="0" dirty="0">
                <a:solidFill>
                  <a:srgbClr val="193F35"/>
                </a:solidFill>
                <a:latin typeface="Inter" pitchFamily="34" charset="0"/>
                <a:ea typeface="Inter" pitchFamily="34" charset="-122"/>
                <a:cs typeface="Inter" pitchFamily="34" charset="-120"/>
              </a:rPr>
              <a:t>Smart suggestions. Predictable consequences.</a:t>
            </a:r>
            <a:endParaRPr lang="en-US" sz="3100" dirty="0"/>
          </a:p>
        </p:txBody>
      </p:sp>
      <p:sp>
        <p:nvSpPr>
          <p:cNvPr id="4" name="Text 2"/>
          <p:cNvSpPr/>
          <p:nvPr/>
        </p:nvSpPr>
        <p:spPr>
          <a:xfrm>
            <a:off x="530352" y="1472184"/>
            <a:ext cx="10789920" cy="457200"/>
          </a:xfrm>
          <a:prstGeom prst="rect">
            <a:avLst/>
          </a:prstGeom>
          <a:noFill/>
          <a:ln/>
        </p:spPr>
        <p:txBody>
          <a:bodyPr wrap="square" lIns="0" tIns="0" rIns="0" bIns="0" rtlCol="0" anchor="t"/>
          <a:lstStyle/>
          <a:p>
            <a:pPr indent="0" marL="0">
              <a:lnSpc>
                <a:spcPct val="106000"/>
              </a:lnSpc>
              <a:buNone/>
            </a:pPr>
            <a:r>
              <a:rPr lang="en-US" sz="1200" dirty="0">
                <a:solidFill>
                  <a:srgbClr val="68776D"/>
                </a:solidFill>
                <a:latin typeface="Inter" pitchFamily="34" charset="0"/>
                <a:ea typeface="Inter" pitchFamily="34" charset="-122"/>
                <a:cs typeface="Inter" pitchFamily="34" charset="-120"/>
              </a:rPr>
              <a:t>Use AI for interpretation and possibilities. Use explicit rules for quantities, constraints and actions.</a:t>
            </a:r>
            <a:endParaRPr lang="en-US" sz="1200" dirty="0"/>
          </a:p>
        </p:txBody>
      </p:sp>
      <p:sp>
        <p:nvSpPr>
          <p:cNvPr id="5" name="Shape 3"/>
          <p:cNvSpPr/>
          <p:nvPr/>
        </p:nvSpPr>
        <p:spPr>
          <a:xfrm>
            <a:off x="502920" y="6455664"/>
            <a:ext cx="11183112" cy="0"/>
          </a:xfrm>
          <a:prstGeom prst="line">
            <a:avLst/>
          </a:prstGeom>
          <a:noFill/>
          <a:ln w="8890">
            <a:solidFill>
              <a:srgbClr val="E0E4D9"/>
            </a:solidFill>
            <a:prstDash val="solid"/>
          </a:ln>
        </p:spPr>
      </p:sp>
      <p:sp>
        <p:nvSpPr>
          <p:cNvPr id="6" name="Text 4"/>
          <p:cNvSpPr/>
          <p:nvPr/>
        </p:nvSpPr>
        <p:spPr>
          <a:xfrm>
            <a:off x="512064" y="6565392"/>
            <a:ext cx="6400800" cy="118872"/>
          </a:xfrm>
          <a:prstGeom prst="rect">
            <a:avLst/>
          </a:prstGeom>
          <a:noFill/>
          <a:ln/>
        </p:spPr>
        <p:txBody>
          <a:bodyPr wrap="square" lIns="0" tIns="0" rIns="0" bIns="0" rtlCol="0" anchor="t"/>
          <a:lstStyle/>
          <a:p>
            <a:pPr indent="0" marL="0">
              <a:lnSpc>
                <a:spcPct val="106000"/>
              </a:lnSpc>
              <a:buNone/>
            </a:pPr>
            <a:r>
              <a:rPr lang="en-US" sz="730" spc="90" kern="0" dirty="0">
                <a:solidFill>
                  <a:srgbClr val="68776D"/>
                </a:solidFill>
                <a:latin typeface="Inter" pitchFamily="34" charset="0"/>
                <a:ea typeface="Inter" pitchFamily="34" charset="-122"/>
                <a:cs typeface="Inter" pitchFamily="34" charset="-120"/>
              </a:rPr>
              <a:t>CONCEPT PORTFOLIO · SEPTEMBER 2026</a:t>
            </a:r>
            <a:endParaRPr lang="en-US" sz="730" dirty="0"/>
          </a:p>
        </p:txBody>
      </p:sp>
      <p:sp>
        <p:nvSpPr>
          <p:cNvPr id="7" name="Text 5"/>
          <p:cNvSpPr/>
          <p:nvPr/>
        </p:nvSpPr>
        <p:spPr>
          <a:xfrm>
            <a:off x="11155680" y="6537960"/>
            <a:ext cx="530352" cy="155448"/>
          </a:xfrm>
          <a:prstGeom prst="rect">
            <a:avLst/>
          </a:prstGeom>
          <a:noFill/>
          <a:ln/>
        </p:spPr>
        <p:txBody>
          <a:bodyPr wrap="square" lIns="0" tIns="0" rIns="0" bIns="0" rtlCol="0" anchor="t"/>
          <a:lstStyle/>
          <a:p>
            <a:pPr algn="r" indent="0" marL="0">
              <a:lnSpc>
                <a:spcPct val="106000"/>
              </a:lnSpc>
              <a:buNone/>
            </a:pPr>
            <a:r>
              <a:rPr lang="en-US" sz="900" b="1" dirty="0">
                <a:solidFill>
                  <a:srgbClr val="193F35"/>
                </a:solidFill>
                <a:latin typeface="Inter" pitchFamily="34" charset="0"/>
                <a:ea typeface="Inter" pitchFamily="34" charset="-122"/>
                <a:cs typeface="Inter" pitchFamily="34" charset="-120"/>
              </a:rPr>
              <a:t>10</a:t>
            </a:r>
            <a:endParaRPr lang="en-US" sz="900" dirty="0"/>
          </a:p>
        </p:txBody>
      </p:sp>
      <p:sp>
        <p:nvSpPr>
          <p:cNvPr id="8" name="Shape 6"/>
          <p:cNvSpPr/>
          <p:nvPr/>
        </p:nvSpPr>
        <p:spPr>
          <a:xfrm>
            <a:off x="585216" y="2130552"/>
            <a:ext cx="3483864" cy="3602736"/>
          </a:xfrm>
          <a:prstGeom prst="roundRect">
            <a:avLst>
              <a:gd name="adj" fmla="val 3150"/>
            </a:avLst>
          </a:prstGeom>
          <a:solidFill>
            <a:srgbClr val="EEF2E6"/>
          </a:solidFill>
          <a:ln w="12700">
            <a:solidFill>
              <a:srgbClr val="EEF2E6"/>
            </a:solidFill>
            <a:prstDash val="solid"/>
          </a:ln>
        </p:spPr>
      </p:sp>
      <p:sp>
        <p:nvSpPr>
          <p:cNvPr id="9" name="Text 7"/>
          <p:cNvSpPr/>
          <p:nvPr/>
        </p:nvSpPr>
        <p:spPr>
          <a:xfrm>
            <a:off x="786384" y="2386584"/>
            <a:ext cx="3081528" cy="182880"/>
          </a:xfrm>
          <a:prstGeom prst="rect">
            <a:avLst/>
          </a:prstGeom>
          <a:noFill/>
          <a:ln/>
        </p:spPr>
        <p:txBody>
          <a:bodyPr wrap="square" lIns="0" tIns="0" rIns="0" bIns="0" rtlCol="0" anchor="t"/>
          <a:lstStyle/>
          <a:p>
            <a:pPr indent="0" marL="0">
              <a:lnSpc>
                <a:spcPct val="106000"/>
              </a:lnSpc>
              <a:buNone/>
            </a:pPr>
            <a:r>
              <a:rPr lang="en-US" sz="850" b="1" spc="165" kern="0" dirty="0">
                <a:solidFill>
                  <a:srgbClr val="68776D"/>
                </a:solidFill>
                <a:latin typeface="Inter" pitchFamily="34" charset="0"/>
                <a:ea typeface="Inter" pitchFamily="34" charset="-122"/>
                <a:cs typeface="Inter" pitchFamily="34" charset="-120"/>
              </a:rPr>
              <a:t>THE HOUSEHOLD DEFINES</a:t>
            </a:r>
            <a:endParaRPr lang="en-US" sz="850" dirty="0"/>
          </a:p>
        </p:txBody>
      </p:sp>
      <p:sp>
        <p:nvSpPr>
          <p:cNvPr id="10" name="Text 8"/>
          <p:cNvSpPr/>
          <p:nvPr/>
        </p:nvSpPr>
        <p:spPr>
          <a:xfrm>
            <a:off x="786384" y="2779776"/>
            <a:ext cx="3081528" cy="493776"/>
          </a:xfrm>
          <a:prstGeom prst="rect">
            <a:avLst/>
          </a:prstGeom>
          <a:noFill/>
          <a:ln/>
        </p:spPr>
        <p:txBody>
          <a:bodyPr wrap="square" lIns="0" tIns="0" rIns="0" bIns="0" rtlCol="0" anchor="t"/>
          <a:lstStyle/>
          <a:p>
            <a:pPr indent="0" marL="0">
              <a:lnSpc>
                <a:spcPct val="106000"/>
              </a:lnSpc>
              <a:buNone/>
            </a:pPr>
            <a:r>
              <a:rPr lang="en-US" sz="2900" b="1" spc="-100" kern="0" dirty="0">
                <a:solidFill>
                  <a:srgbClr val="193F35"/>
                </a:solidFill>
                <a:latin typeface="Inter" pitchFamily="34" charset="0"/>
                <a:ea typeface="Inter" pitchFamily="34" charset="-122"/>
                <a:cs typeface="Inter" pitchFamily="34" charset="-120"/>
              </a:rPr>
              <a:t>What matters</a:t>
            </a:r>
            <a:endParaRPr lang="en-US" sz="2900" dirty="0"/>
          </a:p>
        </p:txBody>
      </p:sp>
      <p:sp>
        <p:nvSpPr>
          <p:cNvPr id="11" name="Text 9"/>
          <p:cNvSpPr/>
          <p:nvPr/>
        </p:nvSpPr>
        <p:spPr>
          <a:xfrm>
            <a:off x="795528" y="3593592"/>
            <a:ext cx="3063240" cy="228600"/>
          </a:xfrm>
          <a:prstGeom prst="rect">
            <a:avLst/>
          </a:prstGeom>
          <a:noFill/>
          <a:ln/>
        </p:spPr>
        <p:txBody>
          <a:bodyPr wrap="square" lIns="0" tIns="0" rIns="0" bIns="0" rtlCol="0" anchor="t"/>
          <a:lstStyle/>
          <a:p>
            <a:pPr indent="0" marL="0">
              <a:lnSpc>
                <a:spcPct val="106000"/>
              </a:lnSpc>
              <a:buNone/>
            </a:pPr>
            <a:r>
              <a:rPr lang="en-US" sz="1200" b="1" dirty="0">
                <a:solidFill>
                  <a:srgbClr val="193F35"/>
                </a:solidFill>
                <a:latin typeface="Inter" pitchFamily="34" charset="0"/>
                <a:ea typeface="Inter" pitchFamily="34" charset="-122"/>
                <a:cs typeface="Inter" pitchFamily="34" charset="-120"/>
              </a:rPr>
              <a:t>Hard constraints</a:t>
            </a:r>
            <a:endParaRPr lang="en-US" sz="1200" dirty="0"/>
          </a:p>
        </p:txBody>
      </p:sp>
      <p:sp>
        <p:nvSpPr>
          <p:cNvPr id="12" name="Text 10"/>
          <p:cNvSpPr/>
          <p:nvPr/>
        </p:nvSpPr>
        <p:spPr>
          <a:xfrm>
            <a:off x="795528" y="3922776"/>
            <a:ext cx="3063240" cy="493776"/>
          </a:xfrm>
          <a:prstGeom prst="rect">
            <a:avLst/>
          </a:prstGeom>
          <a:noFill/>
          <a:ln/>
        </p:spPr>
        <p:txBody>
          <a:bodyPr wrap="square" lIns="0" tIns="0" rIns="0" bIns="0" rtlCol="0" anchor="t"/>
          <a:lstStyle/>
          <a:p>
            <a:pPr indent="0" marL="0">
              <a:lnSpc>
                <a:spcPct val="106000"/>
              </a:lnSpc>
              <a:buNone/>
            </a:pPr>
            <a:r>
              <a:rPr lang="en-US" sz="1130" dirty="0">
                <a:solidFill>
                  <a:srgbClr val="68776D"/>
                </a:solidFill>
                <a:latin typeface="Inter" pitchFamily="34" charset="0"/>
                <a:ea typeface="Inter" pitchFamily="34" charset="-122"/>
                <a:cs typeface="Inter" pitchFamily="34" charset="-120"/>
              </a:rPr>
              <a:t>Explicit allergies, dietary exclusions,</a:t>
            </a:r>
            <a:endParaRPr lang="en-US" sz="1130" dirty="0"/>
          </a:p>
          <a:p>
            <a:pPr indent="0" marL="0">
              <a:lnSpc>
                <a:spcPct val="106000"/>
              </a:lnSpc>
              <a:buNone/>
            </a:pPr>
            <a:r>
              <a:rPr lang="en-US" sz="1130" dirty="0">
                <a:solidFill>
                  <a:srgbClr val="68776D"/>
                </a:solidFill>
                <a:latin typeface="Inter" pitchFamily="34" charset="0"/>
                <a:ea typeface="Inter" pitchFamily="34" charset="-122"/>
                <a:cs typeface="Inter" pitchFamily="34" charset="-120"/>
              </a:rPr>
              <a:t>equipment and non-negotiable limits.</a:t>
            </a:r>
            <a:endParaRPr lang="en-US" sz="1130" dirty="0"/>
          </a:p>
        </p:txBody>
      </p:sp>
      <p:sp>
        <p:nvSpPr>
          <p:cNvPr id="13" name="Text 11"/>
          <p:cNvSpPr/>
          <p:nvPr/>
        </p:nvSpPr>
        <p:spPr>
          <a:xfrm>
            <a:off x="795528" y="4681728"/>
            <a:ext cx="3063240" cy="228600"/>
          </a:xfrm>
          <a:prstGeom prst="rect">
            <a:avLst/>
          </a:prstGeom>
          <a:noFill/>
          <a:ln/>
        </p:spPr>
        <p:txBody>
          <a:bodyPr wrap="square" lIns="0" tIns="0" rIns="0" bIns="0" rtlCol="0" anchor="t"/>
          <a:lstStyle/>
          <a:p>
            <a:pPr indent="0" marL="0">
              <a:lnSpc>
                <a:spcPct val="106000"/>
              </a:lnSpc>
              <a:buNone/>
            </a:pPr>
            <a:r>
              <a:rPr lang="en-US" sz="1200" b="1" dirty="0">
                <a:solidFill>
                  <a:srgbClr val="193F35"/>
                </a:solidFill>
                <a:latin typeface="Inter" pitchFamily="34" charset="0"/>
                <a:ea typeface="Inter" pitchFamily="34" charset="-122"/>
                <a:cs typeface="Inter" pitchFamily="34" charset="-120"/>
              </a:rPr>
              <a:t>Soft preferences</a:t>
            </a:r>
            <a:endParaRPr lang="en-US" sz="1200" dirty="0"/>
          </a:p>
        </p:txBody>
      </p:sp>
      <p:sp>
        <p:nvSpPr>
          <p:cNvPr id="14" name="Text 12"/>
          <p:cNvSpPr/>
          <p:nvPr/>
        </p:nvSpPr>
        <p:spPr>
          <a:xfrm>
            <a:off x="795528" y="5010912"/>
            <a:ext cx="3063240" cy="521208"/>
          </a:xfrm>
          <a:prstGeom prst="rect">
            <a:avLst/>
          </a:prstGeom>
          <a:noFill/>
          <a:ln/>
        </p:spPr>
        <p:txBody>
          <a:bodyPr wrap="square" lIns="0" tIns="0" rIns="0" bIns="0" rtlCol="0" anchor="t"/>
          <a:lstStyle/>
          <a:p>
            <a:pPr indent="0" marL="0">
              <a:lnSpc>
                <a:spcPct val="106000"/>
              </a:lnSpc>
              <a:buNone/>
            </a:pPr>
            <a:r>
              <a:rPr lang="en-US" sz="1130" dirty="0">
                <a:solidFill>
                  <a:srgbClr val="68776D"/>
                </a:solidFill>
                <a:latin typeface="Inter" pitchFamily="34" charset="0"/>
                <a:ea typeface="Inter" pitchFamily="34" charset="-122"/>
                <a:cs typeface="Inter" pitchFamily="34" charset="-120"/>
              </a:rPr>
              <a:t>Taste, nutrition priorities, use-soon food,</a:t>
            </a:r>
            <a:endParaRPr lang="en-US" sz="1130" dirty="0"/>
          </a:p>
          <a:p>
            <a:pPr indent="0" marL="0">
              <a:lnSpc>
                <a:spcPct val="106000"/>
              </a:lnSpc>
              <a:buNone/>
            </a:pPr>
            <a:r>
              <a:rPr lang="en-US" sz="1130" dirty="0">
                <a:solidFill>
                  <a:srgbClr val="68776D"/>
                </a:solidFill>
                <a:latin typeface="Inter" pitchFamily="34" charset="0"/>
                <a:ea typeface="Inter" pitchFamily="34" charset="-122"/>
                <a:cs typeface="Inter" pitchFamily="34" charset="-120"/>
              </a:rPr>
              <a:t>cost, variety, effort and cleanup.</a:t>
            </a:r>
            <a:endParaRPr lang="en-US" sz="1130" dirty="0"/>
          </a:p>
        </p:txBody>
      </p:sp>
      <p:sp>
        <p:nvSpPr>
          <p:cNvPr id="15" name="Shape 13"/>
          <p:cNvSpPr/>
          <p:nvPr/>
        </p:nvSpPr>
        <p:spPr>
          <a:xfrm>
            <a:off x="4352544" y="2130552"/>
            <a:ext cx="3483864" cy="3602736"/>
          </a:xfrm>
          <a:prstGeom prst="roundRect">
            <a:avLst>
              <a:gd name="adj" fmla="val 3150"/>
            </a:avLst>
          </a:prstGeom>
          <a:solidFill>
            <a:srgbClr val="DDECAB"/>
          </a:solidFill>
          <a:ln w="12700">
            <a:solidFill>
              <a:srgbClr val="DDECAB"/>
            </a:solidFill>
            <a:prstDash val="solid"/>
          </a:ln>
        </p:spPr>
      </p:sp>
      <p:sp>
        <p:nvSpPr>
          <p:cNvPr id="16" name="Text 14"/>
          <p:cNvSpPr/>
          <p:nvPr/>
        </p:nvSpPr>
        <p:spPr>
          <a:xfrm>
            <a:off x="4553712" y="2386584"/>
            <a:ext cx="3081528" cy="182880"/>
          </a:xfrm>
          <a:prstGeom prst="rect">
            <a:avLst/>
          </a:prstGeom>
          <a:noFill/>
          <a:ln/>
        </p:spPr>
        <p:txBody>
          <a:bodyPr wrap="square" lIns="0" tIns="0" rIns="0" bIns="0" rtlCol="0" anchor="t"/>
          <a:lstStyle/>
          <a:p>
            <a:pPr indent="0" marL="0">
              <a:lnSpc>
                <a:spcPct val="106000"/>
              </a:lnSpc>
              <a:buNone/>
            </a:pPr>
            <a:r>
              <a:rPr lang="en-US" sz="850" b="1" spc="165" kern="0" dirty="0">
                <a:solidFill>
                  <a:srgbClr val="68776D"/>
                </a:solidFill>
                <a:latin typeface="Inter" pitchFamily="34" charset="0"/>
                <a:ea typeface="Inter" pitchFamily="34" charset="-122"/>
                <a:cs typeface="Inter" pitchFamily="34" charset="-120"/>
              </a:rPr>
              <a:t>THE AI PROPOSES</a:t>
            </a:r>
            <a:endParaRPr lang="en-US" sz="850" dirty="0"/>
          </a:p>
        </p:txBody>
      </p:sp>
      <p:sp>
        <p:nvSpPr>
          <p:cNvPr id="17" name="Text 15"/>
          <p:cNvSpPr/>
          <p:nvPr/>
        </p:nvSpPr>
        <p:spPr>
          <a:xfrm>
            <a:off x="4553712" y="2779776"/>
            <a:ext cx="3081528" cy="493776"/>
          </a:xfrm>
          <a:prstGeom prst="rect">
            <a:avLst/>
          </a:prstGeom>
          <a:noFill/>
          <a:ln/>
        </p:spPr>
        <p:txBody>
          <a:bodyPr wrap="square" lIns="0" tIns="0" rIns="0" bIns="0" rtlCol="0" anchor="t"/>
          <a:lstStyle/>
          <a:p>
            <a:pPr indent="0" marL="0">
              <a:lnSpc>
                <a:spcPct val="106000"/>
              </a:lnSpc>
              <a:buNone/>
            </a:pPr>
            <a:r>
              <a:rPr lang="en-US" sz="2900" b="1" spc="-100" kern="0" dirty="0">
                <a:solidFill>
                  <a:srgbClr val="193F35"/>
                </a:solidFill>
                <a:latin typeface="Inter" pitchFamily="34" charset="0"/>
                <a:ea typeface="Inter" pitchFamily="34" charset="-122"/>
                <a:cs typeface="Inter" pitchFamily="34" charset="-120"/>
              </a:rPr>
              <a:t>What could work</a:t>
            </a:r>
            <a:endParaRPr lang="en-US" sz="2900" dirty="0"/>
          </a:p>
        </p:txBody>
      </p:sp>
      <p:sp>
        <p:nvSpPr>
          <p:cNvPr id="18" name="Text 16"/>
          <p:cNvSpPr/>
          <p:nvPr/>
        </p:nvSpPr>
        <p:spPr>
          <a:xfrm>
            <a:off x="4562856" y="3593592"/>
            <a:ext cx="3063240" cy="228600"/>
          </a:xfrm>
          <a:prstGeom prst="rect">
            <a:avLst/>
          </a:prstGeom>
          <a:noFill/>
          <a:ln/>
        </p:spPr>
        <p:txBody>
          <a:bodyPr wrap="square" lIns="0" tIns="0" rIns="0" bIns="0" rtlCol="0" anchor="t"/>
          <a:lstStyle/>
          <a:p>
            <a:pPr indent="0" marL="0">
              <a:lnSpc>
                <a:spcPct val="106000"/>
              </a:lnSpc>
              <a:buNone/>
            </a:pPr>
            <a:r>
              <a:rPr lang="en-US" sz="1200" b="1" dirty="0">
                <a:solidFill>
                  <a:srgbClr val="193F35"/>
                </a:solidFill>
                <a:latin typeface="Inter" pitchFamily="34" charset="0"/>
                <a:ea typeface="Inter" pitchFamily="34" charset="-122"/>
                <a:cs typeface="Inter" pitchFamily="34" charset="-120"/>
              </a:rPr>
              <a:t>Generate and explain</a:t>
            </a:r>
            <a:endParaRPr lang="en-US" sz="1200" dirty="0"/>
          </a:p>
        </p:txBody>
      </p:sp>
      <p:sp>
        <p:nvSpPr>
          <p:cNvPr id="19" name="Text 17"/>
          <p:cNvSpPr/>
          <p:nvPr/>
        </p:nvSpPr>
        <p:spPr>
          <a:xfrm>
            <a:off x="4562856" y="3922776"/>
            <a:ext cx="3063240" cy="493776"/>
          </a:xfrm>
          <a:prstGeom prst="rect">
            <a:avLst/>
          </a:prstGeom>
          <a:noFill/>
          <a:ln/>
        </p:spPr>
        <p:txBody>
          <a:bodyPr wrap="square" lIns="0" tIns="0" rIns="0" bIns="0" rtlCol="0" anchor="t"/>
          <a:lstStyle/>
          <a:p>
            <a:pPr indent="0" marL="0">
              <a:lnSpc>
                <a:spcPct val="106000"/>
              </a:lnSpc>
              <a:buNone/>
            </a:pPr>
            <a:r>
              <a:rPr lang="en-US" sz="1130" dirty="0">
                <a:solidFill>
                  <a:srgbClr val="68776D"/>
                </a:solidFill>
                <a:latin typeface="Inter" pitchFamily="34" charset="0"/>
                <a:ea typeface="Inter" pitchFamily="34" charset="-122"/>
                <a:cs typeface="Inter" pitchFamily="34" charset="-120"/>
              </a:rPr>
              <a:t>Offer a few relevant meals and show</a:t>
            </a:r>
            <a:endParaRPr lang="en-US" sz="1130" dirty="0"/>
          </a:p>
          <a:p>
            <a:pPr indent="0" marL="0">
              <a:lnSpc>
                <a:spcPct val="106000"/>
              </a:lnSpc>
              <a:buNone/>
            </a:pPr>
            <a:r>
              <a:rPr lang="en-US" sz="1130" dirty="0">
                <a:solidFill>
                  <a:srgbClr val="68776D"/>
                </a:solidFill>
                <a:latin typeface="Inter" pitchFamily="34" charset="0"/>
                <a:ea typeface="Inter" pitchFamily="34" charset="-122"/>
                <a:cs typeface="Inter" pitchFamily="34" charset="-120"/>
              </a:rPr>
              <a:t>what each option optimizes.</a:t>
            </a:r>
            <a:endParaRPr lang="en-US" sz="1130" dirty="0"/>
          </a:p>
        </p:txBody>
      </p:sp>
      <p:sp>
        <p:nvSpPr>
          <p:cNvPr id="20" name="Text 18"/>
          <p:cNvSpPr/>
          <p:nvPr/>
        </p:nvSpPr>
        <p:spPr>
          <a:xfrm>
            <a:off x="4562856" y="4681728"/>
            <a:ext cx="3063240" cy="228600"/>
          </a:xfrm>
          <a:prstGeom prst="rect">
            <a:avLst/>
          </a:prstGeom>
          <a:noFill/>
          <a:ln/>
        </p:spPr>
        <p:txBody>
          <a:bodyPr wrap="square" lIns="0" tIns="0" rIns="0" bIns="0" rtlCol="0" anchor="t"/>
          <a:lstStyle/>
          <a:p>
            <a:pPr indent="0" marL="0">
              <a:lnSpc>
                <a:spcPct val="106000"/>
              </a:lnSpc>
              <a:buNone/>
            </a:pPr>
            <a:r>
              <a:rPr lang="en-US" sz="1200" b="1" dirty="0">
                <a:solidFill>
                  <a:srgbClr val="193F35"/>
                </a:solidFill>
                <a:latin typeface="Inter" pitchFamily="34" charset="0"/>
                <a:ea typeface="Inter" pitchFamily="34" charset="-122"/>
                <a:cs typeface="Inter" pitchFamily="34" charset="-120"/>
              </a:rPr>
              <a:t>Adapt and learn</a:t>
            </a:r>
            <a:endParaRPr lang="en-US" sz="1200" dirty="0"/>
          </a:p>
        </p:txBody>
      </p:sp>
      <p:sp>
        <p:nvSpPr>
          <p:cNvPr id="21" name="Text 19"/>
          <p:cNvSpPr/>
          <p:nvPr/>
        </p:nvSpPr>
        <p:spPr>
          <a:xfrm>
            <a:off x="4562856" y="5010912"/>
            <a:ext cx="3063240" cy="521208"/>
          </a:xfrm>
          <a:prstGeom prst="rect">
            <a:avLst/>
          </a:prstGeom>
          <a:noFill/>
          <a:ln/>
        </p:spPr>
        <p:txBody>
          <a:bodyPr wrap="square" lIns="0" tIns="0" rIns="0" bIns="0" rtlCol="0" anchor="t"/>
          <a:lstStyle/>
          <a:p>
            <a:pPr indent="0" marL="0">
              <a:lnSpc>
                <a:spcPct val="106000"/>
              </a:lnSpc>
              <a:buNone/>
            </a:pPr>
            <a:r>
              <a:rPr lang="en-US" sz="1130" dirty="0">
                <a:solidFill>
                  <a:srgbClr val="68776D"/>
                </a:solidFill>
                <a:latin typeface="Inter" pitchFamily="34" charset="0"/>
                <a:ea typeface="Inter" pitchFamily="34" charset="-122"/>
                <a:cs typeface="Inter" pitchFamily="34" charset="-120"/>
              </a:rPr>
              <a:t>Use favorites and explicit feedback.</a:t>
            </a:r>
            <a:endParaRPr lang="en-US" sz="1130" dirty="0"/>
          </a:p>
          <a:p>
            <a:pPr indent="0" marL="0">
              <a:lnSpc>
                <a:spcPct val="106000"/>
              </a:lnSpc>
              <a:buNone/>
            </a:pPr>
            <a:r>
              <a:rPr lang="en-US" sz="1130" dirty="0">
                <a:solidFill>
                  <a:srgbClr val="68776D"/>
                </a:solidFill>
                <a:latin typeface="Inter" pitchFamily="34" charset="0"/>
                <a:ea typeface="Inter" pitchFamily="34" charset="-122"/>
                <a:cs typeface="Inter" pitchFamily="34" charset="-120"/>
              </a:rPr>
              <a:t>Suggest substitutions for review.</a:t>
            </a:r>
            <a:endParaRPr lang="en-US" sz="1130" dirty="0"/>
          </a:p>
        </p:txBody>
      </p:sp>
      <p:sp>
        <p:nvSpPr>
          <p:cNvPr id="22" name="Shape 20"/>
          <p:cNvSpPr/>
          <p:nvPr/>
        </p:nvSpPr>
        <p:spPr>
          <a:xfrm>
            <a:off x="8119872" y="2130552"/>
            <a:ext cx="3483864" cy="3602736"/>
          </a:xfrm>
          <a:prstGeom prst="roundRect">
            <a:avLst>
              <a:gd name="adj" fmla="val 3150"/>
            </a:avLst>
          </a:prstGeom>
          <a:solidFill>
            <a:srgbClr val="FBE7DB"/>
          </a:solidFill>
          <a:ln w="12700">
            <a:solidFill>
              <a:srgbClr val="FBE7DB"/>
            </a:solidFill>
            <a:prstDash val="solid"/>
          </a:ln>
        </p:spPr>
      </p:sp>
      <p:sp>
        <p:nvSpPr>
          <p:cNvPr id="23" name="Text 21"/>
          <p:cNvSpPr/>
          <p:nvPr/>
        </p:nvSpPr>
        <p:spPr>
          <a:xfrm>
            <a:off x="8321040" y="2386584"/>
            <a:ext cx="3081528" cy="182880"/>
          </a:xfrm>
          <a:prstGeom prst="rect">
            <a:avLst/>
          </a:prstGeom>
          <a:noFill/>
          <a:ln/>
        </p:spPr>
        <p:txBody>
          <a:bodyPr wrap="square" lIns="0" tIns="0" rIns="0" bIns="0" rtlCol="0" anchor="t"/>
          <a:lstStyle/>
          <a:p>
            <a:pPr indent="0" marL="0">
              <a:lnSpc>
                <a:spcPct val="106000"/>
              </a:lnSpc>
              <a:buNone/>
            </a:pPr>
            <a:r>
              <a:rPr lang="en-US" sz="850" b="1" spc="165" kern="0" dirty="0">
                <a:solidFill>
                  <a:srgbClr val="68776D"/>
                </a:solidFill>
                <a:latin typeface="Inter" pitchFamily="34" charset="0"/>
                <a:ea typeface="Inter" pitchFamily="34" charset="-122"/>
                <a:cs typeface="Inter" pitchFamily="34" charset="-120"/>
              </a:rPr>
              <a:t>THE PRODUCT ENFORCES</a:t>
            </a:r>
            <a:endParaRPr lang="en-US" sz="850" dirty="0"/>
          </a:p>
        </p:txBody>
      </p:sp>
      <p:sp>
        <p:nvSpPr>
          <p:cNvPr id="24" name="Text 22"/>
          <p:cNvSpPr/>
          <p:nvPr/>
        </p:nvSpPr>
        <p:spPr>
          <a:xfrm>
            <a:off x="8321040" y="2779776"/>
            <a:ext cx="3081528" cy="493776"/>
          </a:xfrm>
          <a:prstGeom prst="rect">
            <a:avLst/>
          </a:prstGeom>
          <a:noFill/>
          <a:ln/>
        </p:spPr>
        <p:txBody>
          <a:bodyPr wrap="square" lIns="0" tIns="0" rIns="0" bIns="0" rtlCol="0" anchor="t"/>
          <a:lstStyle/>
          <a:p>
            <a:pPr indent="0" marL="0">
              <a:lnSpc>
                <a:spcPct val="106000"/>
              </a:lnSpc>
              <a:buNone/>
            </a:pPr>
            <a:r>
              <a:rPr lang="en-US" sz="2900" b="1" spc="-100" kern="0" dirty="0">
                <a:solidFill>
                  <a:srgbClr val="193F35"/>
                </a:solidFill>
                <a:latin typeface="Inter" pitchFamily="34" charset="0"/>
                <a:ea typeface="Inter" pitchFamily="34" charset="-122"/>
                <a:cs typeface="Inter" pitchFamily="34" charset="-120"/>
              </a:rPr>
              <a:t>What changes</a:t>
            </a:r>
            <a:endParaRPr lang="en-US" sz="2900" dirty="0"/>
          </a:p>
        </p:txBody>
      </p:sp>
      <p:sp>
        <p:nvSpPr>
          <p:cNvPr id="25" name="Text 23"/>
          <p:cNvSpPr/>
          <p:nvPr/>
        </p:nvSpPr>
        <p:spPr>
          <a:xfrm>
            <a:off x="8330184" y="3593592"/>
            <a:ext cx="3063240" cy="228600"/>
          </a:xfrm>
          <a:prstGeom prst="rect">
            <a:avLst/>
          </a:prstGeom>
          <a:noFill/>
          <a:ln/>
        </p:spPr>
        <p:txBody>
          <a:bodyPr wrap="square" lIns="0" tIns="0" rIns="0" bIns="0" rtlCol="0" anchor="t"/>
          <a:lstStyle/>
          <a:p>
            <a:pPr indent="0" marL="0">
              <a:lnSpc>
                <a:spcPct val="106000"/>
              </a:lnSpc>
              <a:buNone/>
            </a:pPr>
            <a:r>
              <a:rPr lang="en-US" sz="1200" b="1" dirty="0">
                <a:solidFill>
                  <a:srgbClr val="193F35"/>
                </a:solidFill>
                <a:latin typeface="Inter" pitchFamily="34" charset="0"/>
                <a:ea typeface="Inter" pitchFamily="34" charset="-122"/>
                <a:cs typeface="Inter" pitchFamily="34" charset="-120"/>
              </a:rPr>
              <a:t>Deterministic accounting</a:t>
            </a:r>
            <a:endParaRPr lang="en-US" sz="1200" dirty="0"/>
          </a:p>
        </p:txBody>
      </p:sp>
      <p:sp>
        <p:nvSpPr>
          <p:cNvPr id="26" name="Text 24"/>
          <p:cNvSpPr/>
          <p:nvPr/>
        </p:nvSpPr>
        <p:spPr>
          <a:xfrm>
            <a:off x="8330184" y="3922776"/>
            <a:ext cx="3063240" cy="493776"/>
          </a:xfrm>
          <a:prstGeom prst="rect">
            <a:avLst/>
          </a:prstGeom>
          <a:noFill/>
          <a:ln/>
        </p:spPr>
        <p:txBody>
          <a:bodyPr wrap="square" lIns="0" tIns="0" rIns="0" bIns="0" rtlCol="0" anchor="t"/>
          <a:lstStyle/>
          <a:p>
            <a:pPr indent="0" marL="0">
              <a:lnSpc>
                <a:spcPct val="106000"/>
              </a:lnSpc>
              <a:buNone/>
            </a:pPr>
            <a:r>
              <a:rPr lang="en-US" sz="1130" dirty="0">
                <a:solidFill>
                  <a:srgbClr val="68776D"/>
                </a:solidFill>
                <a:latin typeface="Inter" pitchFamily="34" charset="0"/>
                <a:ea typeface="Inter" pitchFamily="34" charset="-122"/>
                <a:cs typeface="Inter" pitchFamily="34" charset="-120"/>
              </a:rPr>
              <a:t>Scale quantities, merge shopping needs,</a:t>
            </a:r>
            <a:endParaRPr lang="en-US" sz="1130" dirty="0"/>
          </a:p>
          <a:p>
            <a:pPr indent="0" marL="0">
              <a:lnSpc>
                <a:spcPct val="106000"/>
              </a:lnSpc>
              <a:buNone/>
            </a:pPr>
            <a:r>
              <a:rPr lang="en-US" sz="1130" dirty="0">
                <a:solidFill>
                  <a:srgbClr val="68776D"/>
                </a:solidFill>
                <a:latin typeface="Inter" pitchFamily="34" charset="0"/>
                <a:ea typeface="Inter" pitchFamily="34" charset="-122"/>
                <a:cs typeface="Inter" pitchFamily="34" charset="-120"/>
              </a:rPr>
              <a:t>reserve stock and validate updates.</a:t>
            </a:r>
            <a:endParaRPr lang="en-US" sz="1130" dirty="0"/>
          </a:p>
        </p:txBody>
      </p:sp>
      <p:sp>
        <p:nvSpPr>
          <p:cNvPr id="27" name="Text 25"/>
          <p:cNvSpPr/>
          <p:nvPr/>
        </p:nvSpPr>
        <p:spPr>
          <a:xfrm>
            <a:off x="8330184" y="4681728"/>
            <a:ext cx="3063240" cy="228600"/>
          </a:xfrm>
          <a:prstGeom prst="rect">
            <a:avLst/>
          </a:prstGeom>
          <a:noFill/>
          <a:ln/>
        </p:spPr>
        <p:txBody>
          <a:bodyPr wrap="square" lIns="0" tIns="0" rIns="0" bIns="0" rtlCol="0" anchor="t"/>
          <a:lstStyle/>
          <a:p>
            <a:pPr indent="0" marL="0">
              <a:lnSpc>
                <a:spcPct val="106000"/>
              </a:lnSpc>
              <a:buNone/>
            </a:pPr>
            <a:r>
              <a:rPr lang="en-US" sz="1200" b="1" dirty="0">
                <a:solidFill>
                  <a:srgbClr val="193F35"/>
                </a:solidFill>
                <a:latin typeface="Inter" pitchFamily="34" charset="0"/>
                <a:ea typeface="Inter" pitchFamily="34" charset="-122"/>
                <a:cs typeface="Inter" pitchFamily="34" charset="-120"/>
              </a:rPr>
              <a:t>Human confirmation</a:t>
            </a:r>
            <a:endParaRPr lang="en-US" sz="1200" dirty="0"/>
          </a:p>
        </p:txBody>
      </p:sp>
      <p:sp>
        <p:nvSpPr>
          <p:cNvPr id="28" name="Text 26"/>
          <p:cNvSpPr/>
          <p:nvPr/>
        </p:nvSpPr>
        <p:spPr>
          <a:xfrm>
            <a:off x="8330184" y="5010912"/>
            <a:ext cx="3063240" cy="521208"/>
          </a:xfrm>
          <a:prstGeom prst="rect">
            <a:avLst/>
          </a:prstGeom>
          <a:noFill/>
          <a:ln/>
        </p:spPr>
        <p:txBody>
          <a:bodyPr wrap="square" lIns="0" tIns="0" rIns="0" bIns="0" rtlCol="0" anchor="t"/>
          <a:lstStyle/>
          <a:p>
            <a:pPr indent="0" marL="0">
              <a:lnSpc>
                <a:spcPct val="106000"/>
              </a:lnSpc>
              <a:buNone/>
            </a:pPr>
            <a:r>
              <a:rPr lang="en-US" sz="1130" dirty="0">
                <a:solidFill>
                  <a:srgbClr val="68776D"/>
                </a:solidFill>
                <a:latin typeface="Inter" pitchFamily="34" charset="0"/>
                <a:ea typeface="Inter" pitchFamily="34" charset="-122"/>
                <a:cs typeface="Inter" pitchFamily="34" charset="-120"/>
              </a:rPr>
              <a:t>Approve plans, imports, actual use</a:t>
            </a:r>
            <a:endParaRPr lang="en-US" sz="1130" dirty="0"/>
          </a:p>
          <a:p>
            <a:pPr indent="0" marL="0">
              <a:lnSpc>
                <a:spcPct val="106000"/>
              </a:lnSpc>
              <a:buNone/>
            </a:pPr>
            <a:r>
              <a:rPr lang="en-US" sz="1130" dirty="0">
                <a:solidFill>
                  <a:srgbClr val="68776D"/>
                </a:solidFill>
                <a:latin typeface="Inter" pitchFamily="34" charset="0"/>
                <a:ea typeface="Inter" pitchFamily="34" charset="-122"/>
                <a:cs typeface="Inter" pitchFamily="34" charset="-120"/>
              </a:rPr>
              <a:t>and any eventual paid order.</a:t>
            </a:r>
            <a:endParaRPr lang="en-US" sz="1130" dirty="0"/>
          </a:p>
        </p:txBody>
      </p:sp>
      <p:sp>
        <p:nvSpPr>
          <p:cNvPr id="29" name="Text 27"/>
          <p:cNvSpPr/>
          <p:nvPr/>
        </p:nvSpPr>
        <p:spPr>
          <a:xfrm>
            <a:off x="621792" y="6062472"/>
            <a:ext cx="10991088" cy="228600"/>
          </a:xfrm>
          <a:prstGeom prst="rect">
            <a:avLst/>
          </a:prstGeom>
          <a:noFill/>
          <a:ln/>
        </p:spPr>
        <p:txBody>
          <a:bodyPr wrap="square" lIns="0" tIns="0" rIns="0" bIns="0" rtlCol="0" anchor="t"/>
          <a:lstStyle/>
          <a:p>
            <a:pPr indent="0" marL="0">
              <a:lnSpc>
                <a:spcPct val="106000"/>
              </a:lnSpc>
              <a:buNone/>
            </a:pPr>
            <a:r>
              <a:rPr lang="en-US" sz="1060" dirty="0">
                <a:solidFill>
                  <a:srgbClr val="68776D"/>
                </a:solidFill>
                <a:latin typeface="Inter" pitchFamily="34" charset="0"/>
                <a:ea typeface="Inter" pitchFamily="34" charset="-122"/>
                <a:cs typeface="Inter" pitchFamily="34" charset="-120"/>
              </a:rPr>
              <a:t>Do not relax a hard constraint to improve a score. Do not infer allergy tolerance. Unknown ingredients or quantities require review.</a:t>
            </a:r>
            <a:endParaRPr lang="en-US" sz="106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0"/>
        </a:solidFill>
      </p:bgPr>
    </p:bg>
    <p:spTree>
      <p:nvGrpSpPr>
        <p:cNvPr id="1" name=""/>
        <p:cNvGrpSpPr/>
        <p:nvPr/>
      </p:nvGrpSpPr>
      <p:grpSpPr>
        <a:xfrm>
          <a:off x="0" y="0"/>
          <a:ext cx="0" cy="0"/>
          <a:chOff x="0" y="0"/>
          <a:chExt cx="0" cy="0"/>
        </a:xfrm>
      </p:grpSpPr>
      <p:sp>
        <p:nvSpPr>
          <p:cNvPr id="2" name="Text 0"/>
          <p:cNvSpPr/>
          <p:nvPr/>
        </p:nvSpPr>
        <p:spPr>
          <a:xfrm>
            <a:off x="502920" y="320040"/>
            <a:ext cx="9144000" cy="182880"/>
          </a:xfrm>
          <a:prstGeom prst="rect">
            <a:avLst/>
          </a:prstGeom>
          <a:noFill/>
          <a:ln/>
        </p:spPr>
        <p:txBody>
          <a:bodyPr wrap="square" lIns="0" tIns="0" rIns="0" bIns="0" rtlCol="0" anchor="t"/>
          <a:lstStyle/>
          <a:p>
            <a:pPr indent="0" marL="0">
              <a:lnSpc>
                <a:spcPct val="106000"/>
              </a:lnSpc>
              <a:buNone/>
            </a:pPr>
            <a:r>
              <a:rPr lang="en-US" sz="850" b="1" spc="165" kern="0" dirty="0">
                <a:solidFill>
                  <a:srgbClr val="68776D"/>
                </a:solidFill>
                <a:latin typeface="Inter" pitchFamily="34" charset="0"/>
                <a:ea typeface="Inter" pitchFamily="34" charset="-122"/>
                <a:cs typeface="Inter" pitchFamily="34" charset="-120"/>
              </a:rPr>
              <a:t>LUNCHBOX  /  ONBOARDING &amp; RETENTION</a:t>
            </a:r>
            <a:endParaRPr lang="en-US" sz="850" dirty="0"/>
          </a:p>
        </p:txBody>
      </p:sp>
      <p:sp>
        <p:nvSpPr>
          <p:cNvPr id="3" name="Text 1"/>
          <p:cNvSpPr/>
          <p:nvPr/>
        </p:nvSpPr>
        <p:spPr>
          <a:xfrm>
            <a:off x="502920" y="749808"/>
            <a:ext cx="11155680" cy="658368"/>
          </a:xfrm>
          <a:prstGeom prst="rect">
            <a:avLst/>
          </a:prstGeom>
          <a:noFill/>
          <a:ln/>
        </p:spPr>
        <p:txBody>
          <a:bodyPr wrap="square" lIns="0" tIns="0" rIns="0" bIns="0" rtlCol="0" anchor="t"/>
          <a:lstStyle/>
          <a:p>
            <a:pPr indent="0" marL="0">
              <a:lnSpc>
                <a:spcPct val="106000"/>
              </a:lnSpc>
              <a:buNone/>
            </a:pPr>
            <a:r>
              <a:rPr lang="en-US" sz="3100" b="1" spc="-125" kern="0" dirty="0">
                <a:solidFill>
                  <a:srgbClr val="193F35"/>
                </a:solidFill>
                <a:latin typeface="Inter" pitchFamily="34" charset="0"/>
                <a:ea typeface="Inter" pitchFamily="34" charset="-122"/>
                <a:cs typeface="Inter" pitchFamily="34" charset="-120"/>
              </a:rPr>
              <a:t>Earn trust before asking for a complete pantry.</a:t>
            </a:r>
            <a:endParaRPr lang="en-US" sz="3100" dirty="0"/>
          </a:p>
        </p:txBody>
      </p:sp>
      <p:sp>
        <p:nvSpPr>
          <p:cNvPr id="4" name="Text 2"/>
          <p:cNvSpPr/>
          <p:nvPr/>
        </p:nvSpPr>
        <p:spPr>
          <a:xfrm>
            <a:off x="530352" y="1472184"/>
            <a:ext cx="10789920" cy="457200"/>
          </a:xfrm>
          <a:prstGeom prst="rect">
            <a:avLst/>
          </a:prstGeom>
          <a:noFill/>
          <a:ln/>
        </p:spPr>
        <p:txBody>
          <a:bodyPr wrap="square" lIns="0" tIns="0" rIns="0" bIns="0" rtlCol="0" anchor="t"/>
          <a:lstStyle/>
          <a:p>
            <a:pPr indent="0" marL="0">
              <a:lnSpc>
                <a:spcPct val="106000"/>
              </a:lnSpc>
              <a:buNone/>
            </a:pPr>
            <a:r>
              <a:rPr lang="en-US" sz="1200" dirty="0">
                <a:solidFill>
                  <a:srgbClr val="68776D"/>
                </a:solidFill>
                <a:latin typeface="Inter" pitchFamily="34" charset="0"/>
                <a:ea typeface="Inter" pitchFamily="34" charset="-122"/>
                <a:cs typeface="Inter" pitchFamily="34" charset="-120"/>
              </a:rPr>
              <a:t>Get to a useful meal first. Grow the inventory and preferences through normal cooking.</a:t>
            </a:r>
            <a:endParaRPr lang="en-US" sz="1200" dirty="0"/>
          </a:p>
        </p:txBody>
      </p:sp>
      <p:sp>
        <p:nvSpPr>
          <p:cNvPr id="5" name="Shape 3"/>
          <p:cNvSpPr/>
          <p:nvPr/>
        </p:nvSpPr>
        <p:spPr>
          <a:xfrm>
            <a:off x="502920" y="6455664"/>
            <a:ext cx="11183112" cy="0"/>
          </a:xfrm>
          <a:prstGeom prst="line">
            <a:avLst/>
          </a:prstGeom>
          <a:noFill/>
          <a:ln w="8890">
            <a:solidFill>
              <a:srgbClr val="E0E4D9"/>
            </a:solidFill>
            <a:prstDash val="solid"/>
          </a:ln>
        </p:spPr>
      </p:sp>
      <p:sp>
        <p:nvSpPr>
          <p:cNvPr id="6" name="Text 4"/>
          <p:cNvSpPr/>
          <p:nvPr/>
        </p:nvSpPr>
        <p:spPr>
          <a:xfrm>
            <a:off x="512064" y="6565392"/>
            <a:ext cx="6400800" cy="118872"/>
          </a:xfrm>
          <a:prstGeom prst="rect">
            <a:avLst/>
          </a:prstGeom>
          <a:noFill/>
          <a:ln/>
        </p:spPr>
        <p:txBody>
          <a:bodyPr wrap="square" lIns="0" tIns="0" rIns="0" bIns="0" rtlCol="0" anchor="t"/>
          <a:lstStyle/>
          <a:p>
            <a:pPr indent="0" marL="0">
              <a:lnSpc>
                <a:spcPct val="106000"/>
              </a:lnSpc>
              <a:buNone/>
            </a:pPr>
            <a:r>
              <a:rPr lang="en-US" sz="730" spc="90" kern="0" dirty="0">
                <a:solidFill>
                  <a:srgbClr val="68776D"/>
                </a:solidFill>
                <a:latin typeface="Inter" pitchFamily="34" charset="0"/>
                <a:ea typeface="Inter" pitchFamily="34" charset="-122"/>
                <a:cs typeface="Inter" pitchFamily="34" charset="-120"/>
              </a:rPr>
              <a:t>CONCEPT PORTFOLIO · SEPTEMBER 2026</a:t>
            </a:r>
            <a:endParaRPr lang="en-US" sz="730" dirty="0"/>
          </a:p>
        </p:txBody>
      </p:sp>
      <p:sp>
        <p:nvSpPr>
          <p:cNvPr id="7" name="Text 5"/>
          <p:cNvSpPr/>
          <p:nvPr/>
        </p:nvSpPr>
        <p:spPr>
          <a:xfrm>
            <a:off x="11155680" y="6537960"/>
            <a:ext cx="530352" cy="155448"/>
          </a:xfrm>
          <a:prstGeom prst="rect">
            <a:avLst/>
          </a:prstGeom>
          <a:noFill/>
          <a:ln/>
        </p:spPr>
        <p:txBody>
          <a:bodyPr wrap="square" lIns="0" tIns="0" rIns="0" bIns="0" rtlCol="0" anchor="t"/>
          <a:lstStyle/>
          <a:p>
            <a:pPr algn="r" indent="0" marL="0">
              <a:lnSpc>
                <a:spcPct val="106000"/>
              </a:lnSpc>
              <a:buNone/>
            </a:pPr>
            <a:r>
              <a:rPr lang="en-US" sz="900" b="1" dirty="0">
                <a:solidFill>
                  <a:srgbClr val="193F35"/>
                </a:solidFill>
                <a:latin typeface="Inter" pitchFamily="34" charset="0"/>
                <a:ea typeface="Inter" pitchFamily="34" charset="-122"/>
                <a:cs typeface="Inter" pitchFamily="34" charset="-120"/>
              </a:rPr>
              <a:t>11</a:t>
            </a:r>
            <a:endParaRPr lang="en-US" sz="900" dirty="0"/>
          </a:p>
        </p:txBody>
      </p:sp>
      <p:sp>
        <p:nvSpPr>
          <p:cNvPr id="8" name="Shape 6"/>
          <p:cNvSpPr/>
          <p:nvPr/>
        </p:nvSpPr>
        <p:spPr>
          <a:xfrm>
            <a:off x="630936" y="2130552"/>
            <a:ext cx="347472" cy="347472"/>
          </a:xfrm>
          <a:prstGeom prst="roundRect">
            <a:avLst>
              <a:gd name="adj" fmla="val 28947"/>
            </a:avLst>
          </a:prstGeom>
          <a:solidFill>
            <a:srgbClr val="244D40"/>
          </a:solidFill>
          <a:ln w="12700">
            <a:solidFill>
              <a:srgbClr val="244D40"/>
            </a:solidFill>
            <a:prstDash val="solid"/>
          </a:ln>
        </p:spPr>
      </p:sp>
      <p:sp>
        <p:nvSpPr>
          <p:cNvPr id="9" name="Text 7"/>
          <p:cNvSpPr/>
          <p:nvPr/>
        </p:nvSpPr>
        <p:spPr>
          <a:xfrm>
            <a:off x="630936" y="2189988"/>
            <a:ext cx="347472" cy="210312"/>
          </a:xfrm>
          <a:prstGeom prst="rect">
            <a:avLst/>
          </a:prstGeom>
          <a:noFill/>
          <a:ln/>
        </p:spPr>
        <p:txBody>
          <a:bodyPr wrap="square" lIns="0" tIns="0" rIns="0" bIns="0" rtlCol="0" anchor="t"/>
          <a:lstStyle/>
          <a:p>
            <a:pPr algn="ctr" indent="0" marL="0">
              <a:lnSpc>
                <a:spcPct val="106000"/>
              </a:lnSpc>
              <a:buNone/>
            </a:pPr>
            <a:r>
              <a:rPr lang="en-US" sz="1000" b="1" dirty="0">
                <a:solidFill>
                  <a:srgbClr val="FFFEFA"/>
                </a:solidFill>
                <a:latin typeface="Inter" pitchFamily="34" charset="0"/>
                <a:ea typeface="Inter" pitchFamily="34" charset="-122"/>
                <a:cs typeface="Inter" pitchFamily="34" charset="-120"/>
              </a:rPr>
              <a:t>01</a:t>
            </a:r>
            <a:endParaRPr lang="en-US" sz="1000" dirty="0"/>
          </a:p>
        </p:txBody>
      </p:sp>
      <p:sp>
        <p:nvSpPr>
          <p:cNvPr id="10" name="Text 8"/>
          <p:cNvSpPr/>
          <p:nvPr/>
        </p:nvSpPr>
        <p:spPr>
          <a:xfrm>
            <a:off x="1188720" y="2121408"/>
            <a:ext cx="6711696" cy="283464"/>
          </a:xfrm>
          <a:prstGeom prst="rect">
            <a:avLst/>
          </a:prstGeom>
          <a:noFill/>
          <a:ln/>
        </p:spPr>
        <p:txBody>
          <a:bodyPr wrap="square" lIns="0" tIns="0" rIns="0" bIns="0" rtlCol="0" anchor="t"/>
          <a:lstStyle/>
          <a:p>
            <a:pPr indent="0" marL="0">
              <a:lnSpc>
                <a:spcPct val="106000"/>
              </a:lnSpc>
              <a:buNone/>
            </a:pPr>
            <a:r>
              <a:rPr lang="en-US" sz="1800" b="1" spc="-40" kern="0" dirty="0">
                <a:solidFill>
                  <a:srgbClr val="193F35"/>
                </a:solidFill>
                <a:latin typeface="Inter" pitchFamily="34" charset="0"/>
                <a:ea typeface="Inter" pitchFamily="34" charset="-122"/>
                <a:cs typeface="Inter" pitchFamily="34" charset="-120"/>
              </a:rPr>
              <a:t>Set the boundaries</a:t>
            </a:r>
            <a:endParaRPr lang="en-US" sz="1800" dirty="0"/>
          </a:p>
        </p:txBody>
      </p:sp>
      <p:sp>
        <p:nvSpPr>
          <p:cNvPr id="11" name="Text 9"/>
          <p:cNvSpPr/>
          <p:nvPr/>
        </p:nvSpPr>
        <p:spPr>
          <a:xfrm>
            <a:off x="1207008" y="2532888"/>
            <a:ext cx="6748272" cy="438912"/>
          </a:xfrm>
          <a:prstGeom prst="rect">
            <a:avLst/>
          </a:prstGeom>
          <a:noFill/>
          <a:ln/>
        </p:spPr>
        <p:txBody>
          <a:bodyPr wrap="square" lIns="0" tIns="0" rIns="0" bIns="0" rtlCol="0" anchor="t"/>
          <a:lstStyle/>
          <a:p>
            <a:pPr indent="0" marL="0">
              <a:lnSpc>
                <a:spcPct val="106000"/>
              </a:lnSpc>
              <a:buNone/>
            </a:pPr>
            <a:r>
              <a:rPr lang="en-US" sz="1150" dirty="0">
                <a:solidFill>
                  <a:srgbClr val="68776D"/>
                </a:solidFill>
                <a:latin typeface="Inter" pitchFamily="34" charset="0"/>
                <a:ea typeface="Inter" pitchFamily="34" charset="-122"/>
                <a:cs typeface="Inter" pitchFamily="34" charset="-120"/>
              </a:rPr>
              <a:t>People and servings, kitchen tools, hard dietary rules, and tonight’s time limit.</a:t>
            </a:r>
            <a:endParaRPr lang="en-US" sz="1150" dirty="0"/>
          </a:p>
        </p:txBody>
      </p:sp>
      <p:sp>
        <p:nvSpPr>
          <p:cNvPr id="12" name="Shape 10"/>
          <p:cNvSpPr/>
          <p:nvPr/>
        </p:nvSpPr>
        <p:spPr>
          <a:xfrm>
            <a:off x="630936" y="3108960"/>
            <a:ext cx="347472" cy="347472"/>
          </a:xfrm>
          <a:prstGeom prst="roundRect">
            <a:avLst>
              <a:gd name="adj" fmla="val 28947"/>
            </a:avLst>
          </a:prstGeom>
          <a:solidFill>
            <a:srgbClr val="244D40"/>
          </a:solidFill>
          <a:ln w="12700">
            <a:solidFill>
              <a:srgbClr val="244D40"/>
            </a:solidFill>
            <a:prstDash val="solid"/>
          </a:ln>
        </p:spPr>
      </p:sp>
      <p:sp>
        <p:nvSpPr>
          <p:cNvPr id="13" name="Text 11"/>
          <p:cNvSpPr/>
          <p:nvPr/>
        </p:nvSpPr>
        <p:spPr>
          <a:xfrm>
            <a:off x="630936" y="3168396"/>
            <a:ext cx="347472" cy="210312"/>
          </a:xfrm>
          <a:prstGeom prst="rect">
            <a:avLst/>
          </a:prstGeom>
          <a:noFill/>
          <a:ln/>
        </p:spPr>
        <p:txBody>
          <a:bodyPr wrap="square" lIns="0" tIns="0" rIns="0" bIns="0" rtlCol="0" anchor="t"/>
          <a:lstStyle/>
          <a:p>
            <a:pPr algn="ctr" indent="0" marL="0">
              <a:lnSpc>
                <a:spcPct val="106000"/>
              </a:lnSpc>
              <a:buNone/>
            </a:pPr>
            <a:r>
              <a:rPr lang="en-US" sz="1000" b="1" dirty="0">
                <a:solidFill>
                  <a:srgbClr val="FFFEFA"/>
                </a:solidFill>
                <a:latin typeface="Inter" pitchFamily="34" charset="0"/>
                <a:ea typeface="Inter" pitchFamily="34" charset="-122"/>
                <a:cs typeface="Inter" pitchFamily="34" charset="-120"/>
              </a:rPr>
              <a:t>02</a:t>
            </a:r>
            <a:endParaRPr lang="en-US" sz="1000" dirty="0"/>
          </a:p>
        </p:txBody>
      </p:sp>
      <p:sp>
        <p:nvSpPr>
          <p:cNvPr id="14" name="Text 12"/>
          <p:cNvSpPr/>
          <p:nvPr/>
        </p:nvSpPr>
        <p:spPr>
          <a:xfrm>
            <a:off x="1188720" y="3099816"/>
            <a:ext cx="6711696" cy="283464"/>
          </a:xfrm>
          <a:prstGeom prst="rect">
            <a:avLst/>
          </a:prstGeom>
          <a:noFill/>
          <a:ln/>
        </p:spPr>
        <p:txBody>
          <a:bodyPr wrap="square" lIns="0" tIns="0" rIns="0" bIns="0" rtlCol="0" anchor="t"/>
          <a:lstStyle/>
          <a:p>
            <a:pPr indent="0" marL="0">
              <a:lnSpc>
                <a:spcPct val="106000"/>
              </a:lnSpc>
              <a:buNone/>
            </a:pPr>
            <a:r>
              <a:rPr lang="en-US" sz="1800" b="1" spc="-40" kern="0" dirty="0">
                <a:solidFill>
                  <a:srgbClr val="193F35"/>
                </a:solidFill>
                <a:latin typeface="Inter" pitchFamily="34" charset="0"/>
                <a:ea typeface="Inter" pitchFamily="34" charset="-122"/>
                <a:cs typeface="Inter" pitchFamily="34" charset="-120"/>
              </a:rPr>
              <a:t>Add a useful handful of food</a:t>
            </a:r>
            <a:endParaRPr lang="en-US" sz="1800" dirty="0"/>
          </a:p>
        </p:txBody>
      </p:sp>
      <p:sp>
        <p:nvSpPr>
          <p:cNvPr id="15" name="Text 13"/>
          <p:cNvSpPr/>
          <p:nvPr/>
        </p:nvSpPr>
        <p:spPr>
          <a:xfrm>
            <a:off x="1207008" y="3511296"/>
            <a:ext cx="6748272" cy="438912"/>
          </a:xfrm>
          <a:prstGeom prst="rect">
            <a:avLst/>
          </a:prstGeom>
          <a:noFill/>
          <a:ln/>
        </p:spPr>
        <p:txBody>
          <a:bodyPr wrap="square" lIns="0" tIns="0" rIns="0" bIns="0" rtlCol="0" anchor="t"/>
          <a:lstStyle/>
          <a:p>
            <a:pPr indent="0" marL="0">
              <a:lnSpc>
                <a:spcPct val="106000"/>
              </a:lnSpc>
              <a:buNone/>
            </a:pPr>
            <a:r>
              <a:rPr lang="en-US" sz="1150" dirty="0">
                <a:solidFill>
                  <a:srgbClr val="68776D"/>
                </a:solidFill>
                <a:latin typeface="Inter" pitchFamily="34" charset="0"/>
                <a:ea typeface="Inter" pitchFamily="34" charset="-122"/>
                <a:cs typeface="Inter" pitchFamily="34" charset="-120"/>
              </a:rPr>
              <a:t>Start with 5–10 ingredients, especially perishables. Pantry staples stay unconfirmed until checked.</a:t>
            </a:r>
            <a:endParaRPr lang="en-US" sz="1150" dirty="0"/>
          </a:p>
        </p:txBody>
      </p:sp>
      <p:sp>
        <p:nvSpPr>
          <p:cNvPr id="16" name="Shape 14"/>
          <p:cNvSpPr/>
          <p:nvPr/>
        </p:nvSpPr>
        <p:spPr>
          <a:xfrm>
            <a:off x="630936" y="4087368"/>
            <a:ext cx="347472" cy="347472"/>
          </a:xfrm>
          <a:prstGeom prst="roundRect">
            <a:avLst>
              <a:gd name="adj" fmla="val 28947"/>
            </a:avLst>
          </a:prstGeom>
          <a:solidFill>
            <a:srgbClr val="244D40"/>
          </a:solidFill>
          <a:ln w="12700">
            <a:solidFill>
              <a:srgbClr val="244D40"/>
            </a:solidFill>
            <a:prstDash val="solid"/>
          </a:ln>
        </p:spPr>
      </p:sp>
      <p:sp>
        <p:nvSpPr>
          <p:cNvPr id="17" name="Text 15"/>
          <p:cNvSpPr/>
          <p:nvPr/>
        </p:nvSpPr>
        <p:spPr>
          <a:xfrm>
            <a:off x="630936" y="4146804"/>
            <a:ext cx="347472" cy="210312"/>
          </a:xfrm>
          <a:prstGeom prst="rect">
            <a:avLst/>
          </a:prstGeom>
          <a:noFill/>
          <a:ln/>
        </p:spPr>
        <p:txBody>
          <a:bodyPr wrap="square" lIns="0" tIns="0" rIns="0" bIns="0" rtlCol="0" anchor="t"/>
          <a:lstStyle/>
          <a:p>
            <a:pPr algn="ctr" indent="0" marL="0">
              <a:lnSpc>
                <a:spcPct val="106000"/>
              </a:lnSpc>
              <a:buNone/>
            </a:pPr>
            <a:r>
              <a:rPr lang="en-US" sz="1000" b="1" dirty="0">
                <a:solidFill>
                  <a:srgbClr val="FFFEFA"/>
                </a:solidFill>
                <a:latin typeface="Inter" pitchFamily="34" charset="0"/>
                <a:ea typeface="Inter" pitchFamily="34" charset="-122"/>
                <a:cs typeface="Inter" pitchFamily="34" charset="-120"/>
              </a:rPr>
              <a:t>03</a:t>
            </a:r>
            <a:endParaRPr lang="en-US" sz="1000" dirty="0"/>
          </a:p>
        </p:txBody>
      </p:sp>
      <p:sp>
        <p:nvSpPr>
          <p:cNvPr id="18" name="Text 16"/>
          <p:cNvSpPr/>
          <p:nvPr/>
        </p:nvSpPr>
        <p:spPr>
          <a:xfrm>
            <a:off x="1188720" y="4078224"/>
            <a:ext cx="6711696" cy="283464"/>
          </a:xfrm>
          <a:prstGeom prst="rect">
            <a:avLst/>
          </a:prstGeom>
          <a:noFill/>
          <a:ln/>
        </p:spPr>
        <p:txBody>
          <a:bodyPr wrap="square" lIns="0" tIns="0" rIns="0" bIns="0" rtlCol="0" anchor="t"/>
          <a:lstStyle/>
          <a:p>
            <a:pPr indent="0" marL="0">
              <a:lnSpc>
                <a:spcPct val="106000"/>
              </a:lnSpc>
              <a:buNone/>
            </a:pPr>
            <a:r>
              <a:rPr lang="en-US" sz="1800" b="1" spc="-40" kern="0" dirty="0">
                <a:solidFill>
                  <a:srgbClr val="193F35"/>
                </a:solidFill>
                <a:latin typeface="Inter" pitchFamily="34" charset="0"/>
                <a:ea typeface="Inter" pitchFamily="34" charset="-122"/>
                <a:cs typeface="Inter" pitchFamily="34" charset="-120"/>
              </a:rPr>
              <a:t>Make one good decision</a:t>
            </a:r>
            <a:endParaRPr lang="en-US" sz="1800" dirty="0"/>
          </a:p>
        </p:txBody>
      </p:sp>
      <p:sp>
        <p:nvSpPr>
          <p:cNvPr id="19" name="Text 17"/>
          <p:cNvSpPr/>
          <p:nvPr/>
        </p:nvSpPr>
        <p:spPr>
          <a:xfrm>
            <a:off x="1207008" y="4489704"/>
            <a:ext cx="6748272" cy="438912"/>
          </a:xfrm>
          <a:prstGeom prst="rect">
            <a:avLst/>
          </a:prstGeom>
          <a:noFill/>
          <a:ln/>
        </p:spPr>
        <p:txBody>
          <a:bodyPr wrap="square" lIns="0" tIns="0" rIns="0" bIns="0" rtlCol="0" anchor="t"/>
          <a:lstStyle/>
          <a:p>
            <a:pPr indent="0" marL="0">
              <a:lnSpc>
                <a:spcPct val="106000"/>
              </a:lnSpc>
              <a:buNone/>
            </a:pPr>
            <a:r>
              <a:rPr lang="en-US" sz="1150" dirty="0">
                <a:solidFill>
                  <a:srgbClr val="68776D"/>
                </a:solidFill>
                <a:latin typeface="Inter" pitchFamily="34" charset="0"/>
                <a:ea typeface="Inter" pitchFamily="34" charset="-122"/>
                <a:cs typeface="Inter" pitchFamily="34" charset="-120"/>
              </a:rPr>
              <a:t>Choose a meal, review the gaps, and see the grocery list update automatically.</a:t>
            </a:r>
            <a:endParaRPr lang="en-US" sz="1150" dirty="0"/>
          </a:p>
        </p:txBody>
      </p:sp>
      <p:sp>
        <p:nvSpPr>
          <p:cNvPr id="20" name="Shape 18"/>
          <p:cNvSpPr/>
          <p:nvPr/>
        </p:nvSpPr>
        <p:spPr>
          <a:xfrm>
            <a:off x="630936" y="5065776"/>
            <a:ext cx="347472" cy="347472"/>
          </a:xfrm>
          <a:prstGeom prst="roundRect">
            <a:avLst>
              <a:gd name="adj" fmla="val 28947"/>
            </a:avLst>
          </a:prstGeom>
          <a:solidFill>
            <a:srgbClr val="244D40"/>
          </a:solidFill>
          <a:ln w="12700">
            <a:solidFill>
              <a:srgbClr val="244D40"/>
            </a:solidFill>
            <a:prstDash val="solid"/>
          </a:ln>
        </p:spPr>
      </p:sp>
      <p:sp>
        <p:nvSpPr>
          <p:cNvPr id="21" name="Text 19"/>
          <p:cNvSpPr/>
          <p:nvPr/>
        </p:nvSpPr>
        <p:spPr>
          <a:xfrm>
            <a:off x="630936" y="5125212"/>
            <a:ext cx="347472" cy="210312"/>
          </a:xfrm>
          <a:prstGeom prst="rect">
            <a:avLst/>
          </a:prstGeom>
          <a:noFill/>
          <a:ln/>
        </p:spPr>
        <p:txBody>
          <a:bodyPr wrap="square" lIns="0" tIns="0" rIns="0" bIns="0" rtlCol="0" anchor="t"/>
          <a:lstStyle/>
          <a:p>
            <a:pPr algn="ctr" indent="0" marL="0">
              <a:lnSpc>
                <a:spcPct val="106000"/>
              </a:lnSpc>
              <a:buNone/>
            </a:pPr>
            <a:r>
              <a:rPr lang="en-US" sz="1000" b="1" dirty="0">
                <a:solidFill>
                  <a:srgbClr val="FFFEFA"/>
                </a:solidFill>
                <a:latin typeface="Inter" pitchFamily="34" charset="0"/>
                <a:ea typeface="Inter" pitchFamily="34" charset="-122"/>
                <a:cs typeface="Inter" pitchFamily="34" charset="-120"/>
              </a:rPr>
              <a:t>04</a:t>
            </a:r>
            <a:endParaRPr lang="en-US" sz="1000" dirty="0"/>
          </a:p>
        </p:txBody>
      </p:sp>
      <p:sp>
        <p:nvSpPr>
          <p:cNvPr id="22" name="Text 20"/>
          <p:cNvSpPr/>
          <p:nvPr/>
        </p:nvSpPr>
        <p:spPr>
          <a:xfrm>
            <a:off x="1188720" y="5056632"/>
            <a:ext cx="6711696" cy="283464"/>
          </a:xfrm>
          <a:prstGeom prst="rect">
            <a:avLst/>
          </a:prstGeom>
          <a:noFill/>
          <a:ln/>
        </p:spPr>
        <p:txBody>
          <a:bodyPr wrap="square" lIns="0" tIns="0" rIns="0" bIns="0" rtlCol="0" anchor="t"/>
          <a:lstStyle/>
          <a:p>
            <a:pPr indent="0" marL="0">
              <a:lnSpc>
                <a:spcPct val="106000"/>
              </a:lnSpc>
              <a:buNone/>
            </a:pPr>
            <a:r>
              <a:rPr lang="en-US" sz="1800" b="1" spc="-40" kern="0" dirty="0">
                <a:solidFill>
                  <a:srgbClr val="193F35"/>
                </a:solidFill>
                <a:latin typeface="Inter" pitchFamily="34" charset="0"/>
                <a:ea typeface="Inter" pitchFamily="34" charset="-122"/>
                <a:cs typeface="Inter" pitchFamily="34" charset="-120"/>
              </a:rPr>
              <a:t>Build a kitchen that feels like yours</a:t>
            </a:r>
            <a:endParaRPr lang="en-US" sz="1800" dirty="0"/>
          </a:p>
        </p:txBody>
      </p:sp>
      <p:sp>
        <p:nvSpPr>
          <p:cNvPr id="23" name="Text 21"/>
          <p:cNvSpPr/>
          <p:nvPr/>
        </p:nvSpPr>
        <p:spPr>
          <a:xfrm>
            <a:off x="1207008" y="5468112"/>
            <a:ext cx="6748272" cy="438912"/>
          </a:xfrm>
          <a:prstGeom prst="rect">
            <a:avLst/>
          </a:prstGeom>
          <a:noFill/>
          <a:ln/>
        </p:spPr>
        <p:txBody>
          <a:bodyPr wrap="square" lIns="0" tIns="0" rIns="0" bIns="0" rtlCol="0" anchor="t"/>
          <a:lstStyle/>
          <a:p>
            <a:pPr indent="0" marL="0">
              <a:lnSpc>
                <a:spcPct val="106000"/>
              </a:lnSpc>
              <a:buNone/>
            </a:pPr>
            <a:r>
              <a:rPr lang="en-US" sz="1150" dirty="0">
                <a:solidFill>
                  <a:srgbClr val="68776D"/>
                </a:solidFill>
                <a:latin typeface="Inter" pitchFamily="34" charset="0"/>
                <a:ea typeface="Inter" pitchFamily="34" charset="-122"/>
                <a:cs typeface="Inter" pitchFamily="34" charset="-120"/>
              </a:rPr>
              <a:t>Save favorites, import your recipes, and give explicit “more like this” or “less like this” feedback.</a:t>
            </a:r>
            <a:endParaRPr lang="en-US" sz="1150" dirty="0"/>
          </a:p>
        </p:txBody>
      </p:sp>
      <p:sp>
        <p:nvSpPr>
          <p:cNvPr id="24" name="Shape 22"/>
          <p:cNvSpPr/>
          <p:nvPr/>
        </p:nvSpPr>
        <p:spPr>
          <a:xfrm>
            <a:off x="8467344" y="2130552"/>
            <a:ext cx="3127248" cy="3886200"/>
          </a:xfrm>
          <a:prstGeom prst="roundRect">
            <a:avLst>
              <a:gd name="adj" fmla="val 3509"/>
            </a:avLst>
          </a:prstGeom>
          <a:solidFill>
            <a:srgbClr val="244D40"/>
          </a:solidFill>
          <a:ln w="12700">
            <a:solidFill>
              <a:srgbClr val="244D40"/>
            </a:solidFill>
            <a:prstDash val="solid"/>
          </a:ln>
        </p:spPr>
      </p:sp>
      <p:sp>
        <p:nvSpPr>
          <p:cNvPr id="25" name="Text 23"/>
          <p:cNvSpPr/>
          <p:nvPr/>
        </p:nvSpPr>
        <p:spPr>
          <a:xfrm>
            <a:off x="8705088" y="2432304"/>
            <a:ext cx="2633472" cy="182880"/>
          </a:xfrm>
          <a:prstGeom prst="rect">
            <a:avLst/>
          </a:prstGeom>
          <a:noFill/>
          <a:ln/>
        </p:spPr>
        <p:txBody>
          <a:bodyPr wrap="square" lIns="0" tIns="0" rIns="0" bIns="0" rtlCol="0" anchor="t"/>
          <a:lstStyle/>
          <a:p>
            <a:pPr indent="0" marL="0">
              <a:lnSpc>
                <a:spcPct val="106000"/>
              </a:lnSpc>
              <a:buNone/>
            </a:pPr>
            <a:r>
              <a:rPr lang="en-US" sz="850" b="1" spc="165" kern="0" dirty="0">
                <a:solidFill>
                  <a:srgbClr val="DDECAB"/>
                </a:solidFill>
                <a:latin typeface="Inter" pitchFamily="34" charset="0"/>
                <a:ea typeface="Inter" pitchFamily="34" charset="-122"/>
                <a:cs typeface="Inter" pitchFamily="34" charset="-120"/>
              </a:rPr>
              <a:t>A GENTLE FIRST RELEASE</a:t>
            </a:r>
            <a:endParaRPr lang="en-US" sz="850" dirty="0"/>
          </a:p>
        </p:txBody>
      </p:sp>
      <p:sp>
        <p:nvSpPr>
          <p:cNvPr id="26" name="Text 24"/>
          <p:cNvSpPr/>
          <p:nvPr/>
        </p:nvSpPr>
        <p:spPr>
          <a:xfrm>
            <a:off x="8686800" y="2944368"/>
            <a:ext cx="2688336" cy="1746504"/>
          </a:xfrm>
          <a:prstGeom prst="rect">
            <a:avLst/>
          </a:prstGeom>
          <a:noFill/>
          <a:ln/>
        </p:spPr>
        <p:txBody>
          <a:bodyPr wrap="square" lIns="0" tIns="0" rIns="0" bIns="0" rtlCol="0" anchor="t"/>
          <a:lstStyle/>
          <a:p>
            <a:pPr indent="0" marL="0">
              <a:lnSpc>
                <a:spcPct val="102000"/>
              </a:lnSpc>
              <a:buNone/>
            </a:pPr>
            <a:r>
              <a:rPr lang="en-US" sz="2700" b="1" spc="-90" kern="0" dirty="0">
                <a:solidFill>
                  <a:srgbClr val="FFFEFA"/>
                </a:solidFill>
                <a:latin typeface="Inter" pitchFamily="34" charset="0"/>
                <a:ea typeface="Inter" pitchFamily="34" charset="-122"/>
                <a:cs typeface="Inter" pitchFamily="34" charset="-120"/>
              </a:rPr>
              <a:t>You don’t need</a:t>
            </a:r>
            <a:endParaRPr lang="en-US" sz="2700" dirty="0"/>
          </a:p>
          <a:p>
            <a:pPr indent="0" marL="0">
              <a:lnSpc>
                <a:spcPct val="102000"/>
              </a:lnSpc>
              <a:buNone/>
            </a:pPr>
            <a:r>
              <a:rPr lang="en-US" sz="2700" b="1" spc="-90" kern="0" dirty="0">
                <a:solidFill>
                  <a:srgbClr val="FFFEFA"/>
                </a:solidFill>
                <a:latin typeface="Inter" pitchFamily="34" charset="0"/>
                <a:ea typeface="Inter" pitchFamily="34" charset="-122"/>
                <a:cs typeface="Inter" pitchFamily="34" charset="-120"/>
              </a:rPr>
              <a:t>a perfect pantry</a:t>
            </a:r>
            <a:endParaRPr lang="en-US" sz="2700" dirty="0"/>
          </a:p>
          <a:p>
            <a:pPr indent="0" marL="0">
              <a:lnSpc>
                <a:spcPct val="102000"/>
              </a:lnSpc>
              <a:buNone/>
            </a:pPr>
            <a:r>
              <a:rPr lang="en-US" sz="2700" b="1" spc="-90" kern="0" dirty="0">
                <a:solidFill>
                  <a:srgbClr val="FFFEFA"/>
                </a:solidFill>
                <a:latin typeface="Inter" pitchFamily="34" charset="0"/>
                <a:ea typeface="Inter" pitchFamily="34" charset="-122"/>
                <a:cs typeface="Inter" pitchFamily="34" charset="-120"/>
              </a:rPr>
              <a:t>to make a</a:t>
            </a:r>
            <a:endParaRPr lang="en-US" sz="2700" dirty="0"/>
          </a:p>
          <a:p>
            <a:pPr indent="0" marL="0">
              <a:lnSpc>
                <a:spcPct val="102000"/>
              </a:lnSpc>
              <a:buNone/>
            </a:pPr>
            <a:r>
              <a:rPr lang="en-US" sz="2700" b="1" spc="-90" kern="0" dirty="0">
                <a:solidFill>
                  <a:srgbClr val="FFFEFA"/>
                </a:solidFill>
                <a:latin typeface="Inter" pitchFamily="34" charset="0"/>
                <a:ea typeface="Inter" pitchFamily="34" charset="-122"/>
                <a:cs typeface="Inter" pitchFamily="34" charset="-120"/>
              </a:rPr>
              <a:t>good dinner.</a:t>
            </a:r>
            <a:endParaRPr lang="en-US" sz="2700" dirty="0"/>
          </a:p>
        </p:txBody>
      </p:sp>
      <p:sp>
        <p:nvSpPr>
          <p:cNvPr id="27" name="Text 25"/>
          <p:cNvSpPr/>
          <p:nvPr/>
        </p:nvSpPr>
        <p:spPr>
          <a:xfrm>
            <a:off x="8714232" y="5056632"/>
            <a:ext cx="2615184" cy="658368"/>
          </a:xfrm>
          <a:prstGeom prst="rect">
            <a:avLst/>
          </a:prstGeom>
          <a:noFill/>
          <a:ln/>
        </p:spPr>
        <p:txBody>
          <a:bodyPr wrap="square" lIns="0" tIns="0" rIns="0" bIns="0" rtlCol="0" anchor="t"/>
          <a:lstStyle/>
          <a:p>
            <a:pPr indent="0" marL="0">
              <a:lnSpc>
                <a:spcPct val="106000"/>
              </a:lnSpc>
              <a:buNone/>
            </a:pPr>
            <a:r>
              <a:rPr lang="en-US" sz="1140" dirty="0">
                <a:solidFill>
                  <a:srgbClr val="D7E1D7"/>
                </a:solidFill>
                <a:latin typeface="Inter" pitchFamily="34" charset="0"/>
                <a:ea typeface="Inter" pitchFamily="34" charset="-122"/>
                <a:cs typeface="Inter" pitchFamily="34" charset="-120"/>
              </a:rPr>
              <a:t>Prompt for small corrections</a:t>
            </a:r>
            <a:endParaRPr lang="en-US" sz="1140" dirty="0"/>
          </a:p>
          <a:p>
            <a:pPr indent="0" marL="0">
              <a:lnSpc>
                <a:spcPct val="106000"/>
              </a:lnSpc>
              <a:buNone/>
            </a:pPr>
            <a:r>
              <a:rPr lang="en-US" sz="1140" dirty="0">
                <a:solidFill>
                  <a:srgbClr val="D7E1D7"/>
                </a:solidFill>
                <a:latin typeface="Inter" pitchFamily="34" charset="0"/>
                <a:ea typeface="Inter" pitchFamily="34" charset="-122"/>
                <a:cs typeface="Inter" pitchFamily="34" charset="-120"/>
              </a:rPr>
              <a:t>when they matter—not a</a:t>
            </a:r>
            <a:endParaRPr lang="en-US" sz="1140" dirty="0"/>
          </a:p>
          <a:p>
            <a:pPr indent="0" marL="0">
              <a:lnSpc>
                <a:spcPct val="106000"/>
              </a:lnSpc>
              <a:buNone/>
            </a:pPr>
            <a:r>
              <a:rPr lang="en-US" sz="1140" dirty="0">
                <a:solidFill>
                  <a:srgbClr val="D7E1D7"/>
                </a:solidFill>
                <a:latin typeface="Inter" pitchFamily="34" charset="0"/>
                <a:ea typeface="Inter" pitchFamily="34" charset="-122"/>
                <a:cs typeface="Inter" pitchFamily="34" charset="-120"/>
              </a:rPr>
              <a:t>full inventory audit every week.</a:t>
            </a:r>
            <a:endParaRPr lang="en-US" sz="114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6F0"/>
        </a:solidFill>
      </p:bgPr>
    </p:bg>
    <p:spTree>
      <p:nvGrpSpPr>
        <p:cNvPr id="1" name=""/>
        <p:cNvGrpSpPr/>
        <p:nvPr/>
      </p:nvGrpSpPr>
      <p:grpSpPr>
        <a:xfrm>
          <a:off x="0" y="0"/>
          <a:ext cx="0" cy="0"/>
          <a:chOff x="0" y="0"/>
          <a:chExt cx="0" cy="0"/>
        </a:xfrm>
      </p:grpSpPr>
      <p:sp>
        <p:nvSpPr>
          <p:cNvPr id="2" name="Text 0"/>
          <p:cNvSpPr/>
          <p:nvPr/>
        </p:nvSpPr>
        <p:spPr>
          <a:xfrm>
            <a:off x="502920" y="320040"/>
            <a:ext cx="9144000" cy="182880"/>
          </a:xfrm>
          <a:prstGeom prst="rect">
            <a:avLst/>
          </a:prstGeom>
          <a:noFill/>
          <a:ln/>
        </p:spPr>
        <p:txBody>
          <a:bodyPr wrap="square" lIns="0" tIns="0" rIns="0" bIns="0" rtlCol="0" anchor="t"/>
          <a:lstStyle/>
          <a:p>
            <a:pPr indent="0" marL="0">
              <a:lnSpc>
                <a:spcPct val="106000"/>
              </a:lnSpc>
              <a:buNone/>
            </a:pPr>
            <a:r>
              <a:rPr lang="en-US" sz="850" b="1" spc="165" kern="0" dirty="0">
                <a:solidFill>
                  <a:srgbClr val="68776D"/>
                </a:solidFill>
                <a:latin typeface="Inter" pitchFamily="34" charset="0"/>
                <a:ea typeface="Inter" pitchFamily="34" charset="-122"/>
                <a:cs typeface="Inter" pitchFamily="34" charset="-120"/>
              </a:rPr>
              <a:t>LUNCHBOX  /  VISUAL &amp; INTERACTION DIRECTION</a:t>
            </a:r>
            <a:endParaRPr lang="en-US" sz="850" dirty="0"/>
          </a:p>
        </p:txBody>
      </p:sp>
      <p:sp>
        <p:nvSpPr>
          <p:cNvPr id="3" name="Text 1"/>
          <p:cNvSpPr/>
          <p:nvPr/>
        </p:nvSpPr>
        <p:spPr>
          <a:xfrm>
            <a:off x="502920" y="749808"/>
            <a:ext cx="11155680" cy="658368"/>
          </a:xfrm>
          <a:prstGeom prst="rect">
            <a:avLst/>
          </a:prstGeom>
          <a:noFill/>
          <a:ln/>
        </p:spPr>
        <p:txBody>
          <a:bodyPr wrap="square" lIns="0" tIns="0" rIns="0" bIns="0" rtlCol="0" anchor="t"/>
          <a:lstStyle/>
          <a:p>
            <a:pPr indent="0" marL="0">
              <a:lnSpc>
                <a:spcPct val="106000"/>
              </a:lnSpc>
              <a:buNone/>
            </a:pPr>
            <a:r>
              <a:rPr lang="en-US" sz="3100" b="1" spc="-125" kern="0" dirty="0">
                <a:solidFill>
                  <a:srgbClr val="193F35"/>
                </a:solidFill>
                <a:latin typeface="Inter" pitchFamily="34" charset="0"/>
                <a:ea typeface="Inter" pitchFamily="34" charset="-122"/>
                <a:cs typeface="Inter" pitchFamily="34" charset="-120"/>
              </a:rPr>
              <a:t>A calm kitchen companion.</a:t>
            </a:r>
            <a:endParaRPr lang="en-US" sz="3100" dirty="0"/>
          </a:p>
        </p:txBody>
      </p:sp>
      <p:sp>
        <p:nvSpPr>
          <p:cNvPr id="4" name="Text 2"/>
          <p:cNvSpPr/>
          <p:nvPr/>
        </p:nvSpPr>
        <p:spPr>
          <a:xfrm>
            <a:off x="530352" y="1472184"/>
            <a:ext cx="10789920" cy="457200"/>
          </a:xfrm>
          <a:prstGeom prst="rect">
            <a:avLst/>
          </a:prstGeom>
          <a:noFill/>
          <a:ln/>
        </p:spPr>
        <p:txBody>
          <a:bodyPr wrap="square" lIns="0" tIns="0" rIns="0" bIns="0" rtlCol="0" anchor="t"/>
          <a:lstStyle/>
          <a:p>
            <a:pPr indent="0" marL="0">
              <a:lnSpc>
                <a:spcPct val="106000"/>
              </a:lnSpc>
              <a:buNone/>
            </a:pPr>
            <a:r>
              <a:rPr lang="en-US" sz="1200" dirty="0">
                <a:solidFill>
                  <a:srgbClr val="68776D"/>
                </a:solidFill>
                <a:latin typeface="Inter" pitchFamily="34" charset="0"/>
                <a:ea typeface="Inter" pitchFamily="34" charset="-122"/>
                <a:cs typeface="Inter" pitchFamily="34" charset="-120"/>
              </a:rPr>
              <a:t>Warm and practical—not a diet dashboard, an AI chat wrapper, or an enterprise inventory system.</a:t>
            </a:r>
            <a:endParaRPr lang="en-US" sz="1200" dirty="0"/>
          </a:p>
        </p:txBody>
      </p:sp>
      <p:sp>
        <p:nvSpPr>
          <p:cNvPr id="5" name="Shape 3"/>
          <p:cNvSpPr/>
          <p:nvPr/>
        </p:nvSpPr>
        <p:spPr>
          <a:xfrm>
            <a:off x="502920" y="6455664"/>
            <a:ext cx="11183112" cy="0"/>
          </a:xfrm>
          <a:prstGeom prst="line">
            <a:avLst/>
          </a:prstGeom>
          <a:noFill/>
          <a:ln w="8890">
            <a:solidFill>
              <a:srgbClr val="E0E4D9"/>
            </a:solidFill>
            <a:prstDash val="solid"/>
          </a:ln>
        </p:spPr>
      </p:sp>
      <p:sp>
        <p:nvSpPr>
          <p:cNvPr id="6" name="Text 4"/>
          <p:cNvSpPr/>
          <p:nvPr/>
        </p:nvSpPr>
        <p:spPr>
          <a:xfrm>
            <a:off x="512064" y="6565392"/>
            <a:ext cx="6400800" cy="118872"/>
          </a:xfrm>
          <a:prstGeom prst="rect">
            <a:avLst/>
          </a:prstGeom>
          <a:noFill/>
          <a:ln/>
        </p:spPr>
        <p:txBody>
          <a:bodyPr wrap="square" lIns="0" tIns="0" rIns="0" bIns="0" rtlCol="0" anchor="t"/>
          <a:lstStyle/>
          <a:p>
            <a:pPr indent="0" marL="0">
              <a:lnSpc>
                <a:spcPct val="106000"/>
              </a:lnSpc>
              <a:buNone/>
            </a:pPr>
            <a:r>
              <a:rPr lang="en-US" sz="730" spc="90" kern="0" dirty="0">
                <a:solidFill>
                  <a:srgbClr val="68776D"/>
                </a:solidFill>
                <a:latin typeface="Inter" pitchFamily="34" charset="0"/>
                <a:ea typeface="Inter" pitchFamily="34" charset="-122"/>
                <a:cs typeface="Inter" pitchFamily="34" charset="-120"/>
              </a:rPr>
              <a:t>CONCEPT PORTFOLIO · SEPTEMBER 2026</a:t>
            </a:r>
            <a:endParaRPr lang="en-US" sz="730" dirty="0"/>
          </a:p>
        </p:txBody>
      </p:sp>
      <p:sp>
        <p:nvSpPr>
          <p:cNvPr id="7" name="Text 5"/>
          <p:cNvSpPr/>
          <p:nvPr/>
        </p:nvSpPr>
        <p:spPr>
          <a:xfrm>
            <a:off x="11155680" y="6537960"/>
            <a:ext cx="530352" cy="155448"/>
          </a:xfrm>
          <a:prstGeom prst="rect">
            <a:avLst/>
          </a:prstGeom>
          <a:noFill/>
          <a:ln/>
        </p:spPr>
        <p:txBody>
          <a:bodyPr wrap="square" lIns="0" tIns="0" rIns="0" bIns="0" rtlCol="0" anchor="t"/>
          <a:lstStyle/>
          <a:p>
            <a:pPr algn="r" indent="0" marL="0">
              <a:lnSpc>
                <a:spcPct val="106000"/>
              </a:lnSpc>
              <a:buNone/>
            </a:pPr>
            <a:r>
              <a:rPr lang="en-US" sz="900" b="1" dirty="0">
                <a:solidFill>
                  <a:srgbClr val="193F35"/>
                </a:solidFill>
                <a:latin typeface="Inter" pitchFamily="34" charset="0"/>
                <a:ea typeface="Inter" pitchFamily="34" charset="-122"/>
                <a:cs typeface="Inter" pitchFamily="34" charset="-120"/>
              </a:rPr>
              <a:t>12</a:t>
            </a:r>
            <a:endParaRPr lang="en-US" sz="900" dirty="0"/>
          </a:p>
        </p:txBody>
      </p:sp>
      <p:sp>
        <p:nvSpPr>
          <p:cNvPr id="8" name="Shape 6"/>
          <p:cNvSpPr/>
          <p:nvPr/>
        </p:nvSpPr>
        <p:spPr>
          <a:xfrm>
            <a:off x="640080" y="2253996"/>
            <a:ext cx="265176" cy="256032"/>
          </a:xfrm>
          <a:prstGeom prst="roundRect">
            <a:avLst>
              <a:gd name="adj" fmla="val 28571"/>
            </a:avLst>
          </a:prstGeom>
          <a:solidFill>
            <a:srgbClr val="193F35">
              <a:alpha val="0"/>
            </a:srgbClr>
          </a:solidFill>
          <a:ln w="19050">
            <a:solidFill>
              <a:srgbClr val="193F35"/>
            </a:solidFill>
            <a:prstDash val="solid"/>
          </a:ln>
        </p:spPr>
      </p:sp>
      <p:sp>
        <p:nvSpPr>
          <p:cNvPr id="9" name="Shape 7"/>
          <p:cNvSpPr/>
          <p:nvPr/>
        </p:nvSpPr>
        <p:spPr>
          <a:xfrm>
            <a:off x="690372" y="2386584"/>
            <a:ext cx="164592" cy="0"/>
          </a:xfrm>
          <a:prstGeom prst="line">
            <a:avLst/>
          </a:prstGeom>
          <a:noFill/>
          <a:ln w="15875">
            <a:solidFill>
              <a:srgbClr val="193F35"/>
            </a:solidFill>
            <a:prstDash val="solid"/>
          </a:ln>
        </p:spPr>
      </p:sp>
      <p:sp>
        <p:nvSpPr>
          <p:cNvPr id="10" name="Shape 8"/>
          <p:cNvSpPr/>
          <p:nvPr/>
        </p:nvSpPr>
        <p:spPr>
          <a:xfrm>
            <a:off x="717804" y="2201875"/>
            <a:ext cx="109728" cy="64008"/>
          </a:xfrm>
          <a:prstGeom prst="roundRect">
            <a:avLst>
              <a:gd name="adj" fmla="val 35714"/>
            </a:avLst>
          </a:prstGeom>
          <a:solidFill>
            <a:srgbClr val="193F35">
              <a:alpha val="0"/>
            </a:srgbClr>
          </a:solidFill>
          <a:ln w="15240">
            <a:solidFill>
              <a:srgbClr val="193F35"/>
            </a:solidFill>
            <a:prstDash val="solid"/>
          </a:ln>
        </p:spPr>
      </p:sp>
      <p:sp>
        <p:nvSpPr>
          <p:cNvPr id="11" name="Text 9"/>
          <p:cNvSpPr/>
          <p:nvPr/>
        </p:nvSpPr>
        <p:spPr>
          <a:xfrm>
            <a:off x="1014984" y="2180844"/>
            <a:ext cx="2651760" cy="411480"/>
          </a:xfrm>
          <a:prstGeom prst="rect">
            <a:avLst/>
          </a:prstGeom>
          <a:noFill/>
          <a:ln/>
        </p:spPr>
        <p:txBody>
          <a:bodyPr wrap="square" lIns="0" tIns="0" rIns="0" bIns="0" rtlCol="0" anchor="t"/>
          <a:lstStyle/>
          <a:p>
            <a:pPr indent="0" marL="0">
              <a:lnSpc>
                <a:spcPct val="106000"/>
              </a:lnSpc>
              <a:buNone/>
            </a:pPr>
            <a:r>
              <a:rPr lang="en-US" sz="3600" b="1" spc="-90" kern="0" dirty="0">
                <a:solidFill>
                  <a:srgbClr val="193F35"/>
                </a:solidFill>
                <a:latin typeface="Inter" pitchFamily="34" charset="0"/>
                <a:ea typeface="Inter" pitchFamily="34" charset="-122"/>
                <a:cs typeface="Inter" pitchFamily="34" charset="-120"/>
              </a:rPr>
              <a:t>LunchBox</a:t>
            </a:r>
            <a:endParaRPr lang="en-US" sz="3600" dirty="0"/>
          </a:p>
        </p:txBody>
      </p:sp>
      <p:sp>
        <p:nvSpPr>
          <p:cNvPr id="12" name="Text 10"/>
          <p:cNvSpPr/>
          <p:nvPr/>
        </p:nvSpPr>
        <p:spPr>
          <a:xfrm>
            <a:off x="594360" y="2916936"/>
            <a:ext cx="5422392" cy="1380744"/>
          </a:xfrm>
          <a:prstGeom prst="rect">
            <a:avLst/>
          </a:prstGeom>
          <a:noFill/>
          <a:ln/>
        </p:spPr>
        <p:txBody>
          <a:bodyPr wrap="square" lIns="0" tIns="0" rIns="0" bIns="0" rtlCol="0" anchor="t"/>
          <a:lstStyle/>
          <a:p>
            <a:pPr indent="0" marL="0">
              <a:lnSpc>
                <a:spcPct val="102000"/>
              </a:lnSpc>
              <a:buNone/>
            </a:pPr>
            <a:r>
              <a:rPr lang="en-US" sz="4300" b="1" spc="-180" kern="0" dirty="0">
                <a:solidFill>
                  <a:srgbClr val="193F35"/>
                </a:solidFill>
                <a:latin typeface="Inter" pitchFamily="34" charset="0"/>
                <a:ea typeface="Inter" pitchFamily="34" charset="-122"/>
                <a:cs typeface="Inter" pitchFamily="34" charset="-120"/>
              </a:rPr>
              <a:t>Good food.</a:t>
            </a:r>
            <a:endParaRPr lang="en-US" sz="4300" dirty="0"/>
          </a:p>
          <a:p>
            <a:pPr indent="0" marL="0">
              <a:lnSpc>
                <a:spcPct val="102000"/>
              </a:lnSpc>
              <a:buNone/>
            </a:pPr>
            <a:r>
              <a:rPr lang="en-US" sz="4300" b="1" spc="-180" kern="0" dirty="0">
                <a:solidFill>
                  <a:srgbClr val="193F35"/>
                </a:solidFill>
                <a:latin typeface="Inter" pitchFamily="34" charset="0"/>
                <a:ea typeface="Inter" pitchFamily="34" charset="-122"/>
                <a:cs typeface="Inter" pitchFamily="34" charset="-120"/>
              </a:rPr>
              <a:t>Less friction.</a:t>
            </a:r>
            <a:endParaRPr lang="en-US" sz="4300" dirty="0"/>
          </a:p>
        </p:txBody>
      </p:sp>
      <p:sp>
        <p:nvSpPr>
          <p:cNvPr id="13" name="Shape 11"/>
          <p:cNvSpPr/>
          <p:nvPr/>
        </p:nvSpPr>
        <p:spPr>
          <a:xfrm>
            <a:off x="658368" y="4718304"/>
            <a:ext cx="1088136" cy="640080"/>
          </a:xfrm>
          <a:prstGeom prst="roundRect">
            <a:avLst>
              <a:gd name="adj" fmla="val 8571"/>
            </a:avLst>
          </a:prstGeom>
          <a:solidFill>
            <a:srgbClr val="F7F6F0"/>
          </a:solidFill>
          <a:ln w="8890">
            <a:solidFill>
              <a:srgbClr val="E0E4D9"/>
            </a:solidFill>
            <a:prstDash val="solid"/>
          </a:ln>
        </p:spPr>
      </p:sp>
      <p:sp>
        <p:nvSpPr>
          <p:cNvPr id="14" name="Text 12"/>
          <p:cNvSpPr/>
          <p:nvPr/>
        </p:nvSpPr>
        <p:spPr>
          <a:xfrm>
            <a:off x="658368" y="5504688"/>
            <a:ext cx="1225296" cy="182880"/>
          </a:xfrm>
          <a:prstGeom prst="rect">
            <a:avLst/>
          </a:prstGeom>
          <a:noFill/>
          <a:ln/>
        </p:spPr>
        <p:txBody>
          <a:bodyPr wrap="square" lIns="0" tIns="0" rIns="0" bIns="0" rtlCol="0" anchor="t"/>
          <a:lstStyle/>
          <a:p>
            <a:pPr indent="0" marL="0">
              <a:lnSpc>
                <a:spcPct val="106000"/>
              </a:lnSpc>
              <a:buNone/>
            </a:pPr>
            <a:r>
              <a:rPr lang="en-US" sz="850" b="1" spc="165" kern="0" dirty="0">
                <a:solidFill>
                  <a:srgbClr val="68776D"/>
                </a:solidFill>
                <a:latin typeface="Inter" pitchFamily="34" charset="0"/>
                <a:ea typeface="Inter" pitchFamily="34" charset="-122"/>
                <a:cs typeface="Inter" pitchFamily="34" charset="-120"/>
              </a:rPr>
              <a:t>PAPER</a:t>
            </a:r>
            <a:endParaRPr lang="en-US" sz="850" dirty="0"/>
          </a:p>
        </p:txBody>
      </p:sp>
      <p:sp>
        <p:nvSpPr>
          <p:cNvPr id="15" name="Shape 13"/>
          <p:cNvSpPr/>
          <p:nvPr/>
        </p:nvSpPr>
        <p:spPr>
          <a:xfrm>
            <a:off x="1965960" y="4718304"/>
            <a:ext cx="1088136" cy="640080"/>
          </a:xfrm>
          <a:prstGeom prst="roundRect">
            <a:avLst>
              <a:gd name="adj" fmla="val 8571"/>
            </a:avLst>
          </a:prstGeom>
          <a:solidFill>
            <a:srgbClr val="244D40"/>
          </a:solidFill>
          <a:ln w="8890">
            <a:solidFill>
              <a:srgbClr val="E0E4D9"/>
            </a:solidFill>
            <a:prstDash val="solid"/>
          </a:ln>
        </p:spPr>
      </p:sp>
      <p:sp>
        <p:nvSpPr>
          <p:cNvPr id="16" name="Text 14"/>
          <p:cNvSpPr/>
          <p:nvPr/>
        </p:nvSpPr>
        <p:spPr>
          <a:xfrm>
            <a:off x="1965960" y="5504688"/>
            <a:ext cx="1225296" cy="182880"/>
          </a:xfrm>
          <a:prstGeom prst="rect">
            <a:avLst/>
          </a:prstGeom>
          <a:noFill/>
          <a:ln/>
        </p:spPr>
        <p:txBody>
          <a:bodyPr wrap="square" lIns="0" tIns="0" rIns="0" bIns="0" rtlCol="0" anchor="t"/>
          <a:lstStyle/>
          <a:p>
            <a:pPr indent="0" marL="0">
              <a:lnSpc>
                <a:spcPct val="106000"/>
              </a:lnSpc>
              <a:buNone/>
            </a:pPr>
            <a:r>
              <a:rPr lang="en-US" sz="850" b="1" spc="165" kern="0" dirty="0">
                <a:solidFill>
                  <a:srgbClr val="68776D"/>
                </a:solidFill>
                <a:latin typeface="Inter" pitchFamily="34" charset="0"/>
                <a:ea typeface="Inter" pitchFamily="34" charset="-122"/>
                <a:cs typeface="Inter" pitchFamily="34" charset="-120"/>
              </a:rPr>
              <a:t>PANTRY</a:t>
            </a:r>
            <a:endParaRPr lang="en-US" sz="850" dirty="0"/>
          </a:p>
        </p:txBody>
      </p:sp>
      <p:sp>
        <p:nvSpPr>
          <p:cNvPr id="17" name="Shape 15"/>
          <p:cNvSpPr/>
          <p:nvPr/>
        </p:nvSpPr>
        <p:spPr>
          <a:xfrm>
            <a:off x="3273552" y="4718304"/>
            <a:ext cx="1088136" cy="640080"/>
          </a:xfrm>
          <a:prstGeom prst="roundRect">
            <a:avLst>
              <a:gd name="adj" fmla="val 8571"/>
            </a:avLst>
          </a:prstGeom>
          <a:solidFill>
            <a:srgbClr val="DDECAB"/>
          </a:solidFill>
          <a:ln w="8890">
            <a:solidFill>
              <a:srgbClr val="E0E4D9"/>
            </a:solidFill>
            <a:prstDash val="solid"/>
          </a:ln>
        </p:spPr>
      </p:sp>
      <p:sp>
        <p:nvSpPr>
          <p:cNvPr id="18" name="Text 16"/>
          <p:cNvSpPr/>
          <p:nvPr/>
        </p:nvSpPr>
        <p:spPr>
          <a:xfrm>
            <a:off x="3273552" y="5504688"/>
            <a:ext cx="1225296" cy="182880"/>
          </a:xfrm>
          <a:prstGeom prst="rect">
            <a:avLst/>
          </a:prstGeom>
          <a:noFill/>
          <a:ln/>
        </p:spPr>
        <p:txBody>
          <a:bodyPr wrap="square" lIns="0" tIns="0" rIns="0" bIns="0" rtlCol="0" anchor="t"/>
          <a:lstStyle/>
          <a:p>
            <a:pPr indent="0" marL="0">
              <a:lnSpc>
                <a:spcPct val="106000"/>
              </a:lnSpc>
              <a:buNone/>
            </a:pPr>
            <a:r>
              <a:rPr lang="en-US" sz="850" b="1" spc="165" kern="0" dirty="0">
                <a:solidFill>
                  <a:srgbClr val="68776D"/>
                </a:solidFill>
                <a:latin typeface="Inter" pitchFamily="34" charset="0"/>
                <a:ea typeface="Inter" pitchFamily="34" charset="-122"/>
                <a:cs typeface="Inter" pitchFamily="34" charset="-120"/>
              </a:rPr>
              <a:t>FRESH</a:t>
            </a:r>
            <a:endParaRPr lang="en-US" sz="850" dirty="0"/>
          </a:p>
        </p:txBody>
      </p:sp>
      <p:sp>
        <p:nvSpPr>
          <p:cNvPr id="19" name="Shape 17"/>
          <p:cNvSpPr/>
          <p:nvPr/>
        </p:nvSpPr>
        <p:spPr>
          <a:xfrm>
            <a:off x="4581144" y="4718304"/>
            <a:ext cx="1088136" cy="640080"/>
          </a:xfrm>
          <a:prstGeom prst="roundRect">
            <a:avLst>
              <a:gd name="adj" fmla="val 8571"/>
            </a:avLst>
          </a:prstGeom>
          <a:solidFill>
            <a:srgbClr val="FBE7DB"/>
          </a:solidFill>
          <a:ln w="8890">
            <a:solidFill>
              <a:srgbClr val="E0E4D9"/>
            </a:solidFill>
            <a:prstDash val="solid"/>
          </a:ln>
        </p:spPr>
      </p:sp>
      <p:sp>
        <p:nvSpPr>
          <p:cNvPr id="20" name="Text 18"/>
          <p:cNvSpPr/>
          <p:nvPr/>
        </p:nvSpPr>
        <p:spPr>
          <a:xfrm>
            <a:off x="4581144" y="5504688"/>
            <a:ext cx="1225296" cy="182880"/>
          </a:xfrm>
          <a:prstGeom prst="rect">
            <a:avLst/>
          </a:prstGeom>
          <a:noFill/>
          <a:ln/>
        </p:spPr>
        <p:txBody>
          <a:bodyPr wrap="square" lIns="0" tIns="0" rIns="0" bIns="0" rtlCol="0" anchor="t"/>
          <a:lstStyle/>
          <a:p>
            <a:pPr indent="0" marL="0">
              <a:lnSpc>
                <a:spcPct val="106000"/>
              </a:lnSpc>
              <a:buNone/>
            </a:pPr>
            <a:r>
              <a:rPr lang="en-US" sz="850" b="1" spc="165" kern="0" dirty="0">
                <a:solidFill>
                  <a:srgbClr val="68776D"/>
                </a:solidFill>
                <a:latin typeface="Inter" pitchFamily="34" charset="0"/>
                <a:ea typeface="Inter" pitchFamily="34" charset="-122"/>
                <a:cs typeface="Inter" pitchFamily="34" charset="-120"/>
              </a:rPr>
              <a:t>USE SOON</a:t>
            </a:r>
            <a:endParaRPr lang="en-US" sz="850" dirty="0"/>
          </a:p>
        </p:txBody>
      </p:sp>
      <p:sp>
        <p:nvSpPr>
          <p:cNvPr id="21" name="Text 19"/>
          <p:cNvSpPr/>
          <p:nvPr/>
        </p:nvSpPr>
        <p:spPr>
          <a:xfrm>
            <a:off x="658368" y="5916168"/>
            <a:ext cx="1828800" cy="182880"/>
          </a:xfrm>
          <a:prstGeom prst="rect">
            <a:avLst/>
          </a:prstGeom>
          <a:noFill/>
          <a:ln/>
        </p:spPr>
        <p:txBody>
          <a:bodyPr wrap="square" lIns="0" tIns="0" rIns="0" bIns="0" rtlCol="0" anchor="t"/>
          <a:lstStyle/>
          <a:p>
            <a:pPr indent="0" marL="0">
              <a:lnSpc>
                <a:spcPct val="106000"/>
              </a:lnSpc>
              <a:buNone/>
            </a:pPr>
            <a:r>
              <a:rPr lang="en-US" sz="850" b="1" spc="165" kern="0" dirty="0">
                <a:solidFill>
                  <a:srgbClr val="68776D"/>
                </a:solidFill>
                <a:latin typeface="Inter" pitchFamily="34" charset="0"/>
                <a:ea typeface="Inter" pitchFamily="34" charset="-122"/>
                <a:cs typeface="Inter" pitchFamily="34" charset="-120"/>
              </a:rPr>
              <a:t>TYPOGRAPHY</a:t>
            </a:r>
            <a:endParaRPr lang="en-US" sz="850" dirty="0"/>
          </a:p>
        </p:txBody>
      </p:sp>
      <p:sp>
        <p:nvSpPr>
          <p:cNvPr id="22" name="Text 20"/>
          <p:cNvSpPr/>
          <p:nvPr/>
        </p:nvSpPr>
        <p:spPr>
          <a:xfrm>
            <a:off x="1993392" y="5879592"/>
            <a:ext cx="4370832" cy="219456"/>
          </a:xfrm>
          <a:prstGeom prst="rect">
            <a:avLst/>
          </a:prstGeom>
          <a:noFill/>
          <a:ln/>
        </p:spPr>
        <p:txBody>
          <a:bodyPr wrap="square" lIns="0" tIns="0" rIns="0" bIns="0" rtlCol="0" anchor="t"/>
          <a:lstStyle/>
          <a:p>
            <a:pPr indent="0" marL="0">
              <a:lnSpc>
                <a:spcPct val="106000"/>
              </a:lnSpc>
              <a:buNone/>
            </a:pPr>
            <a:r>
              <a:rPr lang="en-US" sz="1050" dirty="0">
                <a:solidFill>
                  <a:srgbClr val="68776D"/>
                </a:solidFill>
                <a:latin typeface="Inter" pitchFamily="34" charset="0"/>
                <a:ea typeface="Inter" pitchFamily="34" charset="-122"/>
                <a:cs typeface="Inter" pitchFamily="34" charset="-120"/>
              </a:rPr>
              <a:t>Inter / clear, warm, readable</a:t>
            </a:r>
            <a:endParaRPr lang="en-US" sz="1050" dirty="0"/>
          </a:p>
        </p:txBody>
      </p:sp>
      <p:sp>
        <p:nvSpPr>
          <p:cNvPr id="23" name="Shape 21"/>
          <p:cNvSpPr/>
          <p:nvPr/>
        </p:nvSpPr>
        <p:spPr>
          <a:xfrm>
            <a:off x="6656832" y="2084832"/>
            <a:ext cx="4937760" cy="4041648"/>
          </a:xfrm>
          <a:prstGeom prst="roundRect">
            <a:avLst>
              <a:gd name="adj" fmla="val 2941"/>
            </a:avLst>
          </a:prstGeom>
          <a:solidFill>
            <a:srgbClr val="FFFEFA"/>
          </a:solidFill>
          <a:ln w="8890">
            <a:solidFill>
              <a:srgbClr val="E0E4D9"/>
            </a:solidFill>
            <a:prstDash val="solid"/>
          </a:ln>
        </p:spPr>
      </p:sp>
      <p:sp>
        <p:nvSpPr>
          <p:cNvPr id="24" name="Text 22"/>
          <p:cNvSpPr/>
          <p:nvPr/>
        </p:nvSpPr>
        <p:spPr>
          <a:xfrm>
            <a:off x="6894576" y="2377440"/>
            <a:ext cx="4434840" cy="246888"/>
          </a:xfrm>
          <a:prstGeom prst="rect">
            <a:avLst/>
          </a:prstGeom>
          <a:noFill/>
          <a:ln/>
        </p:spPr>
        <p:txBody>
          <a:bodyPr wrap="square" lIns="0" tIns="0" rIns="0" bIns="0" rtlCol="0" anchor="t"/>
          <a:lstStyle/>
          <a:p>
            <a:pPr indent="0" marL="0">
              <a:lnSpc>
                <a:spcPct val="106000"/>
              </a:lnSpc>
              <a:buNone/>
            </a:pPr>
            <a:r>
              <a:rPr lang="en-US" sz="1500" b="1" spc="-30" kern="0" dirty="0">
                <a:solidFill>
                  <a:srgbClr val="193F35"/>
                </a:solidFill>
                <a:latin typeface="Inter" pitchFamily="34" charset="0"/>
                <a:ea typeface="Inter" pitchFamily="34" charset="-122"/>
                <a:cs typeface="Inter" pitchFamily="34" charset="-120"/>
              </a:rPr>
              <a:t>Quiet confidence</a:t>
            </a:r>
            <a:endParaRPr lang="en-US" sz="1500" dirty="0"/>
          </a:p>
        </p:txBody>
      </p:sp>
      <p:sp>
        <p:nvSpPr>
          <p:cNvPr id="25" name="Text 23"/>
          <p:cNvSpPr/>
          <p:nvPr/>
        </p:nvSpPr>
        <p:spPr>
          <a:xfrm>
            <a:off x="6894576" y="2715768"/>
            <a:ext cx="4434840" cy="411480"/>
          </a:xfrm>
          <a:prstGeom prst="rect">
            <a:avLst/>
          </a:prstGeom>
          <a:noFill/>
          <a:ln/>
        </p:spPr>
        <p:txBody>
          <a:bodyPr wrap="square" lIns="0" tIns="0" rIns="0" bIns="0" rtlCol="0" anchor="t"/>
          <a:lstStyle/>
          <a:p>
            <a:pPr indent="0" marL="0">
              <a:lnSpc>
                <a:spcPct val="106000"/>
              </a:lnSpc>
              <a:buNone/>
            </a:pPr>
            <a:r>
              <a:rPr lang="en-US" sz="1090" dirty="0">
                <a:solidFill>
                  <a:srgbClr val="68776D"/>
                </a:solidFill>
                <a:latin typeface="Inter" pitchFamily="34" charset="0"/>
                <a:ea typeface="Inter" pitchFamily="34" charset="-122"/>
                <a:cs typeface="Inter" pitchFamily="34" charset="-120"/>
              </a:rPr>
              <a:t>Clear hierarchy, a few useful choices, and room to breathe.</a:t>
            </a:r>
            <a:endParaRPr lang="en-US" sz="1090" dirty="0"/>
          </a:p>
        </p:txBody>
      </p:sp>
      <p:sp>
        <p:nvSpPr>
          <p:cNvPr id="26" name="Text 24"/>
          <p:cNvSpPr/>
          <p:nvPr/>
        </p:nvSpPr>
        <p:spPr>
          <a:xfrm>
            <a:off x="6894576" y="3246120"/>
            <a:ext cx="4434840" cy="246888"/>
          </a:xfrm>
          <a:prstGeom prst="rect">
            <a:avLst/>
          </a:prstGeom>
          <a:noFill/>
          <a:ln/>
        </p:spPr>
        <p:txBody>
          <a:bodyPr wrap="square" lIns="0" tIns="0" rIns="0" bIns="0" rtlCol="0" anchor="t"/>
          <a:lstStyle/>
          <a:p>
            <a:pPr indent="0" marL="0">
              <a:lnSpc>
                <a:spcPct val="106000"/>
              </a:lnSpc>
              <a:buNone/>
            </a:pPr>
            <a:r>
              <a:rPr lang="en-US" sz="1500" b="1" spc="-30" kern="0" dirty="0">
                <a:solidFill>
                  <a:srgbClr val="193F35"/>
                </a:solidFill>
                <a:latin typeface="Inter" pitchFamily="34" charset="0"/>
                <a:ea typeface="Inter" pitchFamily="34" charset="-122"/>
                <a:cs typeface="Inter" pitchFamily="34" charset="-120"/>
              </a:rPr>
              <a:t>Meaning before decoration</a:t>
            </a:r>
            <a:endParaRPr lang="en-US" sz="1500" dirty="0"/>
          </a:p>
        </p:txBody>
      </p:sp>
      <p:sp>
        <p:nvSpPr>
          <p:cNvPr id="27" name="Text 25"/>
          <p:cNvSpPr/>
          <p:nvPr/>
        </p:nvSpPr>
        <p:spPr>
          <a:xfrm>
            <a:off x="6894576" y="3584448"/>
            <a:ext cx="4434840" cy="411480"/>
          </a:xfrm>
          <a:prstGeom prst="rect">
            <a:avLst/>
          </a:prstGeom>
          <a:noFill/>
          <a:ln/>
        </p:spPr>
        <p:txBody>
          <a:bodyPr wrap="square" lIns="0" tIns="0" rIns="0" bIns="0" rtlCol="0" anchor="t"/>
          <a:lstStyle/>
          <a:p>
            <a:pPr indent="0" marL="0">
              <a:lnSpc>
                <a:spcPct val="106000"/>
              </a:lnSpc>
              <a:buNone/>
            </a:pPr>
            <a:r>
              <a:rPr lang="en-US" sz="1090" dirty="0">
                <a:solidFill>
                  <a:srgbClr val="68776D"/>
                </a:solidFill>
                <a:latin typeface="Inter" pitchFamily="34" charset="0"/>
                <a:ea typeface="Inter" pitchFamily="34" charset="-122"/>
                <a:cs typeface="Inter" pitchFamily="34" charset="-120"/>
              </a:rPr>
              <a:t>Explain the recommendation and the next action before showing a food photo.</a:t>
            </a:r>
            <a:endParaRPr lang="en-US" sz="1090" dirty="0"/>
          </a:p>
        </p:txBody>
      </p:sp>
      <p:sp>
        <p:nvSpPr>
          <p:cNvPr id="28" name="Text 26"/>
          <p:cNvSpPr/>
          <p:nvPr/>
        </p:nvSpPr>
        <p:spPr>
          <a:xfrm>
            <a:off x="6894576" y="4114800"/>
            <a:ext cx="4434840" cy="246888"/>
          </a:xfrm>
          <a:prstGeom prst="rect">
            <a:avLst/>
          </a:prstGeom>
          <a:noFill/>
          <a:ln/>
        </p:spPr>
        <p:txBody>
          <a:bodyPr wrap="square" lIns="0" tIns="0" rIns="0" bIns="0" rtlCol="0" anchor="t"/>
          <a:lstStyle/>
          <a:p>
            <a:pPr indent="0" marL="0">
              <a:lnSpc>
                <a:spcPct val="106000"/>
              </a:lnSpc>
              <a:buNone/>
            </a:pPr>
            <a:r>
              <a:rPr lang="en-US" sz="1500" b="1" spc="-30" kern="0" dirty="0">
                <a:solidFill>
                  <a:srgbClr val="193F35"/>
                </a:solidFill>
                <a:latin typeface="Inter" pitchFamily="34" charset="0"/>
                <a:ea typeface="Inter" pitchFamily="34" charset="-122"/>
                <a:cs typeface="Inter" pitchFamily="34" charset="-120"/>
              </a:rPr>
              <a:t>Accessible by design</a:t>
            </a:r>
            <a:endParaRPr lang="en-US" sz="1500" dirty="0"/>
          </a:p>
        </p:txBody>
      </p:sp>
      <p:sp>
        <p:nvSpPr>
          <p:cNvPr id="29" name="Text 27"/>
          <p:cNvSpPr/>
          <p:nvPr/>
        </p:nvSpPr>
        <p:spPr>
          <a:xfrm>
            <a:off x="6894576" y="4453128"/>
            <a:ext cx="4434840" cy="411480"/>
          </a:xfrm>
          <a:prstGeom prst="rect">
            <a:avLst/>
          </a:prstGeom>
          <a:noFill/>
          <a:ln/>
        </p:spPr>
        <p:txBody>
          <a:bodyPr wrap="square" lIns="0" tIns="0" rIns="0" bIns="0" rtlCol="0" anchor="t"/>
          <a:lstStyle/>
          <a:p>
            <a:pPr indent="0" marL="0">
              <a:lnSpc>
                <a:spcPct val="106000"/>
              </a:lnSpc>
              <a:buNone/>
            </a:pPr>
            <a:r>
              <a:rPr lang="en-US" sz="1090" dirty="0">
                <a:solidFill>
                  <a:srgbClr val="68776D"/>
                </a:solidFill>
                <a:latin typeface="Inter" pitchFamily="34" charset="0"/>
                <a:ea typeface="Inter" pitchFamily="34" charset="-122"/>
                <a:cs typeface="Inter" pitchFamily="34" charset="-120"/>
              </a:rPr>
              <a:t>Visible keyboard focus, text labels beyond color, readable contrast, and generous touch targets.</a:t>
            </a:r>
            <a:endParaRPr lang="en-US" sz="1090" dirty="0"/>
          </a:p>
        </p:txBody>
      </p:sp>
      <p:sp>
        <p:nvSpPr>
          <p:cNvPr id="30" name="Text 28"/>
          <p:cNvSpPr/>
          <p:nvPr/>
        </p:nvSpPr>
        <p:spPr>
          <a:xfrm>
            <a:off x="6894576" y="4983480"/>
            <a:ext cx="4434840" cy="246888"/>
          </a:xfrm>
          <a:prstGeom prst="rect">
            <a:avLst/>
          </a:prstGeom>
          <a:noFill/>
          <a:ln/>
        </p:spPr>
        <p:txBody>
          <a:bodyPr wrap="square" lIns="0" tIns="0" rIns="0" bIns="0" rtlCol="0" anchor="t"/>
          <a:lstStyle/>
          <a:p>
            <a:pPr indent="0" marL="0">
              <a:lnSpc>
                <a:spcPct val="106000"/>
              </a:lnSpc>
              <a:buNone/>
            </a:pPr>
            <a:r>
              <a:rPr lang="en-US" sz="1500" b="1" spc="-30" kern="0" dirty="0">
                <a:solidFill>
                  <a:srgbClr val="193F35"/>
                </a:solidFill>
                <a:latin typeface="Inter" pitchFamily="34" charset="0"/>
                <a:ea typeface="Inter" pitchFamily="34" charset="-122"/>
                <a:cs typeface="Inter" pitchFamily="34" charset="-120"/>
              </a:rPr>
              <a:t>Mobile everyday. Larger when helpful.</a:t>
            </a:r>
            <a:endParaRPr lang="en-US" sz="1500" dirty="0"/>
          </a:p>
        </p:txBody>
      </p:sp>
      <p:sp>
        <p:nvSpPr>
          <p:cNvPr id="31" name="Text 29"/>
          <p:cNvSpPr/>
          <p:nvPr/>
        </p:nvSpPr>
        <p:spPr>
          <a:xfrm>
            <a:off x="6894576" y="5321808"/>
            <a:ext cx="4434840" cy="411480"/>
          </a:xfrm>
          <a:prstGeom prst="rect">
            <a:avLst/>
          </a:prstGeom>
          <a:noFill/>
          <a:ln/>
        </p:spPr>
        <p:txBody>
          <a:bodyPr wrap="square" lIns="0" tIns="0" rIns="0" bIns="0" rtlCol="0" anchor="t"/>
          <a:lstStyle/>
          <a:p>
            <a:pPr indent="0" marL="0">
              <a:lnSpc>
                <a:spcPct val="106000"/>
              </a:lnSpc>
              <a:buNone/>
            </a:pPr>
            <a:r>
              <a:rPr lang="en-US" sz="1090" dirty="0">
                <a:solidFill>
                  <a:srgbClr val="68776D"/>
                </a:solidFill>
                <a:latin typeface="Inter" pitchFamily="34" charset="0"/>
                <a:ea typeface="Inter" pitchFamily="34" charset="-122"/>
                <a:cs typeface="Inter" pitchFamily="34" charset="-120"/>
              </a:rPr>
              <a:t>Shop and cook on a phone; plan a week comfortably on a larger screen.</a:t>
            </a:r>
            <a:endParaRPr lang="en-US" sz="109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0"/>
        </a:solidFill>
      </p:bgPr>
    </p:bg>
    <p:spTree>
      <p:nvGrpSpPr>
        <p:cNvPr id="1" name=""/>
        <p:cNvGrpSpPr/>
        <p:nvPr/>
      </p:nvGrpSpPr>
      <p:grpSpPr>
        <a:xfrm>
          <a:off x="0" y="0"/>
          <a:ext cx="0" cy="0"/>
          <a:chOff x="0" y="0"/>
          <a:chExt cx="0" cy="0"/>
        </a:xfrm>
      </p:grpSpPr>
      <p:sp>
        <p:nvSpPr>
          <p:cNvPr id="2" name="Text 0"/>
          <p:cNvSpPr/>
          <p:nvPr/>
        </p:nvSpPr>
        <p:spPr>
          <a:xfrm>
            <a:off x="502920" y="320040"/>
            <a:ext cx="9144000" cy="182880"/>
          </a:xfrm>
          <a:prstGeom prst="rect">
            <a:avLst/>
          </a:prstGeom>
          <a:noFill/>
          <a:ln/>
        </p:spPr>
        <p:txBody>
          <a:bodyPr wrap="square" lIns="0" tIns="0" rIns="0" bIns="0" rtlCol="0" anchor="t"/>
          <a:lstStyle/>
          <a:p>
            <a:pPr indent="0" marL="0">
              <a:lnSpc>
                <a:spcPct val="106000"/>
              </a:lnSpc>
              <a:buNone/>
            </a:pPr>
            <a:r>
              <a:rPr lang="en-US" sz="850" b="1" spc="165" kern="0" dirty="0">
                <a:solidFill>
                  <a:srgbClr val="68776D"/>
                </a:solidFill>
                <a:latin typeface="Inter" pitchFamily="34" charset="0"/>
                <a:ea typeface="Inter" pitchFamily="34" charset="-122"/>
                <a:cs typeface="Inter" pitchFamily="34" charset="-120"/>
              </a:rPr>
              <a:t>LUNCHBOX  /  A FOCUSED FIRST RELEASE</a:t>
            </a:r>
            <a:endParaRPr lang="en-US" sz="850" dirty="0"/>
          </a:p>
        </p:txBody>
      </p:sp>
      <p:sp>
        <p:nvSpPr>
          <p:cNvPr id="3" name="Text 1"/>
          <p:cNvSpPr/>
          <p:nvPr/>
        </p:nvSpPr>
        <p:spPr>
          <a:xfrm>
            <a:off x="502920" y="749808"/>
            <a:ext cx="11155680" cy="658368"/>
          </a:xfrm>
          <a:prstGeom prst="rect">
            <a:avLst/>
          </a:prstGeom>
          <a:noFill/>
          <a:ln/>
        </p:spPr>
        <p:txBody>
          <a:bodyPr wrap="square" lIns="0" tIns="0" rIns="0" bIns="0" rtlCol="0" anchor="t"/>
          <a:lstStyle/>
          <a:p>
            <a:pPr indent="0" marL="0">
              <a:lnSpc>
                <a:spcPct val="106000"/>
              </a:lnSpc>
              <a:buNone/>
            </a:pPr>
            <a:r>
              <a:rPr lang="en-US" sz="3100" b="1" spc="-125" kern="0" dirty="0">
                <a:solidFill>
                  <a:srgbClr val="193F35"/>
                </a:solidFill>
                <a:latin typeface="Inter" pitchFamily="34" charset="0"/>
                <a:ea typeface="Inter" pitchFamily="34" charset="-122"/>
                <a:cs typeface="Inter" pitchFamily="34" charset="-120"/>
              </a:rPr>
              <a:t>Prove the kitchen loop before the integrations.</a:t>
            </a:r>
            <a:endParaRPr lang="en-US" sz="3100" dirty="0"/>
          </a:p>
        </p:txBody>
      </p:sp>
      <p:sp>
        <p:nvSpPr>
          <p:cNvPr id="4" name="Text 2"/>
          <p:cNvSpPr/>
          <p:nvPr/>
        </p:nvSpPr>
        <p:spPr>
          <a:xfrm>
            <a:off x="530352" y="1472184"/>
            <a:ext cx="10789920" cy="457200"/>
          </a:xfrm>
          <a:prstGeom prst="rect">
            <a:avLst/>
          </a:prstGeom>
          <a:noFill/>
          <a:ln/>
        </p:spPr>
        <p:txBody>
          <a:bodyPr wrap="square" lIns="0" tIns="0" rIns="0" bIns="0" rtlCol="0" anchor="t"/>
          <a:lstStyle/>
          <a:p>
            <a:pPr indent="0" marL="0">
              <a:lnSpc>
                <a:spcPct val="106000"/>
              </a:lnSpc>
              <a:buNone/>
            </a:pPr>
            <a:r>
              <a:rPr lang="en-US" sz="1200" dirty="0">
                <a:solidFill>
                  <a:srgbClr val="68776D"/>
                </a:solidFill>
                <a:latin typeface="Inter" pitchFamily="34" charset="0"/>
                <a:ea typeface="Inter" pitchFamily="34" charset="-122"/>
                <a:cs typeface="Inter" pitchFamily="34" charset="-120"/>
              </a:rPr>
              <a:t>A broad vision is useful. A narrow first release makes it possible to test the hardest assumption.</a:t>
            </a:r>
            <a:endParaRPr lang="en-US" sz="1200" dirty="0"/>
          </a:p>
        </p:txBody>
      </p:sp>
      <p:sp>
        <p:nvSpPr>
          <p:cNvPr id="5" name="Shape 3"/>
          <p:cNvSpPr/>
          <p:nvPr/>
        </p:nvSpPr>
        <p:spPr>
          <a:xfrm>
            <a:off x="502920" y="6455664"/>
            <a:ext cx="11183112" cy="0"/>
          </a:xfrm>
          <a:prstGeom prst="line">
            <a:avLst/>
          </a:prstGeom>
          <a:noFill/>
          <a:ln w="8890">
            <a:solidFill>
              <a:srgbClr val="E0E4D9"/>
            </a:solidFill>
            <a:prstDash val="solid"/>
          </a:ln>
        </p:spPr>
      </p:sp>
      <p:sp>
        <p:nvSpPr>
          <p:cNvPr id="6" name="Text 4"/>
          <p:cNvSpPr/>
          <p:nvPr/>
        </p:nvSpPr>
        <p:spPr>
          <a:xfrm>
            <a:off x="512064" y="6565392"/>
            <a:ext cx="6400800" cy="118872"/>
          </a:xfrm>
          <a:prstGeom prst="rect">
            <a:avLst/>
          </a:prstGeom>
          <a:noFill/>
          <a:ln/>
        </p:spPr>
        <p:txBody>
          <a:bodyPr wrap="square" lIns="0" tIns="0" rIns="0" bIns="0" rtlCol="0" anchor="t"/>
          <a:lstStyle/>
          <a:p>
            <a:pPr indent="0" marL="0">
              <a:lnSpc>
                <a:spcPct val="106000"/>
              </a:lnSpc>
              <a:buNone/>
            </a:pPr>
            <a:r>
              <a:rPr lang="en-US" sz="730" spc="90" kern="0" dirty="0">
                <a:solidFill>
                  <a:srgbClr val="68776D"/>
                </a:solidFill>
                <a:latin typeface="Inter" pitchFamily="34" charset="0"/>
                <a:ea typeface="Inter" pitchFamily="34" charset="-122"/>
                <a:cs typeface="Inter" pitchFamily="34" charset="-120"/>
              </a:rPr>
              <a:t>CONCEPT PORTFOLIO · SEPTEMBER 2026</a:t>
            </a:r>
            <a:endParaRPr lang="en-US" sz="730" dirty="0"/>
          </a:p>
        </p:txBody>
      </p:sp>
      <p:sp>
        <p:nvSpPr>
          <p:cNvPr id="7" name="Text 5"/>
          <p:cNvSpPr/>
          <p:nvPr/>
        </p:nvSpPr>
        <p:spPr>
          <a:xfrm>
            <a:off x="11155680" y="6537960"/>
            <a:ext cx="530352" cy="155448"/>
          </a:xfrm>
          <a:prstGeom prst="rect">
            <a:avLst/>
          </a:prstGeom>
          <a:noFill/>
          <a:ln/>
        </p:spPr>
        <p:txBody>
          <a:bodyPr wrap="square" lIns="0" tIns="0" rIns="0" bIns="0" rtlCol="0" anchor="t"/>
          <a:lstStyle/>
          <a:p>
            <a:pPr algn="r" indent="0" marL="0">
              <a:lnSpc>
                <a:spcPct val="106000"/>
              </a:lnSpc>
              <a:buNone/>
            </a:pPr>
            <a:r>
              <a:rPr lang="en-US" sz="900" b="1" dirty="0">
                <a:solidFill>
                  <a:srgbClr val="193F35"/>
                </a:solidFill>
                <a:latin typeface="Inter" pitchFamily="34" charset="0"/>
                <a:ea typeface="Inter" pitchFamily="34" charset="-122"/>
                <a:cs typeface="Inter" pitchFamily="34" charset="-120"/>
              </a:rPr>
              <a:t>13</a:t>
            </a:r>
            <a:endParaRPr lang="en-US" sz="900" dirty="0"/>
          </a:p>
        </p:txBody>
      </p:sp>
      <p:sp>
        <p:nvSpPr>
          <p:cNvPr id="8" name="Shape 6"/>
          <p:cNvSpPr/>
          <p:nvPr/>
        </p:nvSpPr>
        <p:spPr>
          <a:xfrm>
            <a:off x="585216" y="2130552"/>
            <a:ext cx="3429000" cy="3758184"/>
          </a:xfrm>
          <a:prstGeom prst="roundRect">
            <a:avLst>
              <a:gd name="adj" fmla="val 3200"/>
            </a:avLst>
          </a:prstGeom>
          <a:solidFill>
            <a:srgbClr val="DDECAB"/>
          </a:solidFill>
          <a:ln w="12700">
            <a:solidFill>
              <a:srgbClr val="DDECAB"/>
            </a:solidFill>
            <a:prstDash val="solid"/>
          </a:ln>
        </p:spPr>
      </p:sp>
      <p:sp>
        <p:nvSpPr>
          <p:cNvPr id="9" name="Text 7"/>
          <p:cNvSpPr/>
          <p:nvPr/>
        </p:nvSpPr>
        <p:spPr>
          <a:xfrm>
            <a:off x="786384" y="2377440"/>
            <a:ext cx="3026664" cy="182880"/>
          </a:xfrm>
          <a:prstGeom prst="rect">
            <a:avLst/>
          </a:prstGeom>
          <a:noFill/>
          <a:ln/>
        </p:spPr>
        <p:txBody>
          <a:bodyPr wrap="square" lIns="0" tIns="0" rIns="0" bIns="0" rtlCol="0" anchor="t"/>
          <a:lstStyle/>
          <a:p>
            <a:pPr indent="0" marL="0">
              <a:lnSpc>
                <a:spcPct val="106000"/>
              </a:lnSpc>
              <a:buNone/>
            </a:pPr>
            <a:r>
              <a:rPr lang="en-US" sz="850" b="1" spc="165" kern="0" dirty="0">
                <a:solidFill>
                  <a:srgbClr val="68776D"/>
                </a:solidFill>
                <a:latin typeface="Inter" pitchFamily="34" charset="0"/>
                <a:ea typeface="Inter" pitchFamily="34" charset="-122"/>
                <a:cs typeface="Inter" pitchFamily="34" charset="-120"/>
              </a:rPr>
              <a:t>01 / FIRST RELEASE</a:t>
            </a:r>
            <a:endParaRPr lang="en-US" sz="850" dirty="0"/>
          </a:p>
        </p:txBody>
      </p:sp>
      <p:sp>
        <p:nvSpPr>
          <p:cNvPr id="10" name="Text 8"/>
          <p:cNvSpPr/>
          <p:nvPr/>
        </p:nvSpPr>
        <p:spPr>
          <a:xfrm>
            <a:off x="786384" y="2816352"/>
            <a:ext cx="3026664" cy="438912"/>
          </a:xfrm>
          <a:prstGeom prst="rect">
            <a:avLst/>
          </a:prstGeom>
          <a:noFill/>
          <a:ln/>
        </p:spPr>
        <p:txBody>
          <a:bodyPr wrap="square" lIns="0" tIns="0" rIns="0" bIns="0" rtlCol="0" anchor="t"/>
          <a:lstStyle/>
          <a:p>
            <a:pPr indent="0" marL="0">
              <a:lnSpc>
                <a:spcPct val="106000"/>
              </a:lnSpc>
              <a:buNone/>
            </a:pPr>
            <a:r>
              <a:rPr lang="en-US" sz="2500" b="1" spc="-70" kern="0" dirty="0">
                <a:solidFill>
                  <a:srgbClr val="193F35"/>
                </a:solidFill>
                <a:latin typeface="Inter" pitchFamily="34" charset="0"/>
                <a:ea typeface="Inter" pitchFamily="34" charset="-122"/>
                <a:cs typeface="Inter" pitchFamily="34" charset="-120"/>
              </a:rPr>
              <a:t>The core loop</a:t>
            </a:r>
            <a:endParaRPr lang="en-US" sz="2500" dirty="0"/>
          </a:p>
        </p:txBody>
      </p:sp>
      <p:sp>
        <p:nvSpPr>
          <p:cNvPr id="11" name="Text 9"/>
          <p:cNvSpPr/>
          <p:nvPr/>
        </p:nvSpPr>
        <p:spPr>
          <a:xfrm>
            <a:off x="795528" y="3602736"/>
            <a:ext cx="2990088" cy="2002536"/>
          </a:xfrm>
          <a:prstGeom prst="rect">
            <a:avLst/>
          </a:prstGeom>
          <a:noFill/>
          <a:ln/>
        </p:spPr>
        <p:txBody>
          <a:bodyPr wrap="square" lIns="0" tIns="0" rIns="0" bIns="0" rtlCol="0" anchor="t"/>
          <a:lstStyle/>
          <a:p>
            <a:pPr indent="0" marL="0">
              <a:lnSpc>
                <a:spcPct val="139000"/>
              </a:lnSpc>
              <a:buNone/>
            </a:pPr>
            <a:r>
              <a:rPr lang="en-US" sz="1150" dirty="0">
                <a:solidFill>
                  <a:srgbClr val="68776D"/>
                </a:solidFill>
                <a:latin typeface="Inter" pitchFamily="34" charset="0"/>
                <a:ea typeface="Inter" pitchFamily="34" charset="-122"/>
                <a:cs typeface="Inter" pitchFamily="34" charset="-120"/>
              </a:rPr>
              <a:t>Manual pantry + garden intake</a:t>
            </a:r>
            <a:endParaRPr lang="en-US" sz="1150" dirty="0"/>
          </a:p>
          <a:p>
            <a:pPr indent="0" marL="0">
              <a:lnSpc>
                <a:spcPct val="139000"/>
              </a:lnSpc>
              <a:buNone/>
            </a:pPr>
            <a:r>
              <a:rPr lang="en-US" sz="1150" dirty="0">
                <a:solidFill>
                  <a:srgbClr val="68776D"/>
                </a:solidFill>
                <a:latin typeface="Inter" pitchFamily="34" charset="0"/>
                <a:ea typeface="Inter" pitchFamily="34" charset="-122"/>
                <a:cs typeface="Inter" pitchFamily="34" charset="-120"/>
              </a:rPr>
              <a:t>Household preferences and tools</a:t>
            </a:r>
            <a:endParaRPr lang="en-US" sz="1150" dirty="0"/>
          </a:p>
          <a:p>
            <a:pPr indent="0" marL="0">
              <a:lnSpc>
                <a:spcPct val="139000"/>
              </a:lnSpc>
              <a:buNone/>
            </a:pPr>
            <a:r>
              <a:rPr lang="en-US" sz="1150" dirty="0">
                <a:solidFill>
                  <a:srgbClr val="68776D"/>
                </a:solidFill>
                <a:latin typeface="Inter" pitchFamily="34" charset="0"/>
                <a:ea typeface="Inter" pitchFamily="34" charset="-122"/>
                <a:cs typeface="Inter" pitchFamily="34" charset="-120"/>
              </a:rPr>
              <a:t>Curated + AI-assisted recipe options</a:t>
            </a:r>
            <a:endParaRPr lang="en-US" sz="1150" dirty="0"/>
          </a:p>
          <a:p>
            <a:pPr indent="0" marL="0">
              <a:lnSpc>
                <a:spcPct val="139000"/>
              </a:lnSpc>
              <a:buNone/>
            </a:pPr>
            <a:r>
              <a:rPr lang="en-US" sz="1150" dirty="0">
                <a:solidFill>
                  <a:srgbClr val="68776D"/>
                </a:solidFill>
                <a:latin typeface="Inter" pitchFamily="34" charset="0"/>
                <a:ea typeface="Inter" pitchFamily="34" charset="-122"/>
                <a:cs typeface="Inter" pitchFamily="34" charset="-120"/>
              </a:rPr>
              <a:t>Manual / pasted recipe entry and favorites</a:t>
            </a:r>
            <a:endParaRPr lang="en-US" sz="1150" dirty="0"/>
          </a:p>
          <a:p>
            <a:pPr indent="0" marL="0">
              <a:lnSpc>
                <a:spcPct val="139000"/>
              </a:lnSpc>
              <a:buNone/>
            </a:pPr>
            <a:r>
              <a:rPr lang="en-US" sz="1150" dirty="0">
                <a:solidFill>
                  <a:srgbClr val="68776D"/>
                </a:solidFill>
                <a:latin typeface="Inter" pitchFamily="34" charset="0"/>
                <a:ea typeface="Inter" pitchFamily="34" charset="-122"/>
                <a:cs typeface="Inter" pitchFamily="34" charset="-120"/>
              </a:rPr>
              <a:t>Light weekly dinner planning</a:t>
            </a:r>
            <a:endParaRPr lang="en-US" sz="1150" dirty="0"/>
          </a:p>
          <a:p>
            <a:pPr indent="0" marL="0">
              <a:lnSpc>
                <a:spcPct val="139000"/>
              </a:lnSpc>
              <a:buNone/>
            </a:pPr>
            <a:r>
              <a:rPr lang="en-US" sz="1150" dirty="0">
                <a:solidFill>
                  <a:srgbClr val="68776D"/>
                </a:solidFill>
                <a:latin typeface="Inter" pitchFamily="34" charset="0"/>
                <a:ea typeface="Inter" pitchFamily="34" charset="-122"/>
                <a:cs typeface="Inter" pitchFamily="34" charset="-120"/>
              </a:rPr>
              <a:t>One aggregated grocery list</a:t>
            </a:r>
            <a:endParaRPr lang="en-US" sz="1150" dirty="0"/>
          </a:p>
          <a:p>
            <a:pPr indent="0" marL="0">
              <a:lnSpc>
                <a:spcPct val="139000"/>
              </a:lnSpc>
              <a:buNone/>
            </a:pPr>
            <a:r>
              <a:rPr lang="en-US" sz="1150" dirty="0">
                <a:solidFill>
                  <a:srgbClr val="68776D"/>
                </a:solidFill>
                <a:latin typeface="Inter" pitchFamily="34" charset="0"/>
                <a:ea typeface="Inter" pitchFamily="34" charset="-122"/>
                <a:cs typeface="Inter" pitchFamily="34" charset="-120"/>
              </a:rPr>
              <a:t>Confirm put-away, cooking and leftovers</a:t>
            </a:r>
            <a:endParaRPr lang="en-US" sz="1150" dirty="0"/>
          </a:p>
          <a:p>
            <a:pPr indent="0" marL="0">
              <a:lnSpc>
                <a:spcPct val="139000"/>
              </a:lnSpc>
              <a:buNone/>
            </a:pPr>
            <a:r>
              <a:rPr lang="en-US" sz="1150" dirty="0">
                <a:solidFill>
                  <a:srgbClr val="68776D"/>
                </a:solidFill>
                <a:latin typeface="Inter" pitchFamily="34" charset="0"/>
                <a:ea typeface="Inter" pitchFamily="34" charset="-122"/>
                <a:cs typeface="Inter" pitchFamily="34" charset="-120"/>
              </a:rPr>
              <a:t>Corrections and undo</a:t>
            </a:r>
            <a:endParaRPr lang="en-US" sz="1150" dirty="0"/>
          </a:p>
        </p:txBody>
      </p:sp>
      <p:sp>
        <p:nvSpPr>
          <p:cNvPr id="12" name="Shape 10"/>
          <p:cNvSpPr/>
          <p:nvPr/>
        </p:nvSpPr>
        <p:spPr>
          <a:xfrm>
            <a:off x="4379976" y="2130552"/>
            <a:ext cx="3429000" cy="3758184"/>
          </a:xfrm>
          <a:prstGeom prst="roundRect">
            <a:avLst>
              <a:gd name="adj" fmla="val 3200"/>
            </a:avLst>
          </a:prstGeom>
          <a:solidFill>
            <a:srgbClr val="EEF2E6"/>
          </a:solidFill>
          <a:ln w="12700">
            <a:solidFill>
              <a:srgbClr val="EEF2E6"/>
            </a:solidFill>
            <a:prstDash val="solid"/>
          </a:ln>
        </p:spPr>
      </p:sp>
      <p:sp>
        <p:nvSpPr>
          <p:cNvPr id="13" name="Text 11"/>
          <p:cNvSpPr/>
          <p:nvPr/>
        </p:nvSpPr>
        <p:spPr>
          <a:xfrm>
            <a:off x="4581144" y="2377440"/>
            <a:ext cx="3026664" cy="182880"/>
          </a:xfrm>
          <a:prstGeom prst="rect">
            <a:avLst/>
          </a:prstGeom>
          <a:noFill/>
          <a:ln/>
        </p:spPr>
        <p:txBody>
          <a:bodyPr wrap="square" lIns="0" tIns="0" rIns="0" bIns="0" rtlCol="0" anchor="t"/>
          <a:lstStyle/>
          <a:p>
            <a:pPr indent="0" marL="0">
              <a:lnSpc>
                <a:spcPct val="106000"/>
              </a:lnSpc>
              <a:buNone/>
            </a:pPr>
            <a:r>
              <a:rPr lang="en-US" sz="850" b="1" spc="165" kern="0" dirty="0">
                <a:solidFill>
                  <a:srgbClr val="68776D"/>
                </a:solidFill>
                <a:latin typeface="Inter" pitchFamily="34" charset="0"/>
                <a:ea typeface="Inter" pitchFamily="34" charset="-122"/>
                <a:cs typeface="Inter" pitchFamily="34" charset="-120"/>
              </a:rPr>
              <a:t>02 / LESS MAINTENANCE</a:t>
            </a:r>
            <a:endParaRPr lang="en-US" sz="850" dirty="0"/>
          </a:p>
        </p:txBody>
      </p:sp>
      <p:sp>
        <p:nvSpPr>
          <p:cNvPr id="14" name="Text 12"/>
          <p:cNvSpPr/>
          <p:nvPr/>
        </p:nvSpPr>
        <p:spPr>
          <a:xfrm>
            <a:off x="4581144" y="2816352"/>
            <a:ext cx="3026664" cy="438912"/>
          </a:xfrm>
          <a:prstGeom prst="rect">
            <a:avLst/>
          </a:prstGeom>
          <a:noFill/>
          <a:ln/>
        </p:spPr>
        <p:txBody>
          <a:bodyPr wrap="square" lIns="0" tIns="0" rIns="0" bIns="0" rtlCol="0" anchor="t"/>
          <a:lstStyle/>
          <a:p>
            <a:pPr indent="0" marL="0">
              <a:lnSpc>
                <a:spcPct val="106000"/>
              </a:lnSpc>
              <a:buNone/>
            </a:pPr>
            <a:r>
              <a:rPr lang="en-US" sz="2500" b="1" spc="-70" kern="0" dirty="0">
                <a:solidFill>
                  <a:srgbClr val="193F35"/>
                </a:solidFill>
                <a:latin typeface="Inter" pitchFamily="34" charset="0"/>
                <a:ea typeface="Inter" pitchFamily="34" charset="-122"/>
                <a:cs typeface="Inter" pitchFamily="34" charset="-120"/>
              </a:rPr>
              <a:t>Reduce the upkeep</a:t>
            </a:r>
            <a:endParaRPr lang="en-US" sz="2500" dirty="0"/>
          </a:p>
        </p:txBody>
      </p:sp>
      <p:sp>
        <p:nvSpPr>
          <p:cNvPr id="15" name="Text 13"/>
          <p:cNvSpPr/>
          <p:nvPr/>
        </p:nvSpPr>
        <p:spPr>
          <a:xfrm>
            <a:off x="4590288" y="3602736"/>
            <a:ext cx="2990088" cy="2002536"/>
          </a:xfrm>
          <a:prstGeom prst="rect">
            <a:avLst/>
          </a:prstGeom>
          <a:noFill/>
          <a:ln/>
        </p:spPr>
        <p:txBody>
          <a:bodyPr wrap="square" lIns="0" tIns="0" rIns="0" bIns="0" rtlCol="0" anchor="t"/>
          <a:lstStyle/>
          <a:p>
            <a:pPr indent="0" marL="0">
              <a:lnSpc>
                <a:spcPct val="139000"/>
              </a:lnSpc>
              <a:buNone/>
            </a:pPr>
            <a:r>
              <a:rPr lang="en-US" sz="1150" dirty="0">
                <a:solidFill>
                  <a:srgbClr val="68776D"/>
                </a:solidFill>
                <a:latin typeface="Inter" pitchFamily="34" charset="0"/>
                <a:ea typeface="Inter" pitchFamily="34" charset="-122"/>
                <a:cs typeface="Inter" pitchFamily="34" charset="-120"/>
              </a:rPr>
              <a:t>Shared-household sync</a:t>
            </a:r>
            <a:endParaRPr lang="en-US" sz="1150" dirty="0"/>
          </a:p>
          <a:p>
            <a:pPr indent="0" marL="0">
              <a:lnSpc>
                <a:spcPct val="139000"/>
              </a:lnSpc>
              <a:buNone/>
            </a:pPr>
            <a:r>
              <a:rPr lang="en-US" sz="1150" dirty="0">
                <a:solidFill>
                  <a:srgbClr val="68776D"/>
                </a:solidFill>
                <a:latin typeface="Inter" pitchFamily="34" charset="0"/>
                <a:ea typeface="Inter" pitchFamily="34" charset="-122"/>
                <a:cs typeface="Inter" pitchFamily="34" charset="-120"/>
              </a:rPr>
              <a:t>Receipt and photo intake</a:t>
            </a:r>
            <a:endParaRPr lang="en-US" sz="1150" dirty="0"/>
          </a:p>
          <a:p>
            <a:pPr indent="0" marL="0">
              <a:lnSpc>
                <a:spcPct val="139000"/>
              </a:lnSpc>
              <a:buNone/>
            </a:pPr>
            <a:r>
              <a:rPr lang="en-US" sz="1150" dirty="0">
                <a:solidFill>
                  <a:srgbClr val="68776D"/>
                </a:solidFill>
                <a:latin typeface="Inter" pitchFamily="34" charset="0"/>
                <a:ea typeface="Inter" pitchFamily="34" charset="-122"/>
                <a:cs typeface="Inter" pitchFamily="34" charset="-120"/>
              </a:rPr>
              <a:t>Reviewed URL / image recipe imports</a:t>
            </a:r>
            <a:endParaRPr lang="en-US" sz="1150" dirty="0"/>
          </a:p>
          <a:p>
            <a:pPr indent="0" marL="0">
              <a:lnSpc>
                <a:spcPct val="139000"/>
              </a:lnSpc>
              <a:buNone/>
            </a:pPr>
            <a:r>
              <a:rPr lang="en-US" sz="1150" dirty="0">
                <a:solidFill>
                  <a:srgbClr val="68776D"/>
                </a:solidFill>
                <a:latin typeface="Inter" pitchFamily="34" charset="0"/>
                <a:ea typeface="Inter" pitchFamily="34" charset="-122"/>
                <a:cs typeface="Inter" pitchFamily="34" charset="-120"/>
              </a:rPr>
              <a:t>Inventory confidence and dated batches</a:t>
            </a:r>
            <a:endParaRPr lang="en-US" sz="1150" dirty="0"/>
          </a:p>
          <a:p>
            <a:pPr indent="0" marL="0">
              <a:lnSpc>
                <a:spcPct val="139000"/>
              </a:lnSpc>
              <a:buNone/>
            </a:pPr>
            <a:r>
              <a:rPr lang="en-US" sz="1150" dirty="0">
                <a:solidFill>
                  <a:srgbClr val="68776D"/>
                </a:solidFill>
                <a:latin typeface="Inter" pitchFamily="34" charset="0"/>
                <a:ea typeface="Inter" pitchFamily="34" charset="-122"/>
                <a:cs typeface="Inter" pitchFamily="34" charset="-120"/>
              </a:rPr>
              <a:t>User-set staple replenishment prompts</a:t>
            </a:r>
            <a:endParaRPr lang="en-US" sz="1150" dirty="0"/>
          </a:p>
          <a:p>
            <a:pPr indent="0" marL="0">
              <a:lnSpc>
                <a:spcPct val="139000"/>
              </a:lnSpc>
              <a:buNone/>
            </a:pPr>
            <a:r>
              <a:rPr lang="en-US" sz="1150" dirty="0">
                <a:solidFill>
                  <a:srgbClr val="68776D"/>
                </a:solidFill>
                <a:latin typeface="Inter" pitchFamily="34" charset="0"/>
                <a:ea typeface="Inter" pitchFamily="34" charset="-122"/>
                <a:cs typeface="Inter" pitchFamily="34" charset="-120"/>
              </a:rPr>
              <a:t>Farm-share manifests and garden feeds</a:t>
            </a:r>
            <a:endParaRPr lang="en-US" sz="1150" dirty="0"/>
          </a:p>
          <a:p>
            <a:pPr indent="0" marL="0">
              <a:lnSpc>
                <a:spcPct val="139000"/>
              </a:lnSpc>
              <a:buNone/>
            </a:pPr>
            <a:r>
              <a:rPr lang="en-US" sz="1150" dirty="0">
                <a:solidFill>
                  <a:srgbClr val="68776D"/>
                </a:solidFill>
                <a:latin typeface="Inter" pitchFamily="34" charset="0"/>
                <a:ea typeface="Inter" pitchFamily="34" charset="-122"/>
                <a:cs typeface="Inter" pitchFamily="34" charset="-120"/>
              </a:rPr>
              <a:t>Deeper meal slots and batch prep</a:t>
            </a:r>
            <a:endParaRPr lang="en-US" sz="1150" dirty="0"/>
          </a:p>
        </p:txBody>
      </p:sp>
      <p:sp>
        <p:nvSpPr>
          <p:cNvPr id="16" name="Shape 14"/>
          <p:cNvSpPr/>
          <p:nvPr/>
        </p:nvSpPr>
        <p:spPr>
          <a:xfrm>
            <a:off x="8174736" y="2130552"/>
            <a:ext cx="3429000" cy="3758184"/>
          </a:xfrm>
          <a:prstGeom prst="roundRect">
            <a:avLst>
              <a:gd name="adj" fmla="val 3200"/>
            </a:avLst>
          </a:prstGeom>
          <a:solidFill>
            <a:srgbClr val="FBE7DB"/>
          </a:solidFill>
          <a:ln w="12700">
            <a:solidFill>
              <a:srgbClr val="FBE7DB"/>
            </a:solidFill>
            <a:prstDash val="solid"/>
          </a:ln>
        </p:spPr>
      </p:sp>
      <p:sp>
        <p:nvSpPr>
          <p:cNvPr id="17" name="Text 15"/>
          <p:cNvSpPr/>
          <p:nvPr/>
        </p:nvSpPr>
        <p:spPr>
          <a:xfrm>
            <a:off x="8375904" y="2377440"/>
            <a:ext cx="3026664" cy="182880"/>
          </a:xfrm>
          <a:prstGeom prst="rect">
            <a:avLst/>
          </a:prstGeom>
          <a:noFill/>
          <a:ln/>
        </p:spPr>
        <p:txBody>
          <a:bodyPr wrap="square" lIns="0" tIns="0" rIns="0" bIns="0" rtlCol="0" anchor="t"/>
          <a:lstStyle/>
          <a:p>
            <a:pPr indent="0" marL="0">
              <a:lnSpc>
                <a:spcPct val="106000"/>
              </a:lnSpc>
              <a:buNone/>
            </a:pPr>
            <a:r>
              <a:rPr lang="en-US" sz="850" b="1" spc="165" kern="0" dirty="0">
                <a:solidFill>
                  <a:srgbClr val="68776D"/>
                </a:solidFill>
                <a:latin typeface="Inter" pitchFamily="34" charset="0"/>
                <a:ea typeface="Inter" pitchFamily="34" charset="-122"/>
                <a:cs typeface="Inter" pitchFamily="34" charset="-120"/>
              </a:rPr>
              <a:t>03 / CONNECT COMMERCE</a:t>
            </a:r>
            <a:endParaRPr lang="en-US" sz="850" dirty="0"/>
          </a:p>
        </p:txBody>
      </p:sp>
      <p:sp>
        <p:nvSpPr>
          <p:cNvPr id="18" name="Text 16"/>
          <p:cNvSpPr/>
          <p:nvPr/>
        </p:nvSpPr>
        <p:spPr>
          <a:xfrm>
            <a:off x="8375904" y="2816352"/>
            <a:ext cx="3026664" cy="438912"/>
          </a:xfrm>
          <a:prstGeom prst="rect">
            <a:avLst/>
          </a:prstGeom>
          <a:noFill/>
          <a:ln/>
        </p:spPr>
        <p:txBody>
          <a:bodyPr wrap="square" lIns="0" tIns="0" rIns="0" bIns="0" rtlCol="0" anchor="t"/>
          <a:lstStyle/>
          <a:p>
            <a:pPr indent="0" marL="0">
              <a:lnSpc>
                <a:spcPct val="106000"/>
              </a:lnSpc>
              <a:buNone/>
            </a:pPr>
            <a:r>
              <a:rPr lang="en-US" sz="2500" b="1" spc="-70" kern="0" dirty="0">
                <a:solidFill>
                  <a:srgbClr val="193F35"/>
                </a:solidFill>
                <a:latin typeface="Inter" pitchFamily="34" charset="0"/>
                <a:ea typeface="Inter" pitchFamily="34" charset="-122"/>
                <a:cs typeface="Inter" pitchFamily="34" charset="-120"/>
              </a:rPr>
              <a:t>Shop beyond the list</a:t>
            </a:r>
            <a:endParaRPr lang="en-US" sz="2500" dirty="0"/>
          </a:p>
        </p:txBody>
      </p:sp>
      <p:sp>
        <p:nvSpPr>
          <p:cNvPr id="19" name="Text 17"/>
          <p:cNvSpPr/>
          <p:nvPr/>
        </p:nvSpPr>
        <p:spPr>
          <a:xfrm>
            <a:off x="8385048" y="3602736"/>
            <a:ext cx="2990088" cy="2002536"/>
          </a:xfrm>
          <a:prstGeom prst="rect">
            <a:avLst/>
          </a:prstGeom>
          <a:noFill/>
          <a:ln/>
        </p:spPr>
        <p:txBody>
          <a:bodyPr wrap="square" lIns="0" tIns="0" rIns="0" bIns="0" rtlCol="0" anchor="t"/>
          <a:lstStyle/>
          <a:p>
            <a:pPr indent="0" marL="0">
              <a:lnSpc>
                <a:spcPct val="139000"/>
              </a:lnSpc>
              <a:buNone/>
            </a:pPr>
            <a:r>
              <a:rPr lang="en-US" sz="1150" dirty="0">
                <a:solidFill>
                  <a:srgbClr val="68776D"/>
                </a:solidFill>
                <a:latin typeface="Inter" pitchFamily="34" charset="0"/>
                <a:ea typeface="Inter" pitchFamily="34" charset="-122"/>
                <a:cs typeface="Inter" pitchFamily="34" charset="-120"/>
              </a:rPr>
              <a:t>Supported retailer connections</a:t>
            </a:r>
            <a:endParaRPr lang="en-US" sz="1150" dirty="0"/>
          </a:p>
          <a:p>
            <a:pPr indent="0" marL="0">
              <a:lnSpc>
                <a:spcPct val="139000"/>
              </a:lnSpc>
              <a:buNone/>
            </a:pPr>
            <a:r>
              <a:rPr lang="en-US" sz="1150" dirty="0">
                <a:solidFill>
                  <a:srgbClr val="68776D"/>
                </a:solidFill>
                <a:latin typeface="Inter" pitchFamily="34" charset="0"/>
                <a:ea typeface="Inter" pitchFamily="34" charset="-122"/>
                <a:cs typeface="Inter" pitchFamily="34" charset="-120"/>
              </a:rPr>
              <a:t>Package and unit-price comparisons</a:t>
            </a:r>
            <a:endParaRPr lang="en-US" sz="1150" dirty="0"/>
          </a:p>
          <a:p>
            <a:pPr indent="0" marL="0">
              <a:lnSpc>
                <a:spcPct val="139000"/>
              </a:lnSpc>
              <a:buNone/>
            </a:pPr>
            <a:r>
              <a:rPr lang="en-US" sz="1150" dirty="0">
                <a:solidFill>
                  <a:srgbClr val="68776D"/>
                </a:solidFill>
                <a:latin typeface="Inter" pitchFamily="34" charset="0"/>
                <a:ea typeface="Inter" pitchFamily="34" charset="-122"/>
                <a:cs typeface="Inter" pitchFamily="34" charset="-120"/>
              </a:rPr>
              <a:t>Availability-aware substitutions</a:t>
            </a:r>
            <a:endParaRPr lang="en-US" sz="1150" dirty="0"/>
          </a:p>
          <a:p>
            <a:pPr indent="0" marL="0">
              <a:lnSpc>
                <a:spcPct val="139000"/>
              </a:lnSpc>
              <a:buNone/>
            </a:pPr>
            <a:r>
              <a:rPr lang="en-US" sz="1150" dirty="0">
                <a:solidFill>
                  <a:srgbClr val="68776D"/>
                </a:solidFill>
                <a:latin typeface="Inter" pitchFamily="34" charset="0"/>
                <a:ea typeface="Inter" pitchFamily="34" charset="-122"/>
                <a:cs typeface="Inter" pitchFamily="34" charset="-120"/>
              </a:rPr>
              <a:t>User-approved carts and checkout</a:t>
            </a:r>
            <a:endParaRPr lang="en-US" sz="1150" dirty="0"/>
          </a:p>
          <a:p>
            <a:pPr indent="0" marL="0">
              <a:lnSpc>
                <a:spcPct val="139000"/>
              </a:lnSpc>
              <a:buNone/>
            </a:pPr>
            <a:r>
              <a:rPr lang="en-US" sz="1150" dirty="0">
                <a:solidFill>
                  <a:srgbClr val="68776D"/>
                </a:solidFill>
                <a:latin typeface="Inter" pitchFamily="34" charset="0"/>
                <a:ea typeface="Inter" pitchFamily="34" charset="-122"/>
                <a:cs typeface="Inter" pitchFamily="34" charset="-120"/>
              </a:rPr>
              <a:t>Fees and minimum-order visibility</a:t>
            </a:r>
            <a:endParaRPr lang="en-US" sz="1150" dirty="0"/>
          </a:p>
          <a:p>
            <a:pPr indent="0" marL="0">
              <a:lnSpc>
                <a:spcPct val="139000"/>
              </a:lnSpc>
              <a:buNone/>
            </a:pPr>
            <a:r>
              <a:rPr lang="en-US" sz="1150" dirty="0">
                <a:solidFill>
                  <a:srgbClr val="68776D"/>
                </a:solidFill>
                <a:latin typeface="Inter" pitchFamily="34" charset="0"/>
                <a:ea typeface="Inter" pitchFamily="34" charset="-122"/>
                <a:cs typeface="Inter" pitchFamily="34" charset="-120"/>
              </a:rPr>
              <a:t>Coverage and commercial disclosures</a:t>
            </a:r>
            <a:endParaRPr lang="en-US" sz="1150" dirty="0"/>
          </a:p>
        </p:txBody>
      </p:sp>
      <p:sp>
        <p:nvSpPr>
          <p:cNvPr id="20" name="Text 18"/>
          <p:cNvSpPr/>
          <p:nvPr/>
        </p:nvSpPr>
        <p:spPr>
          <a:xfrm>
            <a:off x="621792" y="6144768"/>
            <a:ext cx="10981944" cy="173736"/>
          </a:xfrm>
          <a:prstGeom prst="rect">
            <a:avLst/>
          </a:prstGeom>
          <a:noFill/>
          <a:ln/>
        </p:spPr>
        <p:txBody>
          <a:bodyPr wrap="square" lIns="0" tIns="0" rIns="0" bIns="0" rtlCol="0" anchor="t"/>
          <a:lstStyle/>
          <a:p>
            <a:pPr indent="0" marL="0">
              <a:lnSpc>
                <a:spcPct val="106000"/>
              </a:lnSpc>
              <a:buNone/>
            </a:pPr>
            <a:r>
              <a:rPr lang="en-US" sz="1030" dirty="0">
                <a:solidFill>
                  <a:srgbClr val="68776D"/>
                </a:solidFill>
                <a:latin typeface="Inter" pitchFamily="34" charset="0"/>
                <a:ea typeface="Inter" pitchFamily="34" charset="-122"/>
                <a:cs typeface="Inter" pitchFamily="34" charset="-120"/>
              </a:rPr>
              <a:t>Phase gates are learning goals, not committed dates. Do not build integrations to compensate for an unproven everyday habit.</a:t>
            </a:r>
            <a:endParaRPr lang="en-US" sz="103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6F0"/>
        </a:solidFill>
      </p:bgPr>
    </p:bg>
    <p:spTree>
      <p:nvGrpSpPr>
        <p:cNvPr id="1" name=""/>
        <p:cNvGrpSpPr/>
        <p:nvPr/>
      </p:nvGrpSpPr>
      <p:grpSpPr>
        <a:xfrm>
          <a:off x="0" y="0"/>
          <a:ext cx="0" cy="0"/>
          <a:chOff x="0" y="0"/>
          <a:chExt cx="0" cy="0"/>
        </a:xfrm>
      </p:grpSpPr>
      <p:sp>
        <p:nvSpPr>
          <p:cNvPr id="2" name="Text 0"/>
          <p:cNvSpPr/>
          <p:nvPr/>
        </p:nvSpPr>
        <p:spPr>
          <a:xfrm>
            <a:off x="502920" y="320040"/>
            <a:ext cx="9144000" cy="182880"/>
          </a:xfrm>
          <a:prstGeom prst="rect">
            <a:avLst/>
          </a:prstGeom>
          <a:noFill/>
          <a:ln/>
        </p:spPr>
        <p:txBody>
          <a:bodyPr wrap="square" lIns="0" tIns="0" rIns="0" bIns="0" rtlCol="0" anchor="t"/>
          <a:lstStyle/>
          <a:p>
            <a:pPr indent="0" marL="0">
              <a:lnSpc>
                <a:spcPct val="106000"/>
              </a:lnSpc>
              <a:buNone/>
            </a:pPr>
            <a:r>
              <a:rPr lang="en-US" sz="850" b="1" spc="165" kern="0" dirty="0">
                <a:solidFill>
                  <a:srgbClr val="68776D"/>
                </a:solidFill>
                <a:latin typeface="Inter" pitchFamily="34" charset="0"/>
                <a:ea typeface="Inter" pitchFamily="34" charset="-122"/>
                <a:cs typeface="Inter" pitchFamily="34" charset="-120"/>
              </a:rPr>
              <a:t>LUNCHBOX  /  WHAT TO TEST NEXT</a:t>
            </a:r>
            <a:endParaRPr lang="en-US" sz="850" dirty="0"/>
          </a:p>
        </p:txBody>
      </p:sp>
      <p:sp>
        <p:nvSpPr>
          <p:cNvPr id="3" name="Text 1"/>
          <p:cNvSpPr/>
          <p:nvPr/>
        </p:nvSpPr>
        <p:spPr>
          <a:xfrm>
            <a:off x="502920" y="749808"/>
            <a:ext cx="11155680" cy="658368"/>
          </a:xfrm>
          <a:prstGeom prst="rect">
            <a:avLst/>
          </a:prstGeom>
          <a:noFill/>
          <a:ln/>
        </p:spPr>
        <p:txBody>
          <a:bodyPr wrap="square" lIns="0" tIns="0" rIns="0" bIns="0" rtlCol="0" anchor="t"/>
          <a:lstStyle/>
          <a:p>
            <a:pPr indent="0" marL="0">
              <a:lnSpc>
                <a:spcPct val="106000"/>
              </a:lnSpc>
              <a:buNone/>
            </a:pPr>
            <a:r>
              <a:rPr lang="en-US" sz="3100" b="1" spc="-125" kern="0" dirty="0">
                <a:solidFill>
                  <a:srgbClr val="193F35"/>
                </a:solidFill>
                <a:latin typeface="Inter" pitchFamily="34" charset="0"/>
                <a:ea typeface="Inter" pitchFamily="34" charset="-122"/>
                <a:cs typeface="Inter" pitchFamily="34" charset="-120"/>
              </a:rPr>
              <a:t>The key risk is not recipe generation. It is upkeep.</a:t>
            </a:r>
            <a:endParaRPr lang="en-US" sz="3100" dirty="0"/>
          </a:p>
        </p:txBody>
      </p:sp>
      <p:sp>
        <p:nvSpPr>
          <p:cNvPr id="4" name="Text 2"/>
          <p:cNvSpPr/>
          <p:nvPr/>
        </p:nvSpPr>
        <p:spPr>
          <a:xfrm>
            <a:off x="530352" y="1472184"/>
            <a:ext cx="10789920" cy="457200"/>
          </a:xfrm>
          <a:prstGeom prst="rect">
            <a:avLst/>
          </a:prstGeom>
          <a:noFill/>
          <a:ln/>
        </p:spPr>
        <p:txBody>
          <a:bodyPr wrap="square" lIns="0" tIns="0" rIns="0" bIns="0" rtlCol="0" anchor="t"/>
          <a:lstStyle/>
          <a:p>
            <a:pPr indent="0" marL="0">
              <a:lnSpc>
                <a:spcPct val="106000"/>
              </a:lnSpc>
              <a:buNone/>
            </a:pPr>
            <a:r>
              <a:rPr lang="en-US" sz="1200" dirty="0">
                <a:solidFill>
                  <a:srgbClr val="68776D"/>
                </a:solidFill>
                <a:latin typeface="Inter" pitchFamily="34" charset="0"/>
                <a:ea typeface="Inter" pitchFamily="34" charset="-122"/>
                <a:cs typeface="Inter" pitchFamily="34" charset="-120"/>
              </a:rPr>
              <a:t>Would people maintain enough context for LunchBox to keep earning its place in the kitchen?</a:t>
            </a:r>
            <a:endParaRPr lang="en-US" sz="1200" dirty="0"/>
          </a:p>
        </p:txBody>
      </p:sp>
      <p:sp>
        <p:nvSpPr>
          <p:cNvPr id="5" name="Shape 3"/>
          <p:cNvSpPr/>
          <p:nvPr/>
        </p:nvSpPr>
        <p:spPr>
          <a:xfrm>
            <a:off x="502920" y="6455664"/>
            <a:ext cx="11183112" cy="0"/>
          </a:xfrm>
          <a:prstGeom prst="line">
            <a:avLst/>
          </a:prstGeom>
          <a:noFill/>
          <a:ln w="8890">
            <a:solidFill>
              <a:srgbClr val="E0E4D9"/>
            </a:solidFill>
            <a:prstDash val="solid"/>
          </a:ln>
        </p:spPr>
      </p:sp>
      <p:sp>
        <p:nvSpPr>
          <p:cNvPr id="6" name="Text 4"/>
          <p:cNvSpPr/>
          <p:nvPr/>
        </p:nvSpPr>
        <p:spPr>
          <a:xfrm>
            <a:off x="512064" y="6565392"/>
            <a:ext cx="6400800" cy="118872"/>
          </a:xfrm>
          <a:prstGeom prst="rect">
            <a:avLst/>
          </a:prstGeom>
          <a:noFill/>
          <a:ln/>
        </p:spPr>
        <p:txBody>
          <a:bodyPr wrap="square" lIns="0" tIns="0" rIns="0" bIns="0" rtlCol="0" anchor="t"/>
          <a:lstStyle/>
          <a:p>
            <a:pPr indent="0" marL="0">
              <a:lnSpc>
                <a:spcPct val="106000"/>
              </a:lnSpc>
              <a:buNone/>
            </a:pPr>
            <a:r>
              <a:rPr lang="en-US" sz="730" spc="90" kern="0" dirty="0">
                <a:solidFill>
                  <a:srgbClr val="68776D"/>
                </a:solidFill>
                <a:latin typeface="Inter" pitchFamily="34" charset="0"/>
                <a:ea typeface="Inter" pitchFamily="34" charset="-122"/>
                <a:cs typeface="Inter" pitchFamily="34" charset="-120"/>
              </a:rPr>
              <a:t>CONCEPT PORTFOLIO · SEPTEMBER 2026</a:t>
            </a:r>
            <a:endParaRPr lang="en-US" sz="730" dirty="0"/>
          </a:p>
        </p:txBody>
      </p:sp>
      <p:sp>
        <p:nvSpPr>
          <p:cNvPr id="7" name="Text 5"/>
          <p:cNvSpPr/>
          <p:nvPr/>
        </p:nvSpPr>
        <p:spPr>
          <a:xfrm>
            <a:off x="11155680" y="6537960"/>
            <a:ext cx="530352" cy="155448"/>
          </a:xfrm>
          <a:prstGeom prst="rect">
            <a:avLst/>
          </a:prstGeom>
          <a:noFill/>
          <a:ln/>
        </p:spPr>
        <p:txBody>
          <a:bodyPr wrap="square" lIns="0" tIns="0" rIns="0" bIns="0" rtlCol="0" anchor="t"/>
          <a:lstStyle/>
          <a:p>
            <a:pPr algn="r" indent="0" marL="0">
              <a:lnSpc>
                <a:spcPct val="106000"/>
              </a:lnSpc>
              <a:buNone/>
            </a:pPr>
            <a:r>
              <a:rPr lang="en-US" sz="900" b="1" dirty="0">
                <a:solidFill>
                  <a:srgbClr val="193F35"/>
                </a:solidFill>
                <a:latin typeface="Inter" pitchFamily="34" charset="0"/>
                <a:ea typeface="Inter" pitchFamily="34" charset="-122"/>
                <a:cs typeface="Inter" pitchFamily="34" charset="-120"/>
              </a:rPr>
              <a:t>14</a:t>
            </a:r>
            <a:endParaRPr lang="en-US" sz="900" dirty="0"/>
          </a:p>
        </p:txBody>
      </p:sp>
      <p:sp>
        <p:nvSpPr>
          <p:cNvPr id="8" name="Shape 6"/>
          <p:cNvSpPr/>
          <p:nvPr/>
        </p:nvSpPr>
        <p:spPr>
          <a:xfrm>
            <a:off x="603504" y="2112264"/>
            <a:ext cx="3694176" cy="3977640"/>
          </a:xfrm>
          <a:prstGeom prst="roundRect">
            <a:avLst>
              <a:gd name="adj" fmla="val 2970"/>
            </a:avLst>
          </a:prstGeom>
          <a:solidFill>
            <a:srgbClr val="244D40"/>
          </a:solidFill>
          <a:ln w="12700">
            <a:solidFill>
              <a:srgbClr val="244D40"/>
            </a:solidFill>
            <a:prstDash val="solid"/>
          </a:ln>
        </p:spPr>
      </p:sp>
      <p:sp>
        <p:nvSpPr>
          <p:cNvPr id="9" name="Text 7"/>
          <p:cNvSpPr/>
          <p:nvPr/>
        </p:nvSpPr>
        <p:spPr>
          <a:xfrm>
            <a:off x="859536" y="2432304"/>
            <a:ext cx="3182112" cy="182880"/>
          </a:xfrm>
          <a:prstGeom prst="rect">
            <a:avLst/>
          </a:prstGeom>
          <a:noFill/>
          <a:ln/>
        </p:spPr>
        <p:txBody>
          <a:bodyPr wrap="square" lIns="0" tIns="0" rIns="0" bIns="0" rtlCol="0" anchor="t"/>
          <a:lstStyle/>
          <a:p>
            <a:pPr indent="0" marL="0">
              <a:lnSpc>
                <a:spcPct val="106000"/>
              </a:lnSpc>
              <a:buNone/>
            </a:pPr>
            <a:r>
              <a:rPr lang="en-US" sz="850" b="1" spc="165" kern="0" dirty="0">
                <a:solidFill>
                  <a:srgbClr val="DDECAB"/>
                </a:solidFill>
                <a:latin typeface="Inter" pitchFamily="34" charset="0"/>
                <a:ea typeface="Inter" pitchFamily="34" charset="-122"/>
                <a:cs typeface="Inter" pitchFamily="34" charset="-120"/>
              </a:rPr>
              <a:t>PROPOSED NORTH-STAR METRIC</a:t>
            </a:r>
            <a:endParaRPr lang="en-US" sz="850" dirty="0"/>
          </a:p>
        </p:txBody>
      </p:sp>
      <p:sp>
        <p:nvSpPr>
          <p:cNvPr id="10" name="Text 8"/>
          <p:cNvSpPr/>
          <p:nvPr/>
        </p:nvSpPr>
        <p:spPr>
          <a:xfrm>
            <a:off x="832104" y="2871216"/>
            <a:ext cx="3236976" cy="1691640"/>
          </a:xfrm>
          <a:prstGeom prst="rect">
            <a:avLst/>
          </a:prstGeom>
          <a:noFill/>
          <a:ln/>
        </p:spPr>
        <p:txBody>
          <a:bodyPr wrap="square" lIns="0" tIns="0" rIns="0" bIns="0" rtlCol="0" anchor="t"/>
          <a:lstStyle/>
          <a:p>
            <a:pPr indent="0" marL="0">
              <a:lnSpc>
                <a:spcPct val="103000"/>
              </a:lnSpc>
              <a:buNone/>
            </a:pPr>
            <a:r>
              <a:rPr lang="en-US" sz="3300" b="1" spc="-115" kern="0" dirty="0">
                <a:solidFill>
                  <a:srgbClr val="FFFEFA"/>
                </a:solidFill>
                <a:latin typeface="Inter" pitchFamily="34" charset="0"/>
                <a:ea typeface="Inter" pitchFamily="34" charset="-122"/>
                <a:cs typeface="Inter" pitchFamily="34" charset="-120"/>
              </a:rPr>
              <a:t>Weekly meals</a:t>
            </a:r>
            <a:endParaRPr lang="en-US" sz="3300" dirty="0"/>
          </a:p>
          <a:p>
            <a:pPr indent="0" marL="0">
              <a:lnSpc>
                <a:spcPct val="103000"/>
              </a:lnSpc>
              <a:buNone/>
            </a:pPr>
            <a:r>
              <a:rPr lang="en-US" sz="3300" b="1" spc="-115" kern="0" dirty="0">
                <a:solidFill>
                  <a:srgbClr val="FFFEFA"/>
                </a:solidFill>
                <a:latin typeface="Inter" pitchFamily="34" charset="0"/>
                <a:ea typeface="Inter" pitchFamily="34" charset="-122"/>
                <a:cs typeface="Inter" pitchFamily="34" charset="-120"/>
              </a:rPr>
              <a:t>actually made</a:t>
            </a:r>
            <a:endParaRPr lang="en-US" sz="3300" dirty="0"/>
          </a:p>
          <a:p>
            <a:pPr indent="0" marL="0">
              <a:lnSpc>
                <a:spcPct val="103000"/>
              </a:lnSpc>
              <a:buNone/>
            </a:pPr>
            <a:r>
              <a:rPr lang="en-US" sz="3300" b="1" spc="-115" kern="0" dirty="0">
                <a:solidFill>
                  <a:srgbClr val="FFFEFA"/>
                </a:solidFill>
                <a:latin typeface="Inter" pitchFamily="34" charset="0"/>
                <a:ea typeface="Inter" pitchFamily="34" charset="-122"/>
                <a:cs typeface="Inter" pitchFamily="34" charset="-120"/>
              </a:rPr>
              <a:t>with LunchBox.</a:t>
            </a:r>
            <a:endParaRPr lang="en-US" sz="3300" dirty="0"/>
          </a:p>
        </p:txBody>
      </p:sp>
      <p:sp>
        <p:nvSpPr>
          <p:cNvPr id="11" name="Text 9"/>
          <p:cNvSpPr/>
          <p:nvPr/>
        </p:nvSpPr>
        <p:spPr>
          <a:xfrm>
            <a:off x="877824" y="5084064"/>
            <a:ext cx="3145536" cy="713232"/>
          </a:xfrm>
          <a:prstGeom prst="rect">
            <a:avLst/>
          </a:prstGeom>
          <a:noFill/>
          <a:ln/>
        </p:spPr>
        <p:txBody>
          <a:bodyPr wrap="square" lIns="0" tIns="0" rIns="0" bIns="0" rtlCol="0" anchor="t"/>
          <a:lstStyle/>
          <a:p>
            <a:pPr indent="0" marL="0">
              <a:lnSpc>
                <a:spcPct val="106000"/>
              </a:lnSpc>
              <a:buNone/>
            </a:pPr>
            <a:r>
              <a:rPr lang="en-US" sz="1200" dirty="0">
                <a:solidFill>
                  <a:srgbClr val="D6E0D8"/>
                </a:solidFill>
                <a:latin typeface="Inter" pitchFamily="34" charset="0"/>
                <a:ea typeface="Inter" pitchFamily="34" charset="-122"/>
                <a:cs typeface="Inter" pitchFamily="34" charset="-120"/>
              </a:rPr>
              <a:t>Measure completed cooking actions</a:t>
            </a:r>
            <a:endParaRPr lang="en-US" sz="1200" dirty="0"/>
          </a:p>
          <a:p>
            <a:pPr indent="0" marL="0">
              <a:lnSpc>
                <a:spcPct val="106000"/>
              </a:lnSpc>
              <a:buNone/>
            </a:pPr>
            <a:r>
              <a:rPr lang="en-US" sz="1200" dirty="0">
                <a:solidFill>
                  <a:srgbClr val="D6E0D8"/>
                </a:solidFill>
                <a:latin typeface="Inter" pitchFamily="34" charset="0"/>
                <a:ea typeface="Inter" pitchFamily="34" charset="-122"/>
                <a:cs typeface="Inter" pitchFamily="34" charset="-120"/>
              </a:rPr>
              <a:t>per active household—not recipes</a:t>
            </a:r>
            <a:endParaRPr lang="en-US" sz="1200" dirty="0"/>
          </a:p>
          <a:p>
            <a:pPr indent="0" marL="0">
              <a:lnSpc>
                <a:spcPct val="106000"/>
              </a:lnSpc>
              <a:buNone/>
            </a:pPr>
            <a:r>
              <a:rPr lang="en-US" sz="1200" dirty="0">
                <a:solidFill>
                  <a:srgbClr val="D6E0D8"/>
                </a:solidFill>
                <a:latin typeface="Inter" pitchFamily="34" charset="0"/>
                <a:ea typeface="Inter" pitchFamily="34" charset="-122"/>
                <a:cs typeface="Inter" pitchFamily="34" charset="-120"/>
              </a:rPr>
              <a:t>generated or meals merely planned.</a:t>
            </a:r>
            <a:endParaRPr lang="en-US" sz="1200" dirty="0"/>
          </a:p>
        </p:txBody>
      </p:sp>
      <p:sp>
        <p:nvSpPr>
          <p:cNvPr id="12" name="Shape 10"/>
          <p:cNvSpPr/>
          <p:nvPr/>
        </p:nvSpPr>
        <p:spPr>
          <a:xfrm>
            <a:off x="4672584" y="2185416"/>
            <a:ext cx="347472" cy="347472"/>
          </a:xfrm>
          <a:prstGeom prst="roundRect">
            <a:avLst>
              <a:gd name="adj" fmla="val 28947"/>
            </a:avLst>
          </a:prstGeom>
          <a:solidFill>
            <a:srgbClr val="244D40"/>
          </a:solidFill>
          <a:ln w="12700">
            <a:solidFill>
              <a:srgbClr val="244D40"/>
            </a:solidFill>
            <a:prstDash val="solid"/>
          </a:ln>
        </p:spPr>
      </p:sp>
      <p:sp>
        <p:nvSpPr>
          <p:cNvPr id="13" name="Text 11"/>
          <p:cNvSpPr/>
          <p:nvPr/>
        </p:nvSpPr>
        <p:spPr>
          <a:xfrm>
            <a:off x="4672584" y="2244852"/>
            <a:ext cx="347472" cy="210312"/>
          </a:xfrm>
          <a:prstGeom prst="rect">
            <a:avLst/>
          </a:prstGeom>
          <a:noFill/>
          <a:ln/>
        </p:spPr>
        <p:txBody>
          <a:bodyPr wrap="square" lIns="0" tIns="0" rIns="0" bIns="0" rtlCol="0" anchor="t"/>
          <a:lstStyle/>
          <a:p>
            <a:pPr algn="ctr" indent="0" marL="0">
              <a:lnSpc>
                <a:spcPct val="106000"/>
              </a:lnSpc>
              <a:buNone/>
            </a:pPr>
            <a:r>
              <a:rPr lang="en-US" sz="1000" b="1" dirty="0">
                <a:solidFill>
                  <a:srgbClr val="FFFEFA"/>
                </a:solidFill>
                <a:latin typeface="Inter" pitchFamily="34" charset="0"/>
                <a:ea typeface="Inter" pitchFamily="34" charset="-122"/>
                <a:cs typeface="Inter" pitchFamily="34" charset="-120"/>
              </a:rPr>
              <a:t>01</a:t>
            </a:r>
            <a:endParaRPr lang="en-US" sz="1000" dirty="0"/>
          </a:p>
        </p:txBody>
      </p:sp>
      <p:sp>
        <p:nvSpPr>
          <p:cNvPr id="14" name="Text 12"/>
          <p:cNvSpPr/>
          <p:nvPr/>
        </p:nvSpPr>
        <p:spPr>
          <a:xfrm>
            <a:off x="5212080" y="2185416"/>
            <a:ext cx="6281928" cy="310896"/>
          </a:xfrm>
          <a:prstGeom prst="rect">
            <a:avLst/>
          </a:prstGeom>
          <a:noFill/>
          <a:ln/>
        </p:spPr>
        <p:txBody>
          <a:bodyPr wrap="square" lIns="0" tIns="0" rIns="0" bIns="0" rtlCol="0" anchor="t"/>
          <a:lstStyle/>
          <a:p>
            <a:pPr indent="0" marL="0">
              <a:lnSpc>
                <a:spcPct val="106000"/>
              </a:lnSpc>
              <a:buNone/>
            </a:pPr>
            <a:r>
              <a:rPr lang="en-US" sz="1620" b="1" spc="-40" kern="0" dirty="0">
                <a:solidFill>
                  <a:srgbClr val="193F35"/>
                </a:solidFill>
                <a:latin typeface="Inter" pitchFamily="34" charset="0"/>
                <a:ea typeface="Inter" pitchFamily="34" charset="-122"/>
                <a:cs typeface="Inter" pitchFamily="34" charset="-120"/>
              </a:rPr>
              <a:t>Can they get value before perfect setup?</a:t>
            </a:r>
            <a:endParaRPr lang="en-US" sz="1620" dirty="0"/>
          </a:p>
        </p:txBody>
      </p:sp>
      <p:sp>
        <p:nvSpPr>
          <p:cNvPr id="15" name="Text 13"/>
          <p:cNvSpPr/>
          <p:nvPr/>
        </p:nvSpPr>
        <p:spPr>
          <a:xfrm>
            <a:off x="5230368" y="2615184"/>
            <a:ext cx="6245352" cy="411480"/>
          </a:xfrm>
          <a:prstGeom prst="rect">
            <a:avLst/>
          </a:prstGeom>
          <a:noFill/>
          <a:ln/>
        </p:spPr>
        <p:txBody>
          <a:bodyPr wrap="square" lIns="0" tIns="0" rIns="0" bIns="0" rtlCol="0" anchor="t"/>
          <a:lstStyle/>
          <a:p>
            <a:pPr indent="0" marL="0">
              <a:lnSpc>
                <a:spcPct val="106000"/>
              </a:lnSpc>
              <a:buNone/>
            </a:pPr>
            <a:r>
              <a:rPr lang="en-US" sz="1140" dirty="0">
                <a:solidFill>
                  <a:srgbClr val="68776D"/>
                </a:solidFill>
                <a:latin typeface="Inter" pitchFamily="34" charset="0"/>
                <a:ea typeface="Inter" pitchFamily="34" charset="-122"/>
                <a:cs typeface="Inter" pitchFamily="34" charset="-120"/>
              </a:rPr>
              <a:t>Observe first-meal selection from a small, incomplete pantry.</a:t>
            </a:r>
            <a:endParaRPr lang="en-US" sz="1140" dirty="0"/>
          </a:p>
        </p:txBody>
      </p:sp>
      <p:sp>
        <p:nvSpPr>
          <p:cNvPr id="16" name="Shape 14"/>
          <p:cNvSpPr/>
          <p:nvPr/>
        </p:nvSpPr>
        <p:spPr>
          <a:xfrm>
            <a:off x="4672584" y="3081528"/>
            <a:ext cx="347472" cy="347472"/>
          </a:xfrm>
          <a:prstGeom prst="roundRect">
            <a:avLst>
              <a:gd name="adj" fmla="val 28947"/>
            </a:avLst>
          </a:prstGeom>
          <a:solidFill>
            <a:srgbClr val="244D40"/>
          </a:solidFill>
          <a:ln w="12700">
            <a:solidFill>
              <a:srgbClr val="244D40"/>
            </a:solidFill>
            <a:prstDash val="solid"/>
          </a:ln>
        </p:spPr>
      </p:sp>
      <p:sp>
        <p:nvSpPr>
          <p:cNvPr id="17" name="Text 15"/>
          <p:cNvSpPr/>
          <p:nvPr/>
        </p:nvSpPr>
        <p:spPr>
          <a:xfrm>
            <a:off x="4672584" y="3140964"/>
            <a:ext cx="347472" cy="210312"/>
          </a:xfrm>
          <a:prstGeom prst="rect">
            <a:avLst/>
          </a:prstGeom>
          <a:noFill/>
          <a:ln/>
        </p:spPr>
        <p:txBody>
          <a:bodyPr wrap="square" lIns="0" tIns="0" rIns="0" bIns="0" rtlCol="0" anchor="t"/>
          <a:lstStyle/>
          <a:p>
            <a:pPr algn="ctr" indent="0" marL="0">
              <a:lnSpc>
                <a:spcPct val="106000"/>
              </a:lnSpc>
              <a:buNone/>
            </a:pPr>
            <a:r>
              <a:rPr lang="en-US" sz="1000" b="1" dirty="0">
                <a:solidFill>
                  <a:srgbClr val="FFFEFA"/>
                </a:solidFill>
                <a:latin typeface="Inter" pitchFamily="34" charset="0"/>
                <a:ea typeface="Inter" pitchFamily="34" charset="-122"/>
                <a:cs typeface="Inter" pitchFamily="34" charset="-120"/>
              </a:rPr>
              <a:t>02</a:t>
            </a:r>
            <a:endParaRPr lang="en-US" sz="1000" dirty="0"/>
          </a:p>
        </p:txBody>
      </p:sp>
      <p:sp>
        <p:nvSpPr>
          <p:cNvPr id="18" name="Text 16"/>
          <p:cNvSpPr/>
          <p:nvPr/>
        </p:nvSpPr>
        <p:spPr>
          <a:xfrm>
            <a:off x="5212080" y="3081528"/>
            <a:ext cx="6281928" cy="310896"/>
          </a:xfrm>
          <a:prstGeom prst="rect">
            <a:avLst/>
          </a:prstGeom>
          <a:noFill/>
          <a:ln/>
        </p:spPr>
        <p:txBody>
          <a:bodyPr wrap="square" lIns="0" tIns="0" rIns="0" bIns="0" rtlCol="0" anchor="t"/>
          <a:lstStyle/>
          <a:p>
            <a:pPr indent="0" marL="0">
              <a:lnSpc>
                <a:spcPct val="106000"/>
              </a:lnSpc>
              <a:buNone/>
            </a:pPr>
            <a:r>
              <a:rPr lang="en-US" sz="1620" b="1" spc="-40" kern="0" dirty="0">
                <a:solidFill>
                  <a:srgbClr val="193F35"/>
                </a:solidFill>
                <a:latin typeface="Inter" pitchFamily="34" charset="0"/>
                <a:ea typeface="Inter" pitchFamily="34" charset="-122"/>
                <a:cs typeface="Inter" pitchFamily="34" charset="-120"/>
              </a:rPr>
              <a:t>Does the system remain believable?</a:t>
            </a:r>
            <a:endParaRPr lang="en-US" sz="1620" dirty="0"/>
          </a:p>
        </p:txBody>
      </p:sp>
      <p:sp>
        <p:nvSpPr>
          <p:cNvPr id="19" name="Text 17"/>
          <p:cNvSpPr/>
          <p:nvPr/>
        </p:nvSpPr>
        <p:spPr>
          <a:xfrm>
            <a:off x="5230368" y="3511296"/>
            <a:ext cx="6245352" cy="411480"/>
          </a:xfrm>
          <a:prstGeom prst="rect">
            <a:avLst/>
          </a:prstGeom>
          <a:noFill/>
          <a:ln/>
        </p:spPr>
        <p:txBody>
          <a:bodyPr wrap="square" lIns="0" tIns="0" rIns="0" bIns="0" rtlCol="0" anchor="t"/>
          <a:lstStyle/>
          <a:p>
            <a:pPr indent="0" marL="0">
              <a:lnSpc>
                <a:spcPct val="106000"/>
              </a:lnSpc>
              <a:buNone/>
            </a:pPr>
            <a:r>
              <a:rPr lang="en-US" sz="1140" dirty="0">
                <a:solidFill>
                  <a:srgbClr val="68776D"/>
                </a:solidFill>
                <a:latin typeface="Inter" pitchFamily="34" charset="0"/>
                <a:ea typeface="Inter" pitchFamily="34" charset="-122"/>
                <a:cs typeface="Inter" pitchFamily="34" charset="-120"/>
              </a:rPr>
              <a:t>Run a 14-day household pilot; inspect stock mismatches and corrections.</a:t>
            </a:r>
            <a:endParaRPr lang="en-US" sz="1140" dirty="0"/>
          </a:p>
        </p:txBody>
      </p:sp>
      <p:sp>
        <p:nvSpPr>
          <p:cNvPr id="20" name="Shape 18"/>
          <p:cNvSpPr/>
          <p:nvPr/>
        </p:nvSpPr>
        <p:spPr>
          <a:xfrm>
            <a:off x="4672584" y="3977640"/>
            <a:ext cx="347472" cy="347472"/>
          </a:xfrm>
          <a:prstGeom prst="roundRect">
            <a:avLst>
              <a:gd name="adj" fmla="val 28947"/>
            </a:avLst>
          </a:prstGeom>
          <a:solidFill>
            <a:srgbClr val="244D40"/>
          </a:solidFill>
          <a:ln w="12700">
            <a:solidFill>
              <a:srgbClr val="244D40"/>
            </a:solidFill>
            <a:prstDash val="solid"/>
          </a:ln>
        </p:spPr>
      </p:sp>
      <p:sp>
        <p:nvSpPr>
          <p:cNvPr id="21" name="Text 19"/>
          <p:cNvSpPr/>
          <p:nvPr/>
        </p:nvSpPr>
        <p:spPr>
          <a:xfrm>
            <a:off x="4672584" y="4037076"/>
            <a:ext cx="347472" cy="210312"/>
          </a:xfrm>
          <a:prstGeom prst="rect">
            <a:avLst/>
          </a:prstGeom>
          <a:noFill/>
          <a:ln/>
        </p:spPr>
        <p:txBody>
          <a:bodyPr wrap="square" lIns="0" tIns="0" rIns="0" bIns="0" rtlCol="0" anchor="t"/>
          <a:lstStyle/>
          <a:p>
            <a:pPr algn="ctr" indent="0" marL="0">
              <a:lnSpc>
                <a:spcPct val="106000"/>
              </a:lnSpc>
              <a:buNone/>
            </a:pPr>
            <a:r>
              <a:rPr lang="en-US" sz="1000" b="1" dirty="0">
                <a:solidFill>
                  <a:srgbClr val="FFFEFA"/>
                </a:solidFill>
                <a:latin typeface="Inter" pitchFamily="34" charset="0"/>
                <a:ea typeface="Inter" pitchFamily="34" charset="-122"/>
                <a:cs typeface="Inter" pitchFamily="34" charset="-120"/>
              </a:rPr>
              <a:t>03</a:t>
            </a:r>
            <a:endParaRPr lang="en-US" sz="1000" dirty="0"/>
          </a:p>
        </p:txBody>
      </p:sp>
      <p:sp>
        <p:nvSpPr>
          <p:cNvPr id="22" name="Text 20"/>
          <p:cNvSpPr/>
          <p:nvPr/>
        </p:nvSpPr>
        <p:spPr>
          <a:xfrm>
            <a:off x="5212080" y="3977640"/>
            <a:ext cx="6281928" cy="310896"/>
          </a:xfrm>
          <a:prstGeom prst="rect">
            <a:avLst/>
          </a:prstGeom>
          <a:noFill/>
          <a:ln/>
        </p:spPr>
        <p:txBody>
          <a:bodyPr wrap="square" lIns="0" tIns="0" rIns="0" bIns="0" rtlCol="0" anchor="t"/>
          <a:lstStyle/>
          <a:p>
            <a:pPr indent="0" marL="0">
              <a:lnSpc>
                <a:spcPct val="106000"/>
              </a:lnSpc>
              <a:buNone/>
            </a:pPr>
            <a:r>
              <a:rPr lang="en-US" sz="1620" b="1" spc="-40" kern="0" dirty="0">
                <a:solidFill>
                  <a:srgbClr val="193F35"/>
                </a:solidFill>
                <a:latin typeface="Inter" pitchFamily="34" charset="0"/>
                <a:ea typeface="Inter" pitchFamily="34" charset="-122"/>
                <a:cs typeface="Inter" pitchFamily="34" charset="-120"/>
              </a:rPr>
              <a:t>Does the plan survive real life?</a:t>
            </a:r>
            <a:endParaRPr lang="en-US" sz="1620" dirty="0"/>
          </a:p>
        </p:txBody>
      </p:sp>
      <p:sp>
        <p:nvSpPr>
          <p:cNvPr id="23" name="Text 21"/>
          <p:cNvSpPr/>
          <p:nvPr/>
        </p:nvSpPr>
        <p:spPr>
          <a:xfrm>
            <a:off x="5230368" y="4407408"/>
            <a:ext cx="6245352" cy="411480"/>
          </a:xfrm>
          <a:prstGeom prst="rect">
            <a:avLst/>
          </a:prstGeom>
          <a:noFill/>
          <a:ln/>
        </p:spPr>
        <p:txBody>
          <a:bodyPr wrap="square" lIns="0" tIns="0" rIns="0" bIns="0" rtlCol="0" anchor="t"/>
          <a:lstStyle/>
          <a:p>
            <a:pPr indent="0" marL="0">
              <a:lnSpc>
                <a:spcPct val="106000"/>
              </a:lnSpc>
              <a:buNone/>
            </a:pPr>
            <a:r>
              <a:rPr lang="en-US" sz="1140" dirty="0">
                <a:solidFill>
                  <a:srgbClr val="68776D"/>
                </a:solidFill>
                <a:latin typeface="Inter" pitchFamily="34" charset="0"/>
                <a:ea typeface="Inter" pitchFamily="34" charset="-122"/>
                <a:cs typeface="Inter" pitchFamily="34" charset="-120"/>
              </a:rPr>
              <a:t>Test skipped meals, substitutions, leftovers, eating out and shared use.</a:t>
            </a:r>
            <a:endParaRPr lang="en-US" sz="1140" dirty="0"/>
          </a:p>
        </p:txBody>
      </p:sp>
      <p:sp>
        <p:nvSpPr>
          <p:cNvPr id="24" name="Shape 22"/>
          <p:cNvSpPr/>
          <p:nvPr/>
        </p:nvSpPr>
        <p:spPr>
          <a:xfrm>
            <a:off x="4672584" y="4873752"/>
            <a:ext cx="347472" cy="347472"/>
          </a:xfrm>
          <a:prstGeom prst="roundRect">
            <a:avLst>
              <a:gd name="adj" fmla="val 28947"/>
            </a:avLst>
          </a:prstGeom>
          <a:solidFill>
            <a:srgbClr val="244D40"/>
          </a:solidFill>
          <a:ln w="12700">
            <a:solidFill>
              <a:srgbClr val="244D40"/>
            </a:solidFill>
            <a:prstDash val="solid"/>
          </a:ln>
        </p:spPr>
      </p:sp>
      <p:sp>
        <p:nvSpPr>
          <p:cNvPr id="25" name="Text 23"/>
          <p:cNvSpPr/>
          <p:nvPr/>
        </p:nvSpPr>
        <p:spPr>
          <a:xfrm>
            <a:off x="4672584" y="4933188"/>
            <a:ext cx="347472" cy="210312"/>
          </a:xfrm>
          <a:prstGeom prst="rect">
            <a:avLst/>
          </a:prstGeom>
          <a:noFill/>
          <a:ln/>
        </p:spPr>
        <p:txBody>
          <a:bodyPr wrap="square" lIns="0" tIns="0" rIns="0" bIns="0" rtlCol="0" anchor="t"/>
          <a:lstStyle/>
          <a:p>
            <a:pPr algn="ctr" indent="0" marL="0">
              <a:lnSpc>
                <a:spcPct val="106000"/>
              </a:lnSpc>
              <a:buNone/>
            </a:pPr>
            <a:r>
              <a:rPr lang="en-US" sz="1000" b="1" dirty="0">
                <a:solidFill>
                  <a:srgbClr val="FFFEFA"/>
                </a:solidFill>
                <a:latin typeface="Inter" pitchFamily="34" charset="0"/>
                <a:ea typeface="Inter" pitchFamily="34" charset="-122"/>
                <a:cs typeface="Inter" pitchFamily="34" charset="-120"/>
              </a:rPr>
              <a:t>04</a:t>
            </a:r>
            <a:endParaRPr lang="en-US" sz="1000" dirty="0"/>
          </a:p>
        </p:txBody>
      </p:sp>
      <p:sp>
        <p:nvSpPr>
          <p:cNvPr id="26" name="Text 24"/>
          <p:cNvSpPr/>
          <p:nvPr/>
        </p:nvSpPr>
        <p:spPr>
          <a:xfrm>
            <a:off x="5212080" y="4873752"/>
            <a:ext cx="6281928" cy="310896"/>
          </a:xfrm>
          <a:prstGeom prst="rect">
            <a:avLst/>
          </a:prstGeom>
          <a:noFill/>
          <a:ln/>
        </p:spPr>
        <p:txBody>
          <a:bodyPr wrap="square" lIns="0" tIns="0" rIns="0" bIns="0" rtlCol="0" anchor="t"/>
          <a:lstStyle/>
          <a:p>
            <a:pPr indent="0" marL="0">
              <a:lnSpc>
                <a:spcPct val="106000"/>
              </a:lnSpc>
              <a:buNone/>
            </a:pPr>
            <a:r>
              <a:rPr lang="en-US" sz="1620" b="1" spc="-40" kern="0" dirty="0">
                <a:solidFill>
                  <a:srgbClr val="193F35"/>
                </a:solidFill>
                <a:latin typeface="Inter" pitchFamily="34" charset="0"/>
                <a:ea typeface="Inter" pitchFamily="34" charset="-122"/>
                <a:cs typeface="Inter" pitchFamily="34" charset="-120"/>
              </a:rPr>
              <a:t>Is the result worth the effort?</a:t>
            </a:r>
            <a:endParaRPr lang="en-US" sz="1620" dirty="0"/>
          </a:p>
        </p:txBody>
      </p:sp>
      <p:sp>
        <p:nvSpPr>
          <p:cNvPr id="27" name="Text 25"/>
          <p:cNvSpPr/>
          <p:nvPr/>
        </p:nvSpPr>
        <p:spPr>
          <a:xfrm>
            <a:off x="5230368" y="5303520"/>
            <a:ext cx="6245352" cy="411480"/>
          </a:xfrm>
          <a:prstGeom prst="rect">
            <a:avLst/>
          </a:prstGeom>
          <a:noFill/>
          <a:ln/>
        </p:spPr>
        <p:txBody>
          <a:bodyPr wrap="square" lIns="0" tIns="0" rIns="0" bIns="0" rtlCol="0" anchor="t"/>
          <a:lstStyle/>
          <a:p>
            <a:pPr indent="0" marL="0">
              <a:lnSpc>
                <a:spcPct val="106000"/>
              </a:lnSpc>
              <a:buNone/>
            </a:pPr>
            <a:r>
              <a:rPr lang="en-US" sz="1140" dirty="0">
                <a:solidFill>
                  <a:srgbClr val="68776D"/>
                </a:solidFill>
                <a:latin typeface="Inter" pitchFamily="34" charset="0"/>
                <a:ea typeface="Inter" pitchFamily="34" charset="-122"/>
                <a:cs typeface="Inter" pitchFamily="34" charset="-120"/>
              </a:rPr>
              <a:t>Compare time spent deciding with time spent maintaining the system.</a:t>
            </a:r>
            <a:endParaRPr lang="en-US" sz="1140" dirty="0"/>
          </a:p>
        </p:txBody>
      </p:sp>
      <p:sp>
        <p:nvSpPr>
          <p:cNvPr id="28" name="Text 26"/>
          <p:cNvSpPr/>
          <p:nvPr/>
        </p:nvSpPr>
        <p:spPr>
          <a:xfrm>
            <a:off x="4718304" y="5961888"/>
            <a:ext cx="6793992" cy="292608"/>
          </a:xfrm>
          <a:prstGeom prst="rect">
            <a:avLst/>
          </a:prstGeom>
          <a:noFill/>
          <a:ln/>
        </p:spPr>
        <p:txBody>
          <a:bodyPr wrap="square" lIns="0" tIns="0" rIns="0" bIns="0" rtlCol="0" anchor="t"/>
          <a:lstStyle/>
          <a:p>
            <a:pPr indent="0" marL="0">
              <a:lnSpc>
                <a:spcPct val="106000"/>
              </a:lnSpc>
              <a:buNone/>
            </a:pPr>
            <a:r>
              <a:rPr lang="en-US" sz="980" dirty="0">
                <a:solidFill>
                  <a:srgbClr val="68776D"/>
                </a:solidFill>
                <a:latin typeface="Inter" pitchFamily="34" charset="0"/>
                <a:ea typeface="Inter" pitchFamily="34" charset="-122"/>
                <a:cs typeface="Inter" pitchFamily="34" charset="-120"/>
              </a:rPr>
              <a:t>Guardrails: no silent constraint overrides, no unexplained stock changes, low correction burden, and user-controlled notifications.</a:t>
            </a:r>
            <a:endParaRPr lang="en-US" sz="98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6F0"/>
        </a:solidFill>
      </p:bgPr>
    </p:bg>
    <p:spTree>
      <p:nvGrpSpPr>
        <p:cNvPr id="1" name=""/>
        <p:cNvGrpSpPr/>
        <p:nvPr/>
      </p:nvGrpSpPr>
      <p:grpSpPr>
        <a:xfrm>
          <a:off x="0" y="0"/>
          <a:ext cx="0" cy="0"/>
          <a:chOff x="0" y="0"/>
          <a:chExt cx="0" cy="0"/>
        </a:xfrm>
      </p:grpSpPr>
      <p:sp>
        <p:nvSpPr>
          <p:cNvPr id="2" name="Text 0"/>
          <p:cNvSpPr/>
          <p:nvPr/>
        </p:nvSpPr>
        <p:spPr>
          <a:xfrm>
            <a:off x="502920" y="320040"/>
            <a:ext cx="9144000" cy="182880"/>
          </a:xfrm>
          <a:prstGeom prst="rect">
            <a:avLst/>
          </a:prstGeom>
          <a:noFill/>
          <a:ln/>
        </p:spPr>
        <p:txBody>
          <a:bodyPr wrap="square" lIns="0" tIns="0" rIns="0" bIns="0" rtlCol="0" anchor="t"/>
          <a:lstStyle/>
          <a:p>
            <a:pPr indent="0" marL="0">
              <a:lnSpc>
                <a:spcPct val="106000"/>
              </a:lnSpc>
              <a:buNone/>
            </a:pPr>
            <a:r>
              <a:rPr lang="en-US" sz="850" b="1" spc="165" kern="0" dirty="0">
                <a:solidFill>
                  <a:srgbClr val="68776D"/>
                </a:solidFill>
                <a:latin typeface="Inter" pitchFamily="34" charset="0"/>
                <a:ea typeface="Inter" pitchFamily="34" charset="-122"/>
                <a:cs typeface="Inter" pitchFamily="34" charset="-120"/>
              </a:rPr>
              <a:t>LUNCHBOX  /  THE CONCEPT IN YOUR HANDS</a:t>
            </a:r>
            <a:endParaRPr lang="en-US" sz="850" dirty="0"/>
          </a:p>
        </p:txBody>
      </p:sp>
      <p:sp>
        <p:nvSpPr>
          <p:cNvPr id="3" name="Text 1"/>
          <p:cNvSpPr/>
          <p:nvPr/>
        </p:nvSpPr>
        <p:spPr>
          <a:xfrm>
            <a:off x="502920" y="749808"/>
            <a:ext cx="11155680" cy="658368"/>
          </a:xfrm>
          <a:prstGeom prst="rect">
            <a:avLst/>
          </a:prstGeom>
          <a:noFill/>
          <a:ln/>
        </p:spPr>
        <p:txBody>
          <a:bodyPr wrap="square" lIns="0" tIns="0" rIns="0" bIns="0" rtlCol="0" anchor="t"/>
          <a:lstStyle/>
          <a:p>
            <a:pPr indent="0" marL="0">
              <a:lnSpc>
                <a:spcPct val="106000"/>
              </a:lnSpc>
              <a:buNone/>
            </a:pPr>
            <a:r>
              <a:rPr lang="en-US" sz="3100" b="1" spc="-125" kern="0" dirty="0">
                <a:solidFill>
                  <a:srgbClr val="193F35"/>
                </a:solidFill>
                <a:latin typeface="Inter" pitchFamily="34" charset="0"/>
                <a:ea typeface="Inter" pitchFamily="34" charset="-122"/>
                <a:cs typeface="Inter" pitchFamily="34" charset="-120"/>
              </a:rPr>
              <a:t>Try the loop. Then build the smallest real version.</a:t>
            </a:r>
            <a:endParaRPr lang="en-US" sz="3100" dirty="0"/>
          </a:p>
        </p:txBody>
      </p:sp>
      <p:sp>
        <p:nvSpPr>
          <p:cNvPr id="4" name="Text 2"/>
          <p:cNvSpPr/>
          <p:nvPr/>
        </p:nvSpPr>
        <p:spPr>
          <a:xfrm>
            <a:off x="530352" y="1472184"/>
            <a:ext cx="10789920" cy="457200"/>
          </a:xfrm>
          <a:prstGeom prst="rect">
            <a:avLst/>
          </a:prstGeom>
          <a:noFill/>
          <a:ln/>
        </p:spPr>
        <p:txBody>
          <a:bodyPr wrap="square" lIns="0" tIns="0" rIns="0" bIns="0" rtlCol="0" anchor="t"/>
          <a:lstStyle/>
          <a:p>
            <a:pPr indent="0" marL="0">
              <a:lnSpc>
                <a:spcPct val="106000"/>
              </a:lnSpc>
              <a:buNone/>
            </a:pPr>
            <a:r>
              <a:rPr lang="en-US" sz="1200" dirty="0">
                <a:solidFill>
                  <a:srgbClr val="68776D"/>
                </a:solidFill>
                <a:latin typeface="Inter" pitchFamily="34" charset="0"/>
                <a:ea typeface="Inter" pitchFamily="34" charset="-122"/>
                <a:cs typeface="Inter" pitchFamily="34" charset="-120"/>
              </a:rPr>
              <a:t>The interactive prototype demonstrates the connections—not live AI, nutrition, or retailer integrations.</a:t>
            </a:r>
            <a:endParaRPr lang="en-US" sz="1200" dirty="0"/>
          </a:p>
        </p:txBody>
      </p:sp>
      <p:sp>
        <p:nvSpPr>
          <p:cNvPr id="5" name="Shape 3"/>
          <p:cNvSpPr/>
          <p:nvPr/>
        </p:nvSpPr>
        <p:spPr>
          <a:xfrm>
            <a:off x="502920" y="6455664"/>
            <a:ext cx="11183112" cy="0"/>
          </a:xfrm>
          <a:prstGeom prst="line">
            <a:avLst/>
          </a:prstGeom>
          <a:noFill/>
          <a:ln w="8890">
            <a:solidFill>
              <a:srgbClr val="E0E4D9"/>
            </a:solidFill>
            <a:prstDash val="solid"/>
          </a:ln>
        </p:spPr>
      </p:sp>
      <p:sp>
        <p:nvSpPr>
          <p:cNvPr id="6" name="Text 4"/>
          <p:cNvSpPr/>
          <p:nvPr/>
        </p:nvSpPr>
        <p:spPr>
          <a:xfrm>
            <a:off x="512064" y="6565392"/>
            <a:ext cx="6400800" cy="118872"/>
          </a:xfrm>
          <a:prstGeom prst="rect">
            <a:avLst/>
          </a:prstGeom>
          <a:noFill/>
          <a:ln/>
        </p:spPr>
        <p:txBody>
          <a:bodyPr wrap="square" lIns="0" tIns="0" rIns="0" bIns="0" rtlCol="0" anchor="t"/>
          <a:lstStyle/>
          <a:p>
            <a:pPr indent="0" marL="0">
              <a:lnSpc>
                <a:spcPct val="106000"/>
              </a:lnSpc>
              <a:buNone/>
            </a:pPr>
            <a:r>
              <a:rPr lang="en-US" sz="730" spc="90" kern="0" dirty="0">
                <a:solidFill>
                  <a:srgbClr val="68776D"/>
                </a:solidFill>
                <a:latin typeface="Inter" pitchFamily="34" charset="0"/>
                <a:ea typeface="Inter" pitchFamily="34" charset="-122"/>
                <a:cs typeface="Inter" pitchFamily="34" charset="-120"/>
              </a:rPr>
              <a:t>CONCEPT PORTFOLIO · SEPTEMBER 2026</a:t>
            </a:r>
            <a:endParaRPr lang="en-US" sz="730" dirty="0"/>
          </a:p>
        </p:txBody>
      </p:sp>
      <p:sp>
        <p:nvSpPr>
          <p:cNvPr id="7" name="Text 5"/>
          <p:cNvSpPr/>
          <p:nvPr/>
        </p:nvSpPr>
        <p:spPr>
          <a:xfrm>
            <a:off x="11155680" y="6537960"/>
            <a:ext cx="530352" cy="155448"/>
          </a:xfrm>
          <a:prstGeom prst="rect">
            <a:avLst/>
          </a:prstGeom>
          <a:noFill/>
          <a:ln/>
        </p:spPr>
        <p:txBody>
          <a:bodyPr wrap="square" lIns="0" tIns="0" rIns="0" bIns="0" rtlCol="0" anchor="t"/>
          <a:lstStyle/>
          <a:p>
            <a:pPr algn="r" indent="0" marL="0">
              <a:lnSpc>
                <a:spcPct val="106000"/>
              </a:lnSpc>
              <a:buNone/>
            </a:pPr>
            <a:r>
              <a:rPr lang="en-US" sz="900" b="1" dirty="0">
                <a:solidFill>
                  <a:srgbClr val="193F35"/>
                </a:solidFill>
                <a:latin typeface="Inter" pitchFamily="34" charset="0"/>
                <a:ea typeface="Inter" pitchFamily="34" charset="-122"/>
                <a:cs typeface="Inter" pitchFamily="34" charset="-120"/>
              </a:rPr>
              <a:t>15</a:t>
            </a:r>
            <a:endParaRPr lang="en-US" sz="900" dirty="0"/>
          </a:p>
        </p:txBody>
      </p:sp>
      <p:sp>
        <p:nvSpPr>
          <p:cNvPr id="8" name="Shape 6"/>
          <p:cNvSpPr/>
          <p:nvPr/>
        </p:nvSpPr>
        <p:spPr>
          <a:xfrm>
            <a:off x="603504" y="2176272"/>
            <a:ext cx="6446520" cy="3858768"/>
          </a:xfrm>
          <a:prstGeom prst="roundRect">
            <a:avLst>
              <a:gd name="adj" fmla="val 2844"/>
            </a:avLst>
          </a:prstGeom>
          <a:solidFill>
            <a:srgbClr val="DDECAB"/>
          </a:solidFill>
          <a:ln w="12700">
            <a:solidFill>
              <a:srgbClr val="DDECAB"/>
            </a:solidFill>
            <a:prstDash val="solid"/>
          </a:ln>
        </p:spPr>
      </p:sp>
      <p:sp>
        <p:nvSpPr>
          <p:cNvPr id="9" name="Text 7"/>
          <p:cNvSpPr/>
          <p:nvPr/>
        </p:nvSpPr>
        <p:spPr>
          <a:xfrm>
            <a:off x="841248" y="2432304"/>
            <a:ext cx="5971032" cy="182880"/>
          </a:xfrm>
          <a:prstGeom prst="rect">
            <a:avLst/>
          </a:prstGeom>
          <a:noFill/>
          <a:ln/>
        </p:spPr>
        <p:txBody>
          <a:bodyPr wrap="square" lIns="0" tIns="0" rIns="0" bIns="0" rtlCol="0" anchor="t"/>
          <a:lstStyle/>
          <a:p>
            <a:pPr indent="0" marL="0">
              <a:lnSpc>
                <a:spcPct val="106000"/>
              </a:lnSpc>
              <a:buNone/>
            </a:pPr>
            <a:r>
              <a:rPr lang="en-US" sz="850" b="1" spc="165" kern="0" dirty="0">
                <a:solidFill>
                  <a:srgbClr val="68776D"/>
                </a:solidFill>
                <a:latin typeface="Inter" pitchFamily="34" charset="0"/>
                <a:ea typeface="Inter" pitchFamily="34" charset="-122"/>
                <a:cs typeface="Inter" pitchFamily="34" charset="-120"/>
              </a:rPr>
              <a:t>IN THE INCLUDED HTML PROTOTYPE</a:t>
            </a:r>
            <a:endParaRPr lang="en-US" sz="850" dirty="0"/>
          </a:p>
        </p:txBody>
      </p:sp>
      <p:sp>
        <p:nvSpPr>
          <p:cNvPr id="10" name="Text 8"/>
          <p:cNvSpPr/>
          <p:nvPr/>
        </p:nvSpPr>
        <p:spPr>
          <a:xfrm>
            <a:off x="832104" y="2916936"/>
            <a:ext cx="5961888" cy="457200"/>
          </a:xfrm>
          <a:prstGeom prst="rect">
            <a:avLst/>
          </a:prstGeom>
          <a:noFill/>
          <a:ln/>
        </p:spPr>
        <p:txBody>
          <a:bodyPr wrap="square" lIns="0" tIns="0" rIns="0" bIns="0" rtlCol="0" anchor="t"/>
          <a:lstStyle/>
          <a:p>
            <a:pPr indent="0" marL="0">
              <a:lnSpc>
                <a:spcPct val="106000"/>
              </a:lnSpc>
              <a:buNone/>
            </a:pPr>
            <a:r>
              <a:rPr lang="en-US" sz="2500" b="1" spc="-80" kern="0" dirty="0">
                <a:solidFill>
                  <a:srgbClr val="193F35"/>
                </a:solidFill>
                <a:latin typeface="Inter" pitchFamily="34" charset="0"/>
                <a:ea typeface="Inter" pitchFamily="34" charset="-122"/>
                <a:cs typeface="Inter" pitchFamily="34" charset="-120"/>
              </a:rPr>
              <a:t>Plan → Shop → Put away → Cook</a:t>
            </a:r>
            <a:endParaRPr lang="en-US" sz="2500" dirty="0"/>
          </a:p>
        </p:txBody>
      </p:sp>
      <p:sp>
        <p:nvSpPr>
          <p:cNvPr id="11" name="Text 9"/>
          <p:cNvSpPr/>
          <p:nvPr/>
        </p:nvSpPr>
        <p:spPr>
          <a:xfrm>
            <a:off x="859536" y="3712464"/>
            <a:ext cx="5806440" cy="274320"/>
          </a:xfrm>
          <a:prstGeom prst="rect">
            <a:avLst/>
          </a:prstGeom>
          <a:noFill/>
          <a:ln/>
        </p:spPr>
        <p:txBody>
          <a:bodyPr wrap="square" lIns="0" tIns="0" rIns="0" bIns="0" rtlCol="0" anchor="t"/>
          <a:lstStyle/>
          <a:p>
            <a:pPr indent="0" marL="0">
              <a:lnSpc>
                <a:spcPct val="106000"/>
              </a:lnSpc>
              <a:buNone/>
            </a:pPr>
            <a:r>
              <a:rPr lang="en-US" sz="1160" dirty="0">
                <a:solidFill>
                  <a:srgbClr val="193F35"/>
                </a:solidFill>
                <a:latin typeface="Inter" pitchFamily="34" charset="0"/>
                <a:ea typeface="Inter" pitchFamily="34" charset="-122"/>
                <a:cs typeface="Inter" pitchFamily="34" charset="-120"/>
              </a:rPr>
              <a:t>1. Plan the tomato &amp; lentil skillet for Monday.</a:t>
            </a:r>
            <a:endParaRPr lang="en-US" sz="1160" dirty="0"/>
          </a:p>
        </p:txBody>
      </p:sp>
      <p:sp>
        <p:nvSpPr>
          <p:cNvPr id="12" name="Text 10"/>
          <p:cNvSpPr/>
          <p:nvPr/>
        </p:nvSpPr>
        <p:spPr>
          <a:xfrm>
            <a:off x="859536" y="4069080"/>
            <a:ext cx="5806440" cy="274320"/>
          </a:xfrm>
          <a:prstGeom prst="rect">
            <a:avLst/>
          </a:prstGeom>
          <a:noFill/>
          <a:ln/>
        </p:spPr>
        <p:txBody>
          <a:bodyPr wrap="square" lIns="0" tIns="0" rIns="0" bIns="0" rtlCol="0" anchor="t"/>
          <a:lstStyle/>
          <a:p>
            <a:pPr indent="0" marL="0">
              <a:lnSpc>
                <a:spcPct val="106000"/>
              </a:lnSpc>
              <a:buNone/>
            </a:pPr>
            <a:r>
              <a:rPr lang="en-US" sz="1160" dirty="0">
                <a:solidFill>
                  <a:srgbClr val="193F35"/>
                </a:solidFill>
                <a:latin typeface="Inter" pitchFamily="34" charset="0"/>
                <a:ea typeface="Inter" pitchFamily="34" charset="-122"/>
                <a:cs typeface="Inter" pitchFamily="34" charset="-120"/>
              </a:rPr>
              <a:t>2. Check spinach off the grocery list.</a:t>
            </a:r>
            <a:endParaRPr lang="en-US" sz="1160" dirty="0"/>
          </a:p>
        </p:txBody>
      </p:sp>
      <p:sp>
        <p:nvSpPr>
          <p:cNvPr id="13" name="Text 11"/>
          <p:cNvSpPr/>
          <p:nvPr/>
        </p:nvSpPr>
        <p:spPr>
          <a:xfrm>
            <a:off x="859536" y="4425696"/>
            <a:ext cx="5806440" cy="274320"/>
          </a:xfrm>
          <a:prstGeom prst="rect">
            <a:avLst/>
          </a:prstGeom>
          <a:noFill/>
          <a:ln/>
        </p:spPr>
        <p:txBody>
          <a:bodyPr wrap="square" lIns="0" tIns="0" rIns="0" bIns="0" rtlCol="0" anchor="t"/>
          <a:lstStyle/>
          <a:p>
            <a:pPr indent="0" marL="0">
              <a:lnSpc>
                <a:spcPct val="106000"/>
              </a:lnSpc>
              <a:buNone/>
            </a:pPr>
            <a:r>
              <a:rPr lang="en-US" sz="1160" dirty="0">
                <a:solidFill>
                  <a:srgbClr val="193F35"/>
                </a:solidFill>
                <a:latin typeface="Inter" pitchFamily="34" charset="0"/>
                <a:ea typeface="Inter" pitchFamily="34" charset="-122"/>
                <a:cs typeface="Inter" pitchFamily="34" charset="-120"/>
              </a:rPr>
              <a:t>3. Put away 200 g, even though the recipe needs 100 g.</a:t>
            </a:r>
            <a:endParaRPr lang="en-US" sz="1160" dirty="0"/>
          </a:p>
        </p:txBody>
      </p:sp>
      <p:sp>
        <p:nvSpPr>
          <p:cNvPr id="14" name="Text 12"/>
          <p:cNvSpPr/>
          <p:nvPr/>
        </p:nvSpPr>
        <p:spPr>
          <a:xfrm>
            <a:off x="859536" y="4782312"/>
            <a:ext cx="5806440" cy="274320"/>
          </a:xfrm>
          <a:prstGeom prst="rect">
            <a:avLst/>
          </a:prstGeom>
          <a:noFill/>
          <a:ln/>
        </p:spPr>
        <p:txBody>
          <a:bodyPr wrap="square" lIns="0" tIns="0" rIns="0" bIns="0" rtlCol="0" anchor="t"/>
          <a:lstStyle/>
          <a:p>
            <a:pPr indent="0" marL="0">
              <a:lnSpc>
                <a:spcPct val="106000"/>
              </a:lnSpc>
              <a:buNone/>
            </a:pPr>
            <a:r>
              <a:rPr lang="en-US" sz="1160" dirty="0">
                <a:solidFill>
                  <a:srgbClr val="193F35"/>
                </a:solidFill>
                <a:latin typeface="Inter" pitchFamily="34" charset="0"/>
                <a:ea typeface="Inter" pitchFamily="34" charset="-122"/>
                <a:cs typeface="Inter" pitchFamily="34" charset="-120"/>
              </a:rPr>
              <a:t>4. Cook two portions; record one as eaten now.</a:t>
            </a:r>
            <a:endParaRPr lang="en-US" sz="1160" dirty="0"/>
          </a:p>
        </p:txBody>
      </p:sp>
      <p:sp>
        <p:nvSpPr>
          <p:cNvPr id="15" name="Text 13"/>
          <p:cNvSpPr/>
          <p:nvPr/>
        </p:nvSpPr>
        <p:spPr>
          <a:xfrm>
            <a:off x="859536" y="5138928"/>
            <a:ext cx="5806440" cy="274320"/>
          </a:xfrm>
          <a:prstGeom prst="rect">
            <a:avLst/>
          </a:prstGeom>
          <a:noFill/>
          <a:ln/>
        </p:spPr>
        <p:txBody>
          <a:bodyPr wrap="square" lIns="0" tIns="0" rIns="0" bIns="0" rtlCol="0" anchor="t"/>
          <a:lstStyle/>
          <a:p>
            <a:pPr indent="0" marL="0">
              <a:lnSpc>
                <a:spcPct val="106000"/>
              </a:lnSpc>
              <a:buNone/>
            </a:pPr>
            <a:r>
              <a:rPr lang="en-US" sz="1160" dirty="0">
                <a:solidFill>
                  <a:srgbClr val="193F35"/>
                </a:solidFill>
                <a:latin typeface="Inter" pitchFamily="34" charset="0"/>
                <a:ea typeface="Inter" pitchFamily="34" charset="-122"/>
                <a:cs typeface="Inter" pitchFamily="34" charset="-120"/>
              </a:rPr>
              <a:t>5. Eat the leftover later. Watch raw stock stay unchanged.</a:t>
            </a:r>
            <a:endParaRPr lang="en-US" sz="1160" dirty="0"/>
          </a:p>
        </p:txBody>
      </p:sp>
      <p:sp>
        <p:nvSpPr>
          <p:cNvPr id="16" name="Text 14"/>
          <p:cNvSpPr/>
          <p:nvPr/>
        </p:nvSpPr>
        <p:spPr>
          <a:xfrm>
            <a:off x="859536" y="5513832"/>
            <a:ext cx="5760720" cy="393192"/>
          </a:xfrm>
          <a:prstGeom prst="rect">
            <a:avLst/>
          </a:prstGeom>
          <a:noFill/>
          <a:ln/>
        </p:spPr>
        <p:txBody>
          <a:bodyPr wrap="square" lIns="0" tIns="0" rIns="0" bIns="0" rtlCol="0" anchor="t"/>
          <a:lstStyle/>
          <a:p>
            <a:pPr indent="0" marL="0">
              <a:lnSpc>
                <a:spcPct val="106000"/>
              </a:lnSpc>
              <a:buNone/>
            </a:pPr>
            <a:r>
              <a:rPr lang="en-US" sz="1050" dirty="0">
                <a:solidFill>
                  <a:srgbClr val="68776D"/>
                </a:solidFill>
                <a:latin typeface="Inter" pitchFamily="34" charset="0"/>
                <a:ea typeface="Inter" pitchFamily="34" charset="-122"/>
                <a:cs typeface="Inter" pitchFamily="34" charset="-120"/>
              </a:rPr>
              <a:t>Also try: suggest a week, save a recipe, add garden food,</a:t>
            </a:r>
            <a:endParaRPr lang="en-US" sz="1050" dirty="0"/>
          </a:p>
          <a:p>
            <a:pPr indent="0" marL="0">
              <a:lnSpc>
                <a:spcPct val="106000"/>
              </a:lnSpc>
              <a:buNone/>
            </a:pPr>
            <a:r>
              <a:rPr lang="en-US" sz="1050" dirty="0">
                <a:solidFill>
                  <a:srgbClr val="68776D"/>
                </a:solidFill>
                <a:latin typeface="Inter" pitchFamily="34" charset="0"/>
                <a:ea typeface="Inter" pitchFamily="34" charset="-122"/>
                <a:cs typeface="Inter" pitchFamily="34" charset="-120"/>
              </a:rPr>
              <a:t>correct an amount, and undo a change.</a:t>
            </a:r>
            <a:endParaRPr lang="en-US" sz="1050" dirty="0"/>
          </a:p>
        </p:txBody>
      </p:sp>
      <p:sp>
        <p:nvSpPr>
          <p:cNvPr id="17" name="Text 15"/>
          <p:cNvSpPr/>
          <p:nvPr/>
        </p:nvSpPr>
        <p:spPr>
          <a:xfrm>
            <a:off x="7470648" y="2432304"/>
            <a:ext cx="3913632" cy="182880"/>
          </a:xfrm>
          <a:prstGeom prst="rect">
            <a:avLst/>
          </a:prstGeom>
          <a:noFill/>
          <a:ln/>
        </p:spPr>
        <p:txBody>
          <a:bodyPr wrap="square" lIns="0" tIns="0" rIns="0" bIns="0" rtlCol="0" anchor="t"/>
          <a:lstStyle/>
          <a:p>
            <a:pPr indent="0" marL="0">
              <a:lnSpc>
                <a:spcPct val="106000"/>
              </a:lnSpc>
              <a:buNone/>
            </a:pPr>
            <a:r>
              <a:rPr lang="en-US" sz="850" b="1" spc="165" kern="0" dirty="0">
                <a:solidFill>
                  <a:srgbClr val="68776D"/>
                </a:solidFill>
                <a:latin typeface="Inter" pitchFamily="34" charset="0"/>
                <a:ea typeface="Inter" pitchFamily="34" charset="-122"/>
                <a:cs typeface="Inter" pitchFamily="34" charset="-120"/>
              </a:rPr>
              <a:t>INTERACTIVE TODAY</a:t>
            </a:r>
            <a:endParaRPr lang="en-US" sz="850" dirty="0"/>
          </a:p>
        </p:txBody>
      </p:sp>
      <p:sp>
        <p:nvSpPr>
          <p:cNvPr id="18" name="Text 16"/>
          <p:cNvSpPr/>
          <p:nvPr/>
        </p:nvSpPr>
        <p:spPr>
          <a:xfrm>
            <a:off x="7470648" y="2798064"/>
            <a:ext cx="3904488" cy="1545336"/>
          </a:xfrm>
          <a:prstGeom prst="rect">
            <a:avLst/>
          </a:prstGeom>
          <a:noFill/>
          <a:ln/>
        </p:spPr>
        <p:txBody>
          <a:bodyPr wrap="square" lIns="0" tIns="0" rIns="0" bIns="0" rtlCol="0" anchor="t"/>
          <a:lstStyle/>
          <a:p>
            <a:pPr indent="0" marL="0">
              <a:lnSpc>
                <a:spcPct val="130000"/>
              </a:lnSpc>
              <a:buNone/>
            </a:pPr>
            <a:r>
              <a:rPr lang="en-US" sz="1300" dirty="0">
                <a:solidFill>
                  <a:srgbClr val="193F35"/>
                </a:solidFill>
                <a:latin typeface="Inter" pitchFamily="34" charset="0"/>
                <a:ea typeface="Inter" pitchFamily="34" charset="-122"/>
                <a:cs typeface="Inter" pitchFamily="34" charset="-120"/>
              </a:rPr>
              <a:t>Four connected views</a:t>
            </a:r>
            <a:endParaRPr lang="en-US" sz="1300" dirty="0"/>
          </a:p>
          <a:p>
            <a:pPr indent="0" marL="0">
              <a:lnSpc>
                <a:spcPct val="130000"/>
              </a:lnSpc>
              <a:buNone/>
            </a:pPr>
            <a:r>
              <a:rPr lang="en-US" sz="1300" dirty="0">
                <a:solidFill>
                  <a:srgbClr val="193F35"/>
                </a:solidFill>
                <a:latin typeface="Inter" pitchFamily="34" charset="0"/>
                <a:ea typeface="Inter" pitchFamily="34" charset="-122"/>
                <a:cs typeface="Inter" pitchFamily="34" charset="-120"/>
              </a:rPr>
              <a:t>Sample recipe library</a:t>
            </a:r>
            <a:endParaRPr lang="en-US" sz="1300" dirty="0"/>
          </a:p>
          <a:p>
            <a:pPr indent="0" marL="0">
              <a:lnSpc>
                <a:spcPct val="130000"/>
              </a:lnSpc>
              <a:buNone/>
            </a:pPr>
            <a:r>
              <a:rPr lang="en-US" sz="1300" dirty="0">
                <a:solidFill>
                  <a:srgbClr val="193F35"/>
                </a:solidFill>
                <a:latin typeface="Inter" pitchFamily="34" charset="0"/>
                <a:ea typeface="Inter" pitchFamily="34" charset="-122"/>
                <a:cs typeface="Inter" pitchFamily="34" charset="-120"/>
              </a:rPr>
              <a:t>Reservations and shopping math</a:t>
            </a:r>
            <a:endParaRPr lang="en-US" sz="1300" dirty="0"/>
          </a:p>
          <a:p>
            <a:pPr indent="0" marL="0">
              <a:lnSpc>
                <a:spcPct val="130000"/>
              </a:lnSpc>
              <a:buNone/>
            </a:pPr>
            <a:r>
              <a:rPr lang="en-US" sz="1300" dirty="0">
                <a:solidFill>
                  <a:srgbClr val="193F35"/>
                </a:solidFill>
                <a:latin typeface="Inter" pitchFamily="34" charset="0"/>
                <a:ea typeface="Inter" pitchFamily="34" charset="-122"/>
                <a:cs typeface="Inter" pitchFamily="34" charset="-120"/>
              </a:rPr>
              <a:t>Actual receipts, cooking and leftovers</a:t>
            </a:r>
            <a:endParaRPr lang="en-US" sz="1300" dirty="0"/>
          </a:p>
          <a:p>
            <a:pPr indent="0" marL="0">
              <a:lnSpc>
                <a:spcPct val="130000"/>
              </a:lnSpc>
              <a:buNone/>
            </a:pPr>
            <a:r>
              <a:rPr lang="en-US" sz="1300" dirty="0">
                <a:solidFill>
                  <a:srgbClr val="193F35"/>
                </a:solidFill>
                <a:latin typeface="Inter" pitchFamily="34" charset="0"/>
                <a:ea typeface="Inter" pitchFamily="34" charset="-122"/>
                <a:cs typeface="Inter" pitchFamily="34" charset="-120"/>
              </a:rPr>
              <a:t>Local browser state and undo</a:t>
            </a:r>
            <a:endParaRPr lang="en-US" sz="1300" dirty="0"/>
          </a:p>
        </p:txBody>
      </p:sp>
      <p:sp>
        <p:nvSpPr>
          <p:cNvPr id="19" name="Text 17"/>
          <p:cNvSpPr/>
          <p:nvPr/>
        </p:nvSpPr>
        <p:spPr>
          <a:xfrm>
            <a:off x="7470648" y="4599432"/>
            <a:ext cx="3904488" cy="182880"/>
          </a:xfrm>
          <a:prstGeom prst="rect">
            <a:avLst/>
          </a:prstGeom>
          <a:noFill/>
          <a:ln/>
        </p:spPr>
        <p:txBody>
          <a:bodyPr wrap="square" lIns="0" tIns="0" rIns="0" bIns="0" rtlCol="0" anchor="t"/>
          <a:lstStyle/>
          <a:p>
            <a:pPr indent="0" marL="0">
              <a:lnSpc>
                <a:spcPct val="106000"/>
              </a:lnSpc>
              <a:buNone/>
            </a:pPr>
            <a:r>
              <a:rPr lang="en-US" sz="850" b="1" spc="165" kern="0" dirty="0">
                <a:solidFill>
                  <a:srgbClr val="B74420"/>
                </a:solidFill>
                <a:latin typeface="Inter" pitchFamily="34" charset="0"/>
                <a:ea typeface="Inter" pitchFamily="34" charset="-122"/>
                <a:cs typeface="Inter" pitchFamily="34" charset="-120"/>
              </a:rPr>
              <a:t>NOT CONNECTED</a:t>
            </a:r>
            <a:endParaRPr lang="en-US" sz="850" dirty="0"/>
          </a:p>
        </p:txBody>
      </p:sp>
      <p:sp>
        <p:nvSpPr>
          <p:cNvPr id="20" name="Text 18"/>
          <p:cNvSpPr/>
          <p:nvPr/>
        </p:nvSpPr>
        <p:spPr>
          <a:xfrm>
            <a:off x="7470648" y="4992624"/>
            <a:ext cx="3931920" cy="896112"/>
          </a:xfrm>
          <a:prstGeom prst="rect">
            <a:avLst/>
          </a:prstGeom>
          <a:noFill/>
          <a:ln/>
        </p:spPr>
        <p:txBody>
          <a:bodyPr wrap="square" lIns="0" tIns="0" rIns="0" bIns="0" rtlCol="0" anchor="t"/>
          <a:lstStyle/>
          <a:p>
            <a:pPr indent="0" marL="0">
              <a:lnSpc>
                <a:spcPct val="106000"/>
              </a:lnSpc>
              <a:buNone/>
            </a:pPr>
            <a:r>
              <a:rPr lang="en-US" sz="1160" dirty="0">
                <a:solidFill>
                  <a:srgbClr val="68776D"/>
                </a:solidFill>
                <a:latin typeface="Inter" pitchFamily="34" charset="0"/>
                <a:ea typeface="Inter" pitchFamily="34" charset="-122"/>
                <a:cs typeface="Inter" pitchFamily="34" charset="-120"/>
              </a:rPr>
              <a:t>Live AI, nutrition calculation, recipe imports,</a:t>
            </a:r>
            <a:endParaRPr lang="en-US" sz="1160" dirty="0"/>
          </a:p>
          <a:p>
            <a:pPr indent="0" marL="0">
              <a:lnSpc>
                <a:spcPct val="106000"/>
              </a:lnSpc>
              <a:buNone/>
            </a:pPr>
            <a:r>
              <a:rPr lang="en-US" sz="1160" dirty="0">
                <a:solidFill>
                  <a:srgbClr val="68776D"/>
                </a:solidFill>
                <a:latin typeface="Inter" pitchFamily="34" charset="0"/>
                <a:ea typeface="Inter" pitchFamily="34" charset="-122"/>
                <a:cs typeface="Inter" pitchFamily="34" charset="-120"/>
              </a:rPr>
              <a:t>cloud / household sync, price comparison,</a:t>
            </a:r>
            <a:endParaRPr lang="en-US" sz="1160" dirty="0"/>
          </a:p>
          <a:p>
            <a:pPr indent="0" marL="0">
              <a:lnSpc>
                <a:spcPct val="106000"/>
              </a:lnSpc>
              <a:buNone/>
            </a:pPr>
            <a:r>
              <a:rPr lang="en-US" sz="1160" dirty="0">
                <a:solidFill>
                  <a:srgbClr val="68776D"/>
                </a:solidFill>
                <a:latin typeface="Inter" pitchFamily="34" charset="0"/>
                <a:ea typeface="Inter" pitchFamily="34" charset="-122"/>
                <a:cs typeface="Inter" pitchFamily="34" charset="-120"/>
              </a:rPr>
              <a:t>online ordering, and external inventory feeds.</a:t>
            </a:r>
            <a:endParaRPr lang="en-US" sz="116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LunchBox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LunchBox — Your kitchen, connected.</dc:title>
  <dc:subject>Pantry-first meal planning — product design portfolio</dc:subject>
  <dc:creator>LunchBox · Product concept</dc:creator>
  <cp:lastModifiedBy>LunchBox · Product concept</cp:lastModifiedBy>
  <cp:revision>1</cp:revision>
  <dcterms:created xsi:type="dcterms:W3CDTF">2026-09-27T03:43:49Z</dcterms:created>
  <dcterms:modified xsi:type="dcterms:W3CDTF">2026-09-27T03:43:49Z</dcterms:modified>
</cp:coreProperties>
</file>